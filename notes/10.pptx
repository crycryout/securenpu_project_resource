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3"/>
    <p:sldId id="292" r:id="rId4"/>
    <p:sldId id="278" r:id="rId5"/>
    <p:sldId id="288" r:id="rId6"/>
    <p:sldId id="287" r:id="rId7"/>
    <p:sldId id="280" r:id="rId8"/>
    <p:sldId id="286" r:id="rId9"/>
    <p:sldId id="289" r:id="rId10"/>
    <p:sldId id="293" r:id="rId11"/>
    <p:sldId id="281" r:id="rId12"/>
    <p:sldId id="291" r:id="rId13"/>
    <p:sldId id="285" r:id="rId14"/>
    <p:sldId id="284" r:id="rId15"/>
    <p:sldId id="274" r:id="rId16"/>
    <p:sldId id="283" r:id="rId17"/>
    <p:sldId id="279" r:id="rId18"/>
    <p:sldId id="276" r:id="rId19"/>
    <p:sldId id="277" r:id="rId20"/>
    <p:sldId id="275" r:id="rId21"/>
    <p:sldId id="272" r:id="rId22"/>
    <p:sldId id="273" r:id="rId23"/>
    <p:sldId id="259" r:id="rId24"/>
    <p:sldId id="258" r:id="rId25"/>
    <p:sldId id="260" r:id="rId26"/>
    <p:sldId id="261" r:id="rId27"/>
    <p:sldId id="262" r:id="rId28"/>
    <p:sldId id="263" r:id="rId29"/>
    <p:sldId id="257" r:id="rId30"/>
    <p:sldId id="264" r:id="rId31"/>
    <p:sldId id="265" r:id="rId32"/>
    <p:sldId id="266" r:id="rId33"/>
    <p:sldId id="267" r:id="rId34"/>
    <p:sldId id="268" r:id="rId35"/>
    <p:sldId id="269" r:id="rId36"/>
    <p:sldId id="270" r:id="rId37"/>
    <p:sldId id="282" r:id="rId38"/>
    <p:sldId id="271" r:id="rId39"/>
    <p:sldId id="290" r:id="rId40"/>
    <p:sldId id="294" r:id="rId41"/>
    <p:sldId id="295" r:id="rId42"/>
    <p:sldId id="296" r:id="rId44"/>
    <p:sldId id="298" r:id="rId45"/>
    <p:sldId id="300" r:id="rId46"/>
    <p:sldId id="299" r:id="rId47"/>
    <p:sldId id="297" r:id="rId48"/>
    <p:sldId id="301" r:id="rId49"/>
    <p:sldId id="302" r:id="rId50"/>
    <p:sldId id="303" r:id="rId51"/>
    <p:sldId id="304" r:id="rId52"/>
    <p:sldId id="305"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notesMaster" Target="notesMasters/notesMaster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1.png"/><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1.xml"/><Relationship Id="rId3" Type="http://schemas.openxmlformats.org/officeDocument/2006/relationships/image" Target="../media/image2.png"/><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6.xml"/><Relationship Id="rId3" Type="http://schemas.openxmlformats.org/officeDocument/2006/relationships/image" Target="../media/image3.png"/><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7.xml"/><Relationship Id="rId3" Type="http://schemas.openxmlformats.org/officeDocument/2006/relationships/image" Target="../media/image4.png"/><Relationship Id="rId2" Type="http://schemas.openxmlformats.org/officeDocument/2006/relationships/tags" Target="../tags/tag106.xml"/><Relationship Id="rId1" Type="http://schemas.openxmlformats.org/officeDocument/2006/relationships/tags" Target="../tags/tag105.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3.xml"/><Relationship Id="rId3" Type="http://schemas.openxmlformats.org/officeDocument/2006/relationships/image" Target="../media/image5.png"/><Relationship Id="rId2" Type="http://schemas.openxmlformats.org/officeDocument/2006/relationships/tags" Target="../tags/tag112.xml"/><Relationship Id="rId1" Type="http://schemas.openxmlformats.org/officeDocument/2006/relationships/tags" Target="../tags/tag111.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6.xml"/><Relationship Id="rId3" Type="http://schemas.openxmlformats.org/officeDocument/2006/relationships/image" Target="../media/image6.png"/><Relationship Id="rId2" Type="http://schemas.openxmlformats.org/officeDocument/2006/relationships/tags" Target="../tags/tag115.xml"/><Relationship Id="rId1" Type="http://schemas.openxmlformats.org/officeDocument/2006/relationships/tags" Target="../tags/tag114.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3.xml"/><Relationship Id="rId3" Type="http://schemas.openxmlformats.org/officeDocument/2006/relationships/image" Target="../media/image7.png"/><Relationship Id="rId2" Type="http://schemas.openxmlformats.org/officeDocument/2006/relationships/tags" Target="../tags/tag142.xml"/><Relationship Id="rId1" Type="http://schemas.openxmlformats.org/officeDocument/2006/relationships/tags" Target="../tags/tag141.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4.xml"/><Relationship Id="rId3" Type="http://schemas.openxmlformats.org/officeDocument/2006/relationships/image" Target="../media/image8.png"/><Relationship Id="rId2" Type="http://schemas.openxmlformats.org/officeDocument/2006/relationships/tags" Target="../tags/tag163.xml"/><Relationship Id="rId1" Type="http://schemas.openxmlformats.org/officeDocument/2006/relationships/tags" Target="../tags/tag162.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7.xml"/><Relationship Id="rId3" Type="http://schemas.openxmlformats.org/officeDocument/2006/relationships/image" Target="../media/image9.png"/><Relationship Id="rId2" Type="http://schemas.openxmlformats.org/officeDocument/2006/relationships/tags" Target="../tags/tag166.xml"/><Relationship Id="rId1" Type="http://schemas.openxmlformats.org/officeDocument/2006/relationships/tags" Target="../tags/tag165.xml"/></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70.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tags" Target="../tags/tag169.xml"/><Relationship Id="rId1" Type="http://schemas.openxmlformats.org/officeDocument/2006/relationships/tags" Target="../tags/tag168.xml"/></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73.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tags" Target="../tags/tag172.xml"/><Relationship Id="rId1" Type="http://schemas.openxmlformats.org/officeDocument/2006/relationships/tags" Target="../tags/tag171.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76.xml"/><Relationship Id="rId3" Type="http://schemas.openxmlformats.org/officeDocument/2006/relationships/image" Target="../media/image14.png"/><Relationship Id="rId2" Type="http://schemas.openxmlformats.org/officeDocument/2006/relationships/tags" Target="../tags/tag175.xml"/><Relationship Id="rId1" Type="http://schemas.openxmlformats.org/officeDocument/2006/relationships/tags" Target="../tags/tag174.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09.xml"/><Relationship Id="rId3" Type="http://schemas.openxmlformats.org/officeDocument/2006/relationships/image" Target="../media/image15.png"/><Relationship Id="rId2" Type="http://schemas.openxmlformats.org/officeDocument/2006/relationships/tags" Target="../tags/tag208.xml"/><Relationship Id="rId1" Type="http://schemas.openxmlformats.org/officeDocument/2006/relationships/tags" Target="../tags/tag207.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en-US" altLang="zh-CN"/>
              <a:t>10.</a:t>
            </a:r>
            <a:r>
              <a:rPr lang="en-US" altLang="zh-CN"/>
              <a:t>x</a:t>
            </a:r>
            <a:endParaRPr lang="en-US" altLang="zh-CN"/>
          </a:p>
        </p:txBody>
      </p:sp>
      <p:sp>
        <p:nvSpPr>
          <p:cNvPr id="3" name="副标题 2"/>
          <p:cNvSpPr>
            <a:spLocks noGrp="1"/>
          </p:cNvSpPr>
          <p:nvPr>
            <p:ph type="subTitle" idx="1"/>
            <p:custDataLst>
              <p:tags r:id="rId2"/>
            </p:custDataLst>
          </p:nvPr>
        </p:nvSpPr>
        <p:spPr/>
        <p:txBody>
          <a:bodyPr/>
          <a:p>
            <a:r>
              <a:rPr lang="en-US" altLang="zh-CN"/>
              <a:t>low level profiler </a:t>
            </a:r>
            <a:r>
              <a:rPr lang="en-US" altLang="zh-CN"/>
              <a:t>design</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CPU </a:t>
            </a:r>
            <a:r>
              <a:rPr lang="en-US" altLang="zh-CN"/>
              <a:t>Profiler</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608330" y="2449195"/>
            <a:ext cx="10968990" cy="2840990"/>
          </a:xfrm>
          <a:prstGeom prst="rect">
            <a:avLst/>
          </a:prstGeom>
        </p:spPr>
      </p:pic>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178505"/>
            <a:ext cx="10969200" cy="705600"/>
          </a:xfrm>
        </p:spPr>
        <p:txBody>
          <a:bodyPr/>
          <a:p>
            <a:r>
              <a:rPr lang="en-US" altLang="zh-CN"/>
              <a:t>motivat</a:t>
            </a:r>
            <a:r>
              <a:rPr lang="en-US" altLang="zh-CN"/>
              <a:t>ion-1</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1041400" y="883920"/>
            <a:ext cx="10102850" cy="5680710"/>
          </a:xfrm>
          <a:prstGeom prst="rect">
            <a:avLst/>
          </a:prstGeo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针对</a:t>
            </a:r>
            <a:r>
              <a:rPr lang="en-US" altLang="zh-CN"/>
              <a:t>Ethos</a:t>
            </a:r>
            <a:r>
              <a:rPr lang="zh-CN" altLang="en-US"/>
              <a:t>的计数器的</a:t>
            </a:r>
            <a:r>
              <a:rPr lang="zh-CN" altLang="en-US"/>
              <a:t>问题：</a:t>
            </a:r>
            <a:endParaRPr lang="zh-CN" altLang="en-US"/>
          </a:p>
        </p:txBody>
      </p:sp>
      <p:sp>
        <p:nvSpPr>
          <p:cNvPr id="3" name="内容占位符 2"/>
          <p:cNvSpPr>
            <a:spLocks noGrp="1"/>
          </p:cNvSpPr>
          <p:nvPr>
            <p:ph idx="1"/>
            <p:custDataLst>
              <p:tags r:id="rId2"/>
            </p:custDataLst>
          </p:nvPr>
        </p:nvSpPr>
        <p:spPr/>
        <p:txBody>
          <a:bodyPr/>
          <a:p>
            <a:r>
              <a:rPr lang="zh-CN" altLang="en-US"/>
              <a:t>一次只能记录四个事件，但是需要记录的事件可能远多于</a:t>
            </a:r>
            <a:r>
              <a:rPr lang="zh-CN" altLang="en-US"/>
              <a:t>四个</a:t>
            </a:r>
            <a:endParaRPr lang="zh-CN" altLang="en-US"/>
          </a:p>
          <a:p>
            <a:r>
              <a:rPr lang="zh-CN" altLang="en-US"/>
              <a:t>长时间</a:t>
            </a:r>
            <a:r>
              <a:rPr lang="zh-CN" altLang="en-US"/>
              <a:t>运行可能存在计数器饱和与溢出的情况（</a:t>
            </a:r>
            <a:r>
              <a:rPr lang="en-US" altLang="zh-CN"/>
              <a:t>untested</a:t>
            </a:r>
            <a:r>
              <a:rPr lang="zh-CN" altLang="en-US"/>
              <a:t>）（可能</a:t>
            </a:r>
            <a:r>
              <a:rPr lang="zh-CN" altLang="en-US"/>
              <a:t>不重要）</a:t>
            </a:r>
            <a:endParaRPr lang="zh-CN"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Contribution-1</a:t>
            </a:r>
            <a:endParaRPr lang="en-US" altLang="zh-CN"/>
          </a:p>
        </p:txBody>
      </p:sp>
      <p:sp>
        <p:nvSpPr>
          <p:cNvPr id="3" name="内容占位符 2"/>
          <p:cNvSpPr>
            <a:spLocks noGrp="1"/>
          </p:cNvSpPr>
          <p:nvPr>
            <p:ph idx="1"/>
            <p:custDataLst>
              <p:tags r:id="rId2"/>
            </p:custDataLst>
          </p:nvPr>
        </p:nvSpPr>
        <p:spPr/>
        <p:txBody>
          <a:bodyPr/>
          <a:p>
            <a:r>
              <a:rPr lang="zh-CN" altLang="en-US"/>
              <a:t>实现一个多路复用的</a:t>
            </a:r>
            <a:r>
              <a:rPr lang="en-US" altLang="zh-CN"/>
              <a:t>PMU</a:t>
            </a:r>
            <a:r>
              <a:rPr lang="zh-CN" altLang="en-US"/>
              <a:t>？或者直接跳过</a:t>
            </a:r>
            <a:r>
              <a:rPr lang="en-US" altLang="zh-CN"/>
              <a:t>PMU</a:t>
            </a:r>
            <a:r>
              <a:rPr lang="zh-CN" altLang="en-US"/>
              <a:t>实现系统级的</a:t>
            </a:r>
            <a:r>
              <a:rPr lang="en-US" altLang="zh-CN"/>
              <a:t>Profiler</a:t>
            </a:r>
            <a:endParaRPr lang="en-US" altLang="zh-CN"/>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motivation-2</a:t>
            </a:r>
            <a:endParaRPr lang="en-US" altLang="zh-CN"/>
          </a:p>
        </p:txBody>
      </p:sp>
      <p:sp>
        <p:nvSpPr>
          <p:cNvPr id="3" name="内容占位符 2"/>
          <p:cNvSpPr>
            <a:spLocks noGrp="1"/>
          </p:cNvSpPr>
          <p:nvPr>
            <p:ph idx="1"/>
            <p:custDataLst>
              <p:tags r:id="rId2"/>
            </p:custDataLst>
          </p:nvPr>
        </p:nvSpPr>
        <p:spPr/>
        <p:txBody>
          <a:bodyPr/>
          <a:p>
            <a:r>
              <a:rPr lang="zh-CN" altLang="en-US"/>
              <a:t>不是所有</a:t>
            </a:r>
            <a:r>
              <a:rPr lang="en-US" altLang="zh-CN"/>
              <a:t>NPU</a:t>
            </a:r>
            <a:r>
              <a:rPr lang="zh-CN" altLang="en-US"/>
              <a:t>都有</a:t>
            </a:r>
            <a:r>
              <a:rPr lang="en-US" altLang="zh-CN"/>
              <a:t>PMU</a:t>
            </a:r>
            <a:r>
              <a:rPr lang="zh-CN" altLang="en-US"/>
              <a:t>，</a:t>
            </a:r>
            <a:r>
              <a:rPr lang="en-US" altLang="zh-CN"/>
              <a:t>RK3588</a:t>
            </a:r>
            <a:r>
              <a:rPr lang="zh-CN" altLang="en-US"/>
              <a:t>就没有：很难看到微架构级的事件。基本上停留在算子</a:t>
            </a:r>
            <a:r>
              <a:rPr lang="zh-CN" altLang="en-US"/>
              <a:t>层面</a:t>
            </a:r>
            <a:endParaRPr lang="zh-CN" altLang="en-US"/>
          </a:p>
          <a:p>
            <a:pPr lvl="1"/>
            <a:endParaRPr lang="zh-CN"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motivation-3</a:t>
            </a:r>
            <a:endParaRPr lang="en-US" altLang="zh-CN"/>
          </a:p>
        </p:txBody>
      </p:sp>
      <p:sp>
        <p:nvSpPr>
          <p:cNvPr id="3" name="内容占位符 2"/>
          <p:cNvSpPr>
            <a:spLocks noGrp="1"/>
          </p:cNvSpPr>
          <p:nvPr>
            <p:ph idx="1"/>
            <p:custDataLst>
              <p:tags r:id="rId2"/>
            </p:custDataLst>
          </p:nvPr>
        </p:nvSpPr>
        <p:spPr/>
        <p:txBody>
          <a:bodyPr/>
          <a:p>
            <a:r>
              <a:rPr lang="zh-CN" altLang="en-US"/>
              <a:t>基于</a:t>
            </a:r>
            <a:r>
              <a:rPr lang="en-US" altLang="zh-CN"/>
              <a:t>Profiler</a:t>
            </a:r>
            <a:r>
              <a:rPr lang="zh-CN" altLang="en-US"/>
              <a:t>的</a:t>
            </a:r>
            <a:r>
              <a:rPr lang="en-US" altLang="zh-CN"/>
              <a:t>dynamic scheduling</a:t>
            </a:r>
            <a:r>
              <a:rPr lang="zh-CN" altLang="en-US"/>
              <a:t>（比较</a:t>
            </a:r>
            <a:r>
              <a:rPr lang="zh-CN" altLang="en-US"/>
              <a:t>扯）</a:t>
            </a:r>
            <a:endParaRPr lang="zh-CN"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motivat</a:t>
            </a:r>
            <a:r>
              <a:rPr lang="en-US" altLang="zh-CN"/>
              <a:t>ion-4</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608330" y="1866265"/>
            <a:ext cx="10968990" cy="2407920"/>
          </a:xfrm>
          <a:prstGeom prst="rect">
            <a:avLst/>
          </a:prstGeom>
        </p:spPr>
      </p:pic>
      <p:sp>
        <p:nvSpPr>
          <p:cNvPr id="5" name="文本框 4"/>
          <p:cNvSpPr txBox="1"/>
          <p:nvPr/>
        </p:nvSpPr>
        <p:spPr>
          <a:xfrm>
            <a:off x="608330" y="4187825"/>
            <a:ext cx="7192645" cy="2584450"/>
          </a:xfrm>
          <a:prstGeom prst="rect">
            <a:avLst/>
          </a:prstGeom>
          <a:noFill/>
        </p:spPr>
        <p:txBody>
          <a:bodyPr wrap="square" rtlCol="0">
            <a:spAutoFit/>
          </a:bodyPr>
          <a:p>
            <a:r>
              <a:rPr lang="en-US" altLang="zh-CN"/>
              <a:t>Layer Sparsity</a:t>
            </a:r>
            <a:endParaRPr lang="en-US" altLang="zh-CN"/>
          </a:p>
          <a:p>
            <a:r>
              <a:rPr lang="en-US" altLang="zh-CN"/>
              <a:t>Layer Zero Counts</a:t>
            </a:r>
            <a:endParaRPr lang="en-US" altLang="zh-CN"/>
          </a:p>
          <a:p>
            <a:r>
              <a:rPr lang="en-US" altLang="zh-CN"/>
              <a:t>Dense Layer Activities </a:t>
            </a:r>
            <a:endParaRPr lang="en-US" altLang="zh-CN"/>
          </a:p>
          <a:p>
            <a:r>
              <a:rPr lang="en-US" altLang="zh-CN"/>
              <a:t>FLOPs per Layer </a:t>
            </a:r>
            <a:endParaRPr lang="en-US" altLang="zh-CN"/>
          </a:p>
          <a:p>
            <a:r>
              <a:rPr lang="en-US" altLang="zh-CN"/>
              <a:t>Layer-wise TOPs </a:t>
            </a:r>
            <a:endParaRPr lang="en-US" altLang="zh-CN"/>
          </a:p>
          <a:p>
            <a:r>
              <a:rPr lang="en-US" altLang="zh-CN"/>
              <a:t>Layer-wise MACs </a:t>
            </a:r>
            <a:endParaRPr lang="en-US" altLang="zh-CN"/>
          </a:p>
          <a:p>
            <a:r>
              <a:rPr lang="en-US" altLang="zh-CN"/>
              <a:t>Layer-wise FLOPs </a:t>
            </a:r>
            <a:endParaRPr lang="en-US" altLang="zh-CN"/>
          </a:p>
          <a:p>
            <a:r>
              <a:rPr lang="en-US" altLang="zh-CN"/>
              <a:t>Layer-wise Entropies </a:t>
            </a:r>
            <a:r>
              <a:rPr lang="zh-CN" altLang="en-US"/>
              <a:t>：一层输出激活值的分布有多</a:t>
            </a:r>
            <a:r>
              <a:rPr lang="en-US" altLang="zh-CN"/>
              <a:t>“</a:t>
            </a:r>
            <a:r>
              <a:rPr lang="zh-CN" altLang="en-US"/>
              <a:t>分散</a:t>
            </a:r>
            <a:r>
              <a:rPr lang="en-US" altLang="zh-CN"/>
              <a:t>”</a:t>
            </a:r>
            <a:endParaRPr lang="en-US" altLang="zh-CN"/>
          </a:p>
          <a:p>
            <a:r>
              <a:rPr lang="en-US" altLang="zh-CN"/>
              <a:t>Throughput</a:t>
            </a:r>
            <a:endParaRPr lang="en-US" altLang="zh-CN"/>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en-US" altLang="zh-CN"/>
              <a:t>motivat</a:t>
            </a:r>
            <a:r>
              <a:rPr lang="en-US" altLang="zh-CN"/>
              <a:t>ion-5</a:t>
            </a:r>
            <a:endParaRPr lang="en-US" altLang="zh-CN"/>
          </a:p>
        </p:txBody>
      </p:sp>
      <p:sp>
        <p:nvSpPr>
          <p:cNvPr id="3" name="内容占位符 2"/>
          <p:cNvSpPr>
            <a:spLocks noGrp="1"/>
          </p:cNvSpPr>
          <p:nvPr>
            <p:ph idx="1"/>
            <p:custDataLst>
              <p:tags r:id="rId2"/>
            </p:custDataLst>
          </p:nvPr>
        </p:nvSpPr>
        <p:spPr/>
        <p:txBody>
          <a:bodyPr/>
          <a:p>
            <a:r>
              <a:rPr lang="en-US" altLang="zh-CN">
                <a:sym typeface="+mn-ea"/>
              </a:rPr>
              <a:t>tflite</a:t>
            </a:r>
            <a:r>
              <a:rPr lang="zh-CN" altLang="en-US">
                <a:sym typeface="+mn-ea"/>
              </a:rPr>
              <a:t>的</a:t>
            </a:r>
            <a:r>
              <a:rPr lang="en-US" altLang="zh-CN">
                <a:sym typeface="+mn-ea"/>
              </a:rPr>
              <a:t>benchmark_model</a:t>
            </a:r>
            <a:r>
              <a:rPr lang="zh-CN" altLang="en-US">
                <a:sym typeface="+mn-ea"/>
              </a:rPr>
              <a:t>无法测量细粒度的</a:t>
            </a:r>
            <a:r>
              <a:rPr lang="en-US" altLang="zh-CN">
                <a:sym typeface="+mn-ea"/>
              </a:rPr>
              <a:t>NPU</a:t>
            </a:r>
            <a:r>
              <a:rPr lang="zh-CN" altLang="en-US">
                <a:sym typeface="+mn-ea"/>
              </a:rPr>
              <a:t>数据。</a:t>
            </a:r>
            <a:r>
              <a:rPr lang="zh-CN" altLang="en-US"/>
              <a:t>只能在</a:t>
            </a:r>
            <a:r>
              <a:rPr lang="en-US" altLang="zh-CN"/>
              <a:t>CPU</a:t>
            </a:r>
            <a:r>
              <a:rPr lang="zh-CN" altLang="en-US"/>
              <a:t>的推理框架里把所有指标记成</a:t>
            </a:r>
            <a:r>
              <a:rPr lang="en-US" altLang="zh-CN"/>
              <a:t>Ethosudelegates</a:t>
            </a:r>
            <a:endParaRPr lang="en-US" altLang="zh-CN"/>
          </a:p>
          <a:p>
            <a:pPr lvl="1"/>
            <a:r>
              <a:rPr lang="zh-CN" altLang="en-US"/>
              <a:t>包含了真正运行推理的时间和同步与通信的</a:t>
            </a:r>
            <a:r>
              <a:rPr lang="zh-CN" altLang="en-US"/>
              <a:t>时间</a:t>
            </a:r>
            <a:endParaRPr lang="zh-CN" altLang="en-US"/>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Challenge-1</a:t>
            </a:r>
            <a:endParaRPr lang="en-US" altLang="zh-CN"/>
          </a:p>
        </p:txBody>
      </p:sp>
      <p:sp>
        <p:nvSpPr>
          <p:cNvPr id="3" name="内容占位符 2"/>
          <p:cNvSpPr>
            <a:spLocks noGrp="1"/>
          </p:cNvSpPr>
          <p:nvPr>
            <p:ph idx="1"/>
            <p:custDataLst>
              <p:tags r:id="rId2"/>
            </p:custDataLst>
          </p:nvPr>
        </p:nvSpPr>
        <p:spPr/>
        <p:txBody>
          <a:bodyPr/>
          <a:p>
            <a:r>
              <a:rPr lang="zh-CN" altLang="en-US"/>
              <a:t>纯系统</a:t>
            </a:r>
            <a:r>
              <a:rPr lang="zh-CN" altLang="en-US"/>
              <a:t>角度都能测到什么？有哪些要</a:t>
            </a:r>
            <a:r>
              <a:rPr lang="zh-CN" altLang="en-US"/>
              <a:t>测？怎么</a:t>
            </a:r>
            <a:r>
              <a:rPr lang="zh-CN" altLang="en-US"/>
              <a:t>测？</a:t>
            </a:r>
            <a:endParaRPr lang="zh-CN" altLang="en-US"/>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challenge2</a:t>
            </a:r>
            <a:endParaRPr lang="en-US" altLang="zh-CN"/>
          </a:p>
        </p:txBody>
      </p:sp>
      <p:sp>
        <p:nvSpPr>
          <p:cNvPr id="3" name="内容占位符 2"/>
          <p:cNvSpPr>
            <a:spLocks noGrp="1"/>
          </p:cNvSpPr>
          <p:nvPr>
            <p:ph idx="1"/>
            <p:custDataLst>
              <p:tags r:id="rId2"/>
            </p:custDataLst>
          </p:nvPr>
        </p:nvSpPr>
        <p:spPr/>
        <p:txBody>
          <a:bodyPr/>
          <a:p>
            <a:r>
              <a:rPr lang="zh-CN" altLang="en-US"/>
              <a:t>搬数据和算数据无法很好的</a:t>
            </a:r>
            <a:r>
              <a:rPr lang="zh-CN" altLang="en-US"/>
              <a:t>拆分</a:t>
            </a:r>
            <a:endParaRPr lang="zh-CN" altLang="en-US"/>
          </a:p>
          <a:p>
            <a:r>
              <a:rPr lang="en-US" altLang="zh-CN"/>
              <a:t>NPU</a:t>
            </a:r>
            <a:r>
              <a:rPr lang="zh-CN" altLang="en-US"/>
              <a:t>内部的计算优化很可能系统</a:t>
            </a:r>
            <a:r>
              <a:rPr lang="zh-CN" altLang="en-US"/>
              <a:t>侧无法</a:t>
            </a:r>
            <a:r>
              <a:rPr lang="zh-CN" altLang="en-US"/>
              <a:t>看到</a:t>
            </a:r>
            <a:endParaRPr lang="zh-CN" altLang="en-US"/>
          </a:p>
          <a:p>
            <a:r>
              <a:rPr lang="zh-CN" altLang="en-US"/>
              <a:t>只能看到一串算子但不能细化为每个算</a:t>
            </a:r>
            <a:r>
              <a:rPr lang="zh-CN" altLang="en-US"/>
              <a:t>子</a:t>
            </a:r>
            <a:endParaRPr lang="zh-CN" alt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Challenge-2</a:t>
            </a:r>
            <a:endParaRPr lang="en-US" altLang="zh-CN"/>
          </a:p>
        </p:txBody>
      </p:sp>
      <p:sp>
        <p:nvSpPr>
          <p:cNvPr id="3" name="内容占位符 2"/>
          <p:cNvSpPr>
            <a:spLocks noGrp="1"/>
          </p:cNvSpPr>
          <p:nvPr>
            <p:ph idx="1"/>
            <p:custDataLst>
              <p:tags r:id="rId2"/>
            </p:custDataLst>
          </p:nvPr>
        </p:nvSpPr>
        <p:spPr/>
        <p:txBody>
          <a:bodyPr/>
          <a:p>
            <a:r>
              <a:rPr lang="zh-CN" altLang="en-US"/>
              <a:t>如何证明实现的</a:t>
            </a:r>
            <a:r>
              <a:rPr lang="en-US" altLang="zh-CN"/>
              <a:t>Profiler</a:t>
            </a:r>
            <a:r>
              <a:rPr lang="zh-CN" altLang="en-US"/>
              <a:t>是</a:t>
            </a:r>
            <a:r>
              <a:rPr lang="zh-CN" altLang="en-US"/>
              <a:t>正确的</a:t>
            </a:r>
            <a:endParaRPr lang="zh-CN"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challenge-3</a:t>
            </a:r>
            <a:endParaRPr lang="en-US" altLang="zh-CN"/>
          </a:p>
        </p:txBody>
      </p:sp>
      <p:sp>
        <p:nvSpPr>
          <p:cNvPr id="3" name="内容占位符 2"/>
          <p:cNvSpPr>
            <a:spLocks noGrp="1"/>
          </p:cNvSpPr>
          <p:nvPr>
            <p:ph idx="1"/>
            <p:custDataLst>
              <p:tags r:id="rId2"/>
            </p:custDataLst>
          </p:nvPr>
        </p:nvSpPr>
        <p:spPr/>
        <p:txBody>
          <a:bodyPr/>
          <a:p>
            <a:r>
              <a:rPr lang="en-US" altLang="zh-CN"/>
              <a:t>NPU</a:t>
            </a:r>
            <a:r>
              <a:rPr lang="zh-CN" altLang="en-US"/>
              <a:t>给</a:t>
            </a:r>
            <a:r>
              <a:rPr lang="en-US" altLang="zh-CN"/>
              <a:t>GPU</a:t>
            </a:r>
            <a:r>
              <a:rPr lang="zh-CN" altLang="en-US"/>
              <a:t>差别很大，</a:t>
            </a:r>
            <a:r>
              <a:rPr lang="en-US" altLang="zh-CN"/>
              <a:t>NPU</a:t>
            </a:r>
            <a:r>
              <a:rPr lang="zh-CN" altLang="en-US"/>
              <a:t>内部能观测的指标</a:t>
            </a:r>
            <a:r>
              <a:rPr lang="zh-CN" altLang="en-US"/>
              <a:t>不多</a:t>
            </a:r>
            <a:endParaRPr lang="zh-CN"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NPU </a:t>
            </a:r>
            <a:endParaRPr lang="en-US" altLang="zh-CN"/>
          </a:p>
        </p:txBody>
      </p:sp>
      <p:sp>
        <p:nvSpPr>
          <p:cNvPr id="3" name="内容占位符 2"/>
          <p:cNvSpPr>
            <a:spLocks noGrp="1"/>
          </p:cNvSpPr>
          <p:nvPr>
            <p:ph idx="1"/>
            <p:custDataLst>
              <p:tags r:id="rId2"/>
            </p:custDataLst>
          </p:nvPr>
        </p:nvSpPr>
        <p:spPr/>
        <p:txBody>
          <a:bodyPr/>
          <a:p>
            <a:r>
              <a:rPr lang="zh-CN" altLang="en-US"/>
              <a:t>几乎所有的都是内核驱动到固件到</a:t>
            </a:r>
            <a:r>
              <a:rPr lang="en-US" altLang="zh-CN"/>
              <a:t>NPU</a:t>
            </a:r>
            <a:r>
              <a:rPr lang="zh-CN" altLang="en-US"/>
              <a:t>，并且对应的固件都是闭源</a:t>
            </a:r>
            <a:r>
              <a:rPr lang="zh-CN" altLang="en-US"/>
              <a:t>的</a:t>
            </a:r>
            <a:endParaRPr lang="zh-CN" altLang="en-US"/>
          </a:p>
          <a:p>
            <a:r>
              <a:rPr lang="zh-CN" altLang="en-US"/>
              <a:t>例外</a:t>
            </a:r>
            <a:endParaRPr lang="zh-CN" altLang="en-US"/>
          </a:p>
          <a:p>
            <a:pPr lvl="1"/>
            <a:r>
              <a:rPr lang="en-US" altLang="zh-CN"/>
              <a:t>Ethos U65 NPU</a:t>
            </a:r>
            <a:r>
              <a:rPr lang="zh-CN" altLang="en-US"/>
              <a:t>：固件</a:t>
            </a:r>
            <a:r>
              <a:rPr lang="zh-CN" altLang="en-US"/>
              <a:t>开源</a:t>
            </a:r>
            <a:endParaRPr lang="zh-CN" altLang="en-US"/>
          </a:p>
          <a:p>
            <a:pPr lvl="1"/>
            <a:r>
              <a:rPr lang="en-US" altLang="zh-CN"/>
              <a:t>VIP8000 </a:t>
            </a:r>
            <a:r>
              <a:rPr lang="zh-CN" altLang="en-US"/>
              <a:t>（</a:t>
            </a:r>
            <a:r>
              <a:rPr lang="en-US" altLang="zh-CN"/>
              <a:t>i.MX 8M Plus / A311D</a:t>
            </a:r>
            <a:r>
              <a:rPr lang="zh-CN" altLang="en-US"/>
              <a:t>）：有</a:t>
            </a:r>
            <a:r>
              <a:rPr lang="en-US" altLang="zh-CN"/>
              <a:t> </a:t>
            </a:r>
            <a:r>
              <a:rPr lang="zh-CN" altLang="en-US"/>
              <a:t>直接由</a:t>
            </a:r>
            <a:r>
              <a:rPr lang="en-US" altLang="zh-CN"/>
              <a:t>Linux</a:t>
            </a:r>
            <a:r>
              <a:rPr lang="zh-CN" altLang="en-US"/>
              <a:t>内核驱动读写</a:t>
            </a:r>
            <a:r>
              <a:rPr lang="en-US" altLang="zh-CN"/>
              <a:t>NPU</a:t>
            </a:r>
            <a:r>
              <a:rPr lang="zh-CN" altLang="en-US"/>
              <a:t>寄存器，驱动是开源</a:t>
            </a:r>
            <a:r>
              <a:rPr lang="zh-CN" altLang="en-US"/>
              <a:t>的</a:t>
            </a:r>
            <a:endParaRPr lang="zh-CN" altLang="en-US"/>
          </a:p>
          <a:p>
            <a:pPr lvl="1"/>
            <a:r>
              <a:rPr lang="en-US" altLang="zh-CN"/>
              <a:t>RKNPU</a:t>
            </a:r>
            <a:r>
              <a:rPr lang="zh-CN" altLang="en-US"/>
              <a:t>的</a:t>
            </a:r>
            <a:r>
              <a:rPr lang="en-US" altLang="zh-CN"/>
              <a:t>Rocket</a:t>
            </a:r>
            <a:r>
              <a:rPr lang="zh-CN" altLang="en-US"/>
              <a:t>正在开源，</a:t>
            </a:r>
            <a:r>
              <a:rPr lang="en-US" altLang="zh-CN"/>
              <a:t>Linux</a:t>
            </a:r>
            <a:r>
              <a:rPr lang="zh-CN" altLang="en-US"/>
              <a:t>内核</a:t>
            </a:r>
            <a:r>
              <a:rPr lang="zh-CN" altLang="en-US"/>
              <a:t>驱动直接对</a:t>
            </a:r>
            <a:r>
              <a:rPr lang="en-US" altLang="zh-CN"/>
              <a:t>NPU</a:t>
            </a:r>
            <a:r>
              <a:rPr lang="zh-CN" altLang="en-US"/>
              <a:t>寄存器进行</a:t>
            </a:r>
            <a:r>
              <a:rPr lang="zh-CN" altLang="en-US"/>
              <a:t>读写</a:t>
            </a:r>
            <a:endParaRPr lang="zh-CN" altLang="en-US"/>
          </a:p>
          <a:p>
            <a:pPr lvl="0"/>
            <a:r>
              <a:rPr lang="zh-CN" altLang="en-US"/>
              <a:t>一部分开源的</a:t>
            </a:r>
            <a:r>
              <a:rPr lang="en-US" altLang="zh-CN"/>
              <a:t>NPU</a:t>
            </a:r>
            <a:r>
              <a:rPr lang="zh-CN" altLang="en-US"/>
              <a:t>架构，但是没有开发板可以购买，只能仿真器或者</a:t>
            </a:r>
            <a:r>
              <a:rPr lang="en-US" altLang="zh-CN"/>
              <a:t>FPGA</a:t>
            </a:r>
            <a:endParaRPr lang="en-US" altLang="zh-CN"/>
          </a:p>
          <a:p>
            <a:pPr lvl="1"/>
            <a:r>
              <a:rPr lang="en-US" altLang="zh-CN"/>
              <a:t>NVDLA</a:t>
            </a:r>
            <a:endParaRPr lang="en-US" altLang="zh-CN"/>
          </a:p>
          <a:p>
            <a:pPr lvl="1"/>
            <a:r>
              <a:rPr lang="en-US" altLang="zh-CN"/>
              <a:t>TVM VTA</a:t>
            </a:r>
            <a:endParaRPr lang="en-US" altLang="zh-CN"/>
          </a:p>
          <a:p>
            <a:pPr lvl="0"/>
            <a:r>
              <a:rPr lang="zh-CN" altLang="en-US"/>
              <a:t>可以做成两类，一类是</a:t>
            </a:r>
            <a:r>
              <a:rPr lang="en-US" altLang="zh-CN"/>
              <a:t>Linux</a:t>
            </a:r>
            <a:r>
              <a:rPr lang="zh-CN" altLang="en-US"/>
              <a:t>直接交互</a:t>
            </a:r>
            <a:r>
              <a:rPr lang="en-US" altLang="zh-CN"/>
              <a:t>NPU</a:t>
            </a:r>
            <a:r>
              <a:rPr lang="zh-CN" altLang="en-US"/>
              <a:t>，一类是</a:t>
            </a:r>
            <a:r>
              <a:rPr lang="en-US" altLang="zh-CN"/>
              <a:t>Linux</a:t>
            </a:r>
            <a:r>
              <a:rPr lang="zh-CN" altLang="en-US"/>
              <a:t>交互固件交互</a:t>
            </a:r>
            <a:r>
              <a:rPr lang="en-US" altLang="zh-CN"/>
              <a:t>NPU</a:t>
            </a:r>
            <a:endParaRPr lang="en-US" altLang="zh-CN"/>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pic>
        <p:nvPicPr>
          <p:cNvPr id="4" name="图片 3"/>
          <p:cNvPicPr/>
          <p:nvPr/>
        </p:nvPicPr>
        <p:blipFill>
          <a:blip r:embed="rId3"/>
          <a:stretch>
            <a:fillRect/>
          </a:stretch>
        </p:blipFill>
        <p:spPr>
          <a:xfrm>
            <a:off x="0" y="0"/>
            <a:ext cx="12191365" cy="6858000"/>
          </a:xfrm>
          <a:prstGeom prst="rect">
            <a:avLst/>
          </a:prstGeom>
        </p:spPr>
      </p:pic>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为啥要</a:t>
            </a:r>
            <a:r>
              <a:rPr lang="zh-CN" altLang="en-US"/>
              <a:t>做开源</a:t>
            </a:r>
            <a:r>
              <a:rPr lang="zh-CN" altLang="en-US"/>
              <a:t>的</a:t>
            </a:r>
            <a:endParaRPr lang="zh-CN" altLang="en-US"/>
          </a:p>
        </p:txBody>
      </p:sp>
      <p:sp>
        <p:nvSpPr>
          <p:cNvPr id="3" name="内容占位符 2"/>
          <p:cNvSpPr>
            <a:spLocks noGrp="1"/>
          </p:cNvSpPr>
          <p:nvPr>
            <p:ph idx="1"/>
            <p:custDataLst>
              <p:tags r:id="rId2"/>
            </p:custDataLst>
          </p:nvPr>
        </p:nvSpPr>
        <p:spPr/>
        <p:txBody>
          <a:bodyPr/>
          <a:p>
            <a:r>
              <a:rPr lang="zh-CN" altLang="en-US"/>
              <a:t>闭源纯工程问题，逆向工程太花时间，本身也不算什么</a:t>
            </a:r>
            <a:r>
              <a:rPr lang="en-US" altLang="zh-CN"/>
              <a:t>insightful</a:t>
            </a:r>
            <a:r>
              <a:rPr lang="zh-CN" altLang="en-US"/>
              <a:t>的</a:t>
            </a:r>
            <a:r>
              <a:rPr lang="zh-CN" altLang="en-US"/>
              <a:t>东西</a:t>
            </a:r>
            <a:endParaRPr lang="zh-CN" altLang="en-US"/>
          </a:p>
          <a:p>
            <a:pPr lvl="1"/>
            <a:r>
              <a:rPr lang="en-US" altLang="zh-CN"/>
              <a:t>CAGE CCS25 </a:t>
            </a:r>
            <a:r>
              <a:rPr lang="zh-CN" altLang="en-US"/>
              <a:t>两个经验丰富</a:t>
            </a:r>
            <a:r>
              <a:rPr lang="zh-CN" altLang="en-US"/>
              <a:t>的人花了俩月逆向了一个</a:t>
            </a:r>
            <a:r>
              <a:rPr lang="en-US" altLang="zh-CN"/>
              <a:t>GPU</a:t>
            </a:r>
            <a:r>
              <a:rPr lang="zh-CN" altLang="en-US"/>
              <a:t>固件</a:t>
            </a:r>
            <a:endParaRPr lang="zh-CN" altLang="en-US"/>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608330" y="1951990"/>
            <a:ext cx="10968990" cy="3835400"/>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778510" y="1490345"/>
            <a:ext cx="10627360" cy="4759325"/>
          </a:xfrm>
          <a:prstGeom prst="rect">
            <a:avLst/>
          </a:prstGeom>
        </p:spPr>
      </p:pic>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Ethos U65</a:t>
            </a:r>
            <a:r>
              <a:rPr lang="zh-CN" altLang="en-US"/>
              <a:t>＋</a:t>
            </a:r>
            <a:r>
              <a:rPr lang="en-US" altLang="zh-CN"/>
              <a:t>VIP8000</a:t>
            </a:r>
            <a:r>
              <a:rPr lang="zh-CN" altLang="en-US"/>
              <a:t>是否</a:t>
            </a:r>
            <a:r>
              <a:rPr lang="zh-CN" altLang="en-US"/>
              <a:t>足够？</a:t>
            </a:r>
            <a:endParaRPr lang="zh-CN" altLang="en-US"/>
          </a:p>
        </p:txBody>
      </p:sp>
      <p:sp>
        <p:nvSpPr>
          <p:cNvPr id="3" name="内容占位符 2"/>
          <p:cNvSpPr>
            <a:spLocks noGrp="1"/>
          </p:cNvSpPr>
          <p:nvPr>
            <p:ph idx="1"/>
            <p:custDataLst>
              <p:tags r:id="rId2"/>
            </p:custDataLst>
          </p:nvPr>
        </p:nvSpPr>
        <p:spPr/>
        <p:txBody>
          <a:bodyPr/>
          <a:p>
            <a:r>
              <a:rPr lang="zh-CN" altLang="en-US"/>
              <a:t>覆盖有固件和没有固件</a:t>
            </a:r>
            <a:r>
              <a:rPr lang="en-US" altLang="zh-CN"/>
              <a:t>Linux</a:t>
            </a:r>
            <a:r>
              <a:rPr lang="zh-CN" altLang="en-US"/>
              <a:t>内核</a:t>
            </a:r>
            <a:r>
              <a:rPr lang="zh-CN" altLang="en-US"/>
              <a:t>驱动直接交互</a:t>
            </a:r>
            <a:r>
              <a:rPr lang="zh-CN" altLang="en-US"/>
              <a:t>两种情况。</a:t>
            </a:r>
            <a:endParaRPr lang="zh-CN" altLang="en-US"/>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t>应该在有</a:t>
            </a:r>
            <a:r>
              <a:rPr lang="en-US" altLang="zh-CN"/>
              <a:t>Profiler/PMU</a:t>
            </a:r>
            <a:r>
              <a:rPr lang="zh-CN" altLang="en-US"/>
              <a:t>的开发板上实现</a:t>
            </a:r>
            <a:r>
              <a:rPr lang="en-US" altLang="zh-CN"/>
              <a:t>System level</a:t>
            </a:r>
            <a:r>
              <a:rPr lang="zh-CN" altLang="en-US"/>
              <a:t>的</a:t>
            </a:r>
            <a:r>
              <a:rPr lang="en-US" altLang="zh-CN"/>
              <a:t>Profiler</a:t>
            </a:r>
            <a:endParaRPr lang="en-US" altLang="zh-CN"/>
          </a:p>
        </p:txBody>
      </p:sp>
      <p:sp>
        <p:nvSpPr>
          <p:cNvPr id="3" name="内容占位符 2"/>
          <p:cNvSpPr>
            <a:spLocks noGrp="1"/>
          </p:cNvSpPr>
          <p:nvPr>
            <p:ph idx="1"/>
            <p:custDataLst>
              <p:tags r:id="rId2"/>
            </p:custDataLst>
          </p:nvPr>
        </p:nvSpPr>
        <p:spPr/>
        <p:txBody>
          <a:bodyPr/>
          <a:p>
            <a:r>
              <a:rPr lang="zh-CN" altLang="en-US"/>
              <a:t>因为可以验证实现的</a:t>
            </a:r>
            <a:r>
              <a:rPr lang="en-US" altLang="zh-CN"/>
              <a:t>Profiler</a:t>
            </a:r>
            <a:r>
              <a:rPr lang="zh-CN" altLang="en-US"/>
              <a:t>的</a:t>
            </a:r>
            <a:r>
              <a:rPr lang="zh-CN" altLang="en-US"/>
              <a:t>正确性</a:t>
            </a:r>
            <a:endParaRPr lang="zh-CN" altLang="en-US"/>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开发板（</a:t>
            </a:r>
            <a:r>
              <a:rPr lang="en-US" altLang="zh-CN"/>
              <a:t>Linux kernel driver</a:t>
            </a:r>
            <a:r>
              <a:rPr lang="zh-CN" altLang="en-US"/>
              <a:t>直接与</a:t>
            </a:r>
            <a:r>
              <a:rPr lang="en-US" altLang="zh-CN"/>
              <a:t>NPU</a:t>
            </a:r>
            <a:r>
              <a:rPr lang="zh-CN" altLang="en-US"/>
              <a:t>交互）</a:t>
            </a:r>
            <a:endParaRPr lang="zh-CN" altLang="en-US"/>
          </a:p>
        </p:txBody>
      </p:sp>
      <p:sp>
        <p:nvSpPr>
          <p:cNvPr id="3" name="内容占位符 2"/>
          <p:cNvSpPr>
            <a:spLocks noGrp="1"/>
          </p:cNvSpPr>
          <p:nvPr>
            <p:ph idx="1"/>
            <p:custDataLst>
              <p:tags r:id="rId2"/>
            </p:custDataLst>
          </p:nvPr>
        </p:nvSpPr>
        <p:spPr/>
        <p:txBody>
          <a:bodyPr/>
          <a:p>
            <a:r>
              <a:rPr lang="zh-CN" altLang="en-US"/>
              <a:t>支持</a:t>
            </a:r>
            <a:r>
              <a:rPr lang="en-US" altLang="zh-CN"/>
              <a:t>Transformer</a:t>
            </a:r>
            <a:endParaRPr lang="en-US" altLang="zh-CN"/>
          </a:p>
          <a:p>
            <a:pPr lvl="1"/>
            <a:r>
              <a:rPr lang="en-US" altLang="zh-CN"/>
              <a:t>Xilinx Kria KV260 </a:t>
            </a:r>
            <a:r>
              <a:rPr lang="zh-CN" altLang="en-US"/>
              <a:t>或</a:t>
            </a:r>
            <a:r>
              <a:rPr lang="en-US" altLang="zh-CN"/>
              <a:t> ZCU10x</a:t>
            </a:r>
            <a:r>
              <a:rPr lang="zh-CN" altLang="en-US"/>
              <a:t>（</a:t>
            </a:r>
            <a:r>
              <a:rPr lang="en-US" altLang="zh-CN"/>
              <a:t>DPU</a:t>
            </a:r>
            <a:r>
              <a:rPr lang="zh-CN" altLang="en-US"/>
              <a:t>）</a:t>
            </a:r>
            <a:endParaRPr lang="zh-CN" altLang="en-US"/>
          </a:p>
          <a:p>
            <a:pPr lvl="1"/>
            <a:r>
              <a:rPr lang="en-US" altLang="zh-CN"/>
              <a:t>Sophon BM1684X</a:t>
            </a:r>
            <a:endParaRPr lang="en-US" altLang="zh-CN"/>
          </a:p>
          <a:p>
            <a:pPr lvl="0"/>
            <a:r>
              <a:rPr lang="zh-CN" altLang="en-US"/>
              <a:t>无</a:t>
            </a:r>
            <a:r>
              <a:rPr lang="en-US" altLang="zh-CN"/>
              <a:t>Transformer</a:t>
            </a:r>
            <a:r>
              <a:rPr lang="zh-CN" altLang="en-US"/>
              <a:t>支持</a:t>
            </a:r>
            <a:endParaRPr lang="zh-CN" altLang="en-US"/>
          </a:p>
          <a:p>
            <a:pPr lvl="1"/>
            <a:r>
              <a:rPr lang="en-US" altLang="zh-CN"/>
              <a:t>i.MX 8M Plus</a:t>
            </a:r>
            <a:endParaRPr lang="en-US" altLang="zh-CN"/>
          </a:p>
          <a:p>
            <a:pPr lvl="1"/>
            <a:r>
              <a:rPr lang="en-US" altLang="zh-CN"/>
              <a:t>A311D/VIM3</a:t>
            </a:r>
            <a:endParaRPr lang="en-US" altLang="zh-CN"/>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指标</a:t>
            </a:r>
            <a:endParaRPr lang="zh-CN" altLang="en-US"/>
          </a:p>
        </p:txBody>
      </p:sp>
      <p:sp>
        <p:nvSpPr>
          <p:cNvPr id="3" name="内容占位符 2"/>
          <p:cNvSpPr>
            <a:spLocks noGrp="1"/>
          </p:cNvSpPr>
          <p:nvPr>
            <p:ph idx="1"/>
            <p:custDataLst>
              <p:tags r:id="rId2"/>
            </p:custDataLst>
          </p:nvPr>
        </p:nvSpPr>
        <p:spPr/>
        <p:txBody>
          <a:bodyPr/>
          <a:p>
            <a:endParaRPr lang="zh-CN" altLang="en-US"/>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指标哪些能测哪些不能</a:t>
            </a:r>
            <a:r>
              <a:rPr lang="zh-CN" altLang="en-US"/>
              <a:t>测</a:t>
            </a:r>
            <a:endParaRPr lang="zh-CN" altLang="en-US"/>
          </a:p>
        </p:txBody>
      </p:sp>
      <p:sp>
        <p:nvSpPr>
          <p:cNvPr id="3" name="内容占位符 2"/>
          <p:cNvSpPr>
            <a:spLocks noGrp="1"/>
          </p:cNvSpPr>
          <p:nvPr>
            <p:ph idx="1"/>
            <p:custDataLst>
              <p:tags r:id="rId2"/>
            </p:custDataLst>
          </p:nvPr>
        </p:nvSpPr>
        <p:spPr/>
        <p:txBody>
          <a:bodyPr/>
          <a:p>
            <a:r>
              <a:rPr lang="zh-CN" altLang="en-US"/>
              <a:t>目前的</a:t>
            </a:r>
            <a:r>
              <a:rPr lang="en-US" altLang="zh-CN"/>
              <a:t>NPU Profiler</a:t>
            </a:r>
            <a:r>
              <a:rPr lang="zh-CN" altLang="en-US"/>
              <a:t>组成包括：</a:t>
            </a:r>
            <a:r>
              <a:rPr lang="en-US" altLang="zh-CN"/>
              <a:t>[SDC]</a:t>
            </a:r>
            <a:r>
              <a:rPr lang="zh-CN" altLang="en-US"/>
              <a:t>（</a:t>
            </a:r>
            <a:r>
              <a:rPr lang="en-US" altLang="zh-CN"/>
              <a:t>Software-Defined Counters</a:t>
            </a:r>
            <a:r>
              <a:rPr lang="zh-CN" altLang="en-US"/>
              <a:t>）</a:t>
            </a:r>
            <a:r>
              <a:rPr lang="en-US" altLang="zh-CN"/>
              <a:t>[PMU] [OEM]</a:t>
            </a:r>
            <a:endParaRPr lang="en-US" altLang="zh-CN"/>
          </a:p>
          <a:p>
            <a:pPr lvl="1"/>
            <a:r>
              <a:rPr lang="zh-CN" altLang="en-US"/>
              <a:t>其中只有</a:t>
            </a:r>
            <a:r>
              <a:rPr lang="en-US" altLang="zh-CN"/>
              <a:t>SDC</a:t>
            </a:r>
            <a:r>
              <a:rPr lang="zh-CN" altLang="en-US"/>
              <a:t>的数据能通过修改系统和固件</a:t>
            </a:r>
            <a:r>
              <a:rPr lang="zh-CN" altLang="en-US"/>
              <a:t>实现</a:t>
            </a:r>
            <a:endParaRPr lang="zh-CN" altLang="en-US"/>
          </a:p>
          <a:p>
            <a:pPr marL="0" lvl="1"/>
            <a:r>
              <a:rPr lang="en-US" altLang="zh-CN">
                <a:sym typeface="+mn-ea"/>
              </a:rPr>
              <a:t>[SDC]</a:t>
            </a:r>
            <a:r>
              <a:rPr lang="zh-CN" altLang="en-US">
                <a:sym typeface="+mn-ea"/>
              </a:rPr>
              <a:t>（</a:t>
            </a:r>
            <a:r>
              <a:rPr lang="en-US" altLang="zh-CN">
                <a:sym typeface="+mn-ea"/>
              </a:rPr>
              <a:t>Software-Defined Counters</a:t>
            </a:r>
            <a:r>
              <a:rPr lang="zh-CN" altLang="en-US">
                <a:sym typeface="+mn-ea"/>
              </a:rPr>
              <a:t>）：</a:t>
            </a:r>
            <a:r>
              <a:rPr lang="zh-CN" altLang="en-US" sz="1800">
                <a:sym typeface="+mn-ea"/>
              </a:rPr>
              <a:t>通过改</a:t>
            </a:r>
            <a:r>
              <a:rPr lang="en-US" altLang="zh-CN" sz="1800">
                <a:sym typeface="+mn-ea"/>
              </a:rPr>
              <a:t> Runtime/</a:t>
            </a:r>
            <a:r>
              <a:rPr lang="zh-CN" altLang="en-US" sz="1800">
                <a:sym typeface="+mn-ea"/>
              </a:rPr>
              <a:t>驱动</a:t>
            </a:r>
            <a:r>
              <a:rPr lang="en-US" altLang="zh-CN" sz="1800">
                <a:sym typeface="+mn-ea"/>
              </a:rPr>
              <a:t>/</a:t>
            </a:r>
            <a:r>
              <a:rPr lang="zh-CN" altLang="en-US" sz="1800">
                <a:sym typeface="+mn-ea"/>
              </a:rPr>
              <a:t>固件打点即可获得的</a:t>
            </a:r>
            <a:r>
              <a:rPr lang="en-US" altLang="zh-CN" sz="1800">
                <a:sym typeface="+mn-ea"/>
              </a:rPr>
              <a:t>“</a:t>
            </a:r>
            <a:r>
              <a:rPr lang="zh-CN" altLang="en-US" sz="1800">
                <a:sym typeface="+mn-ea"/>
              </a:rPr>
              <a:t>软件定义</a:t>
            </a:r>
            <a:r>
              <a:rPr lang="en-US" altLang="zh-CN" sz="1800">
                <a:sym typeface="+mn-ea"/>
              </a:rPr>
              <a:t>”</a:t>
            </a:r>
            <a:r>
              <a:rPr lang="zh-CN" altLang="en-US" sz="1800">
                <a:sym typeface="+mn-ea"/>
              </a:rPr>
              <a:t>指标</a:t>
            </a:r>
            <a:endParaRPr lang="zh-CN" altLang="en-US" sz="1800">
              <a:sym typeface="+mn-ea"/>
            </a:endParaRPr>
          </a:p>
          <a:p>
            <a:pPr marL="457200" lvl="2"/>
            <a:r>
              <a:rPr lang="zh-CN" altLang="en-US" sz="1800">
                <a:sym typeface="+mn-ea"/>
              </a:rPr>
              <a:t>时间戳、字节累计、状态位</a:t>
            </a:r>
            <a:r>
              <a:rPr lang="en-US" altLang="zh-CN" sz="1800">
                <a:sym typeface="+mn-ea"/>
              </a:rPr>
              <a:t>/GPIO </a:t>
            </a:r>
            <a:r>
              <a:rPr lang="zh-CN" altLang="en-US" sz="1800">
                <a:sym typeface="+mn-ea"/>
              </a:rPr>
              <a:t>翻转、队列采样等</a:t>
            </a:r>
            <a:endParaRPr lang="zh-CN" altLang="en-US">
              <a:sym typeface="+mn-ea"/>
            </a:endParaRPr>
          </a:p>
          <a:p>
            <a:pPr lvl="0"/>
            <a:r>
              <a:rPr lang="en-US" altLang="zh-CN">
                <a:sym typeface="+mn-ea"/>
              </a:rPr>
              <a:t>[PMU] </a:t>
            </a:r>
            <a:r>
              <a:rPr lang="zh-CN" altLang="en-US">
                <a:sym typeface="+mn-ea"/>
              </a:rPr>
              <a:t>：</a:t>
            </a:r>
            <a:r>
              <a:rPr lang="en-US" altLang="zh-CN">
                <a:sym typeface="+mn-ea"/>
              </a:rPr>
              <a:t>NPU/SoC </a:t>
            </a:r>
            <a:r>
              <a:rPr lang="zh-CN" altLang="en-US">
                <a:sym typeface="+mn-ea"/>
              </a:rPr>
              <a:t>暴露的硬件性能计数器</a:t>
            </a:r>
            <a:endParaRPr lang="zh-CN" altLang="en-US">
              <a:sym typeface="+mn-ea"/>
            </a:endParaRPr>
          </a:p>
          <a:p>
            <a:pPr lvl="1"/>
            <a:r>
              <a:rPr lang="en-US" altLang="zh-CN">
                <a:sym typeface="+mn-ea"/>
              </a:rPr>
              <a:t>cache </a:t>
            </a:r>
            <a:r>
              <a:rPr lang="zh-CN" altLang="en-US">
                <a:sym typeface="+mn-ea"/>
              </a:rPr>
              <a:t>命中、</a:t>
            </a:r>
            <a:r>
              <a:rPr lang="en-US" altLang="zh-CN">
                <a:sym typeface="+mn-ea"/>
              </a:rPr>
              <a:t>stall</a:t>
            </a:r>
            <a:r>
              <a:rPr lang="zh-CN" altLang="en-US">
                <a:sym typeface="+mn-ea"/>
              </a:rPr>
              <a:t>、</a:t>
            </a:r>
            <a:r>
              <a:rPr lang="en-US" altLang="zh-CN">
                <a:sym typeface="+mn-ea"/>
              </a:rPr>
              <a:t>MAC </a:t>
            </a:r>
            <a:r>
              <a:rPr lang="zh-CN" altLang="en-US">
                <a:sym typeface="+mn-ea"/>
              </a:rPr>
              <a:t>利用</a:t>
            </a:r>
            <a:endParaRPr lang="zh-CN" altLang="en-US">
              <a:sym typeface="+mn-ea"/>
            </a:endParaRPr>
          </a:p>
          <a:p>
            <a:pPr lvl="0"/>
            <a:r>
              <a:rPr lang="en-US" altLang="zh-CN">
                <a:sym typeface="+mn-ea"/>
              </a:rPr>
              <a:t>[OEM]</a:t>
            </a:r>
            <a:r>
              <a:rPr lang="zh-CN" altLang="en-US">
                <a:sym typeface="+mn-ea"/>
              </a:rPr>
              <a:t>：</a:t>
            </a:r>
            <a:r>
              <a:rPr lang="zh-CN" altLang="en-US"/>
              <a:t>需要厂商私有接口或</a:t>
            </a:r>
            <a:r>
              <a:rPr lang="en-US" altLang="zh-CN"/>
              <a:t> NDA </a:t>
            </a:r>
            <a:r>
              <a:rPr lang="zh-CN" altLang="en-US"/>
              <a:t>的指标</a:t>
            </a:r>
            <a:r>
              <a:rPr lang="en-US" altLang="zh-CN"/>
              <a:t>/</a:t>
            </a:r>
            <a:r>
              <a:rPr lang="zh-CN" altLang="en-US"/>
              <a:t>工具</a:t>
            </a:r>
            <a:endParaRPr lang="zh-CN" altLang="en-US"/>
          </a:p>
          <a:p>
            <a:pPr lvl="1"/>
            <a:r>
              <a:rPr lang="zh-CN" altLang="en-US"/>
              <a:t>内核</a:t>
            </a:r>
            <a:r>
              <a:rPr lang="en-US" altLang="zh-CN"/>
              <a:t>/</a:t>
            </a:r>
            <a:r>
              <a:rPr lang="zh-CN" altLang="en-US"/>
              <a:t>微核阶段时序</a:t>
            </a:r>
            <a:endParaRPr lang="zh-CN" altLang="en-US"/>
          </a:p>
          <a:p>
            <a:pPr lvl="1"/>
            <a:r>
              <a:rPr lang="zh-CN" altLang="en-US"/>
              <a:t>指令</a:t>
            </a:r>
            <a:r>
              <a:rPr lang="en-US" altLang="zh-CN"/>
              <a:t>/</a:t>
            </a:r>
            <a:r>
              <a:rPr lang="zh-CN" altLang="en-US"/>
              <a:t>发射</a:t>
            </a:r>
            <a:r>
              <a:rPr lang="en-US" altLang="zh-CN"/>
              <a:t>/</a:t>
            </a:r>
            <a:r>
              <a:rPr lang="zh-CN" altLang="en-US"/>
              <a:t>占用率</a:t>
            </a:r>
            <a:endParaRPr lang="zh-CN" altLang="en-US"/>
          </a:p>
          <a:p>
            <a:pPr lvl="1"/>
            <a:r>
              <a:rPr lang="en-US" altLang="zh-CN"/>
              <a:t>STALL </a:t>
            </a:r>
            <a:r>
              <a:rPr lang="zh-CN" altLang="en-US"/>
              <a:t>细分</a:t>
            </a:r>
            <a:endParaRPr lang="zh-CN" altLang="en-US"/>
          </a:p>
          <a:p>
            <a:pPr lvl="1"/>
            <a:endParaRPr lang="zh-CN" altLang="en-US"/>
          </a:p>
        </p:txBody>
      </p:sp>
    </p:spTree>
    <p:custDataLst>
      <p:tags r:id="rId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指标：</a:t>
            </a:r>
            <a:endParaRPr lang="zh-CN" altLang="en-US"/>
          </a:p>
        </p:txBody>
      </p:sp>
      <p:sp>
        <p:nvSpPr>
          <p:cNvPr id="3" name="内容占位符 2"/>
          <p:cNvSpPr>
            <a:spLocks noGrp="1"/>
          </p:cNvSpPr>
          <p:nvPr>
            <p:ph idx="1"/>
            <p:custDataLst>
              <p:tags r:id="rId2"/>
            </p:custDataLst>
          </p:nvPr>
        </p:nvSpPr>
        <p:spPr/>
        <p:txBody>
          <a:bodyPr>
            <a:normAutofit fontScale="90000" lnSpcReduction="20000"/>
          </a:bodyPr>
          <a:p>
            <a:r>
              <a:rPr lang="zh-CN" altLang="en-US"/>
              <a:t>时间线与负载</a:t>
            </a:r>
            <a:endParaRPr lang="zh-CN" altLang="en-US"/>
          </a:p>
          <a:p>
            <a:pPr lvl="1"/>
            <a:r>
              <a:rPr lang="zh-CN" altLang="en-US"/>
              <a:t>端到端延迟</a:t>
            </a:r>
            <a:r>
              <a:rPr lang="en-US" altLang="zh-CN">
                <a:sym typeface="+mn-ea"/>
              </a:rPr>
              <a:t> [SDC]</a:t>
            </a:r>
            <a:endParaRPr lang="zh-CN" altLang="en-US"/>
          </a:p>
          <a:p>
            <a:pPr lvl="1"/>
            <a:r>
              <a:rPr lang="zh-CN" altLang="en-US"/>
              <a:t>调度分段：把端到端拆成排队、驱动提交、设备执行三段</a:t>
            </a:r>
            <a:r>
              <a:rPr lang="en-US" altLang="zh-CN">
                <a:sym typeface="+mn-ea"/>
              </a:rPr>
              <a:t> [SDC]</a:t>
            </a:r>
            <a:endParaRPr lang="zh-CN" altLang="en-US"/>
          </a:p>
          <a:p>
            <a:pPr lvl="1"/>
            <a:r>
              <a:rPr lang="zh-CN" altLang="en-US"/>
              <a:t>设备时间线融合</a:t>
            </a:r>
            <a:r>
              <a:rPr lang="en-US" altLang="zh-CN">
                <a:sym typeface="+mn-ea"/>
              </a:rPr>
              <a:t> [SDC]</a:t>
            </a:r>
            <a:endParaRPr lang="zh-CN" altLang="en-US"/>
          </a:p>
          <a:p>
            <a:pPr lvl="1"/>
            <a:r>
              <a:rPr lang="zh-CN" altLang="en-US"/>
              <a:t>微任务碎片度</a:t>
            </a:r>
            <a:r>
              <a:rPr lang="en-US" altLang="zh-CN">
                <a:sym typeface="+mn-ea"/>
              </a:rPr>
              <a:t> [SDC]</a:t>
            </a:r>
            <a:endParaRPr lang="zh-CN" altLang="en-US"/>
          </a:p>
          <a:p>
            <a:pPr lvl="0"/>
            <a:r>
              <a:rPr lang="zh-CN" altLang="en-US"/>
              <a:t>计算活动与饱和</a:t>
            </a:r>
            <a:endParaRPr lang="zh-CN" altLang="en-US"/>
          </a:p>
          <a:p>
            <a:pPr lvl="1"/>
            <a:r>
              <a:rPr lang="zh-CN" altLang="en-US"/>
              <a:t>计算占空比</a:t>
            </a:r>
            <a:r>
              <a:rPr lang="en-US" altLang="zh-CN">
                <a:sym typeface="+mn-ea"/>
              </a:rPr>
              <a:t> [SDC]</a:t>
            </a:r>
            <a:endParaRPr lang="zh-CN" altLang="en-US"/>
          </a:p>
          <a:p>
            <a:pPr lvl="1"/>
            <a:r>
              <a:rPr lang="zh-CN" altLang="en-US"/>
              <a:t>内核数量</a:t>
            </a:r>
            <a:r>
              <a:rPr lang="en-US" altLang="zh-CN"/>
              <a:t>/</a:t>
            </a:r>
            <a:r>
              <a:rPr lang="zh-CN" altLang="en-US"/>
              <a:t>长度分布</a:t>
            </a:r>
            <a:r>
              <a:rPr lang="en-US" altLang="zh-CN">
                <a:sym typeface="+mn-ea"/>
              </a:rPr>
              <a:t> [SDC]</a:t>
            </a:r>
            <a:endParaRPr lang="zh-CN" altLang="en-US"/>
          </a:p>
          <a:p>
            <a:pPr lvl="1"/>
            <a:r>
              <a:rPr lang="zh-CN" altLang="en-US"/>
              <a:t>每算子</a:t>
            </a:r>
            <a:r>
              <a:rPr lang="en-US" altLang="zh-CN"/>
              <a:t> cycles [OEM]/[PMU]</a:t>
            </a:r>
            <a:endParaRPr lang="en-US" altLang="zh-CN"/>
          </a:p>
          <a:p>
            <a:pPr lvl="0"/>
            <a:r>
              <a:rPr lang="zh-CN" altLang="en-US"/>
              <a:t>数据搬运与带宽</a:t>
            </a:r>
            <a:endParaRPr lang="zh-CN" altLang="en-US"/>
          </a:p>
          <a:p>
            <a:pPr lvl="1"/>
            <a:r>
              <a:rPr lang="en-US" altLang="zh-CN"/>
              <a:t>C1 DMA </a:t>
            </a:r>
            <a:r>
              <a:rPr lang="zh-CN" altLang="en-US"/>
              <a:t>读</a:t>
            </a:r>
            <a:r>
              <a:rPr lang="en-US" altLang="zh-CN"/>
              <a:t>/</a:t>
            </a:r>
            <a:r>
              <a:rPr lang="zh-CN" altLang="en-US"/>
              <a:t>写字节（含方向）</a:t>
            </a:r>
            <a:r>
              <a:rPr lang="en-US" altLang="zh-CN">
                <a:sym typeface="+mn-ea"/>
              </a:rPr>
              <a:t> [SDC]</a:t>
            </a:r>
            <a:endParaRPr lang="zh-CN" altLang="en-US"/>
          </a:p>
          <a:p>
            <a:pPr lvl="1"/>
            <a:r>
              <a:rPr lang="en-US" altLang="zh-CN"/>
              <a:t>DMA </a:t>
            </a:r>
            <a:r>
              <a:rPr lang="zh-CN" altLang="en-US"/>
              <a:t>吞吐</a:t>
            </a:r>
            <a:r>
              <a:rPr lang="en-US" altLang="zh-CN"/>
              <a:t>/</a:t>
            </a:r>
            <a:r>
              <a:rPr lang="zh-CN" altLang="en-US"/>
              <a:t>等待</a:t>
            </a:r>
            <a:r>
              <a:rPr lang="en-US" altLang="zh-CN">
                <a:sym typeface="+mn-ea"/>
              </a:rPr>
              <a:t> [SDC]</a:t>
            </a:r>
            <a:endParaRPr lang="zh-CN" altLang="en-US"/>
          </a:p>
          <a:p>
            <a:pPr lvl="1"/>
            <a:r>
              <a:rPr lang="zh-CN" altLang="en-US"/>
              <a:t>突发长度直方图、对齐失配次数</a:t>
            </a:r>
            <a:r>
              <a:rPr lang="en-US" altLang="zh-CN">
                <a:sym typeface="+mn-ea"/>
              </a:rPr>
              <a:t> [SDC]</a:t>
            </a:r>
            <a:endParaRPr lang="zh-CN" altLang="en-US"/>
          </a:p>
          <a:p>
            <a:pPr lvl="1"/>
            <a:r>
              <a:rPr lang="en-US" altLang="zh-CN"/>
              <a:t>SG </a:t>
            </a:r>
            <a:r>
              <a:rPr lang="zh-CN" altLang="en-US"/>
              <a:t>段数与平均段长</a:t>
            </a:r>
            <a:r>
              <a:rPr lang="en-US" altLang="zh-CN">
                <a:sym typeface="+mn-ea"/>
              </a:rPr>
              <a:t> [SDC]</a:t>
            </a:r>
            <a:endParaRPr lang="zh-CN" altLang="en-US"/>
          </a:p>
          <a:p>
            <a:pPr lvl="1"/>
            <a:r>
              <a:rPr lang="zh-CN" altLang="en-US"/>
              <a:t>线级带宽</a:t>
            </a:r>
            <a:r>
              <a:rPr lang="en-US" altLang="zh-CN"/>
              <a:t>/</a:t>
            </a:r>
            <a:r>
              <a:rPr lang="zh-CN" altLang="en-US"/>
              <a:t>延迟</a:t>
            </a:r>
            <a:r>
              <a:rPr lang="en-US" altLang="zh-CN"/>
              <a:t> [PMU]/[OEM]</a:t>
            </a:r>
            <a:endParaRPr lang="en-US" altLang="zh-CN"/>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zh-CN" altLang="en-US"/>
              <a:t>内存占用与复用</a:t>
            </a:r>
            <a:endParaRPr lang="zh-CN" altLang="en-US"/>
          </a:p>
          <a:p>
            <a:pPr lvl="1"/>
            <a:r>
              <a:rPr lang="zh-CN" altLang="en-US"/>
              <a:t>片上</a:t>
            </a:r>
            <a:r>
              <a:rPr lang="en-US" altLang="zh-CN"/>
              <a:t> SRAM/TCM </a:t>
            </a:r>
            <a:r>
              <a:rPr lang="zh-CN" altLang="en-US"/>
              <a:t>水位线（当前</a:t>
            </a:r>
            <a:r>
              <a:rPr lang="en-US" altLang="zh-CN"/>
              <a:t>/</a:t>
            </a:r>
            <a:r>
              <a:rPr lang="zh-CN" altLang="en-US"/>
              <a:t>峰值）</a:t>
            </a:r>
            <a:r>
              <a:rPr lang="en-US" altLang="zh-CN"/>
              <a:t> [SDC]</a:t>
            </a:r>
            <a:endParaRPr lang="en-US" altLang="zh-CN"/>
          </a:p>
          <a:p>
            <a:pPr lvl="1"/>
            <a:r>
              <a:rPr lang="zh-CN" altLang="en-US"/>
              <a:t>工作集估算（每</a:t>
            </a:r>
            <a:r>
              <a:rPr lang="en-US" altLang="zh-CN"/>
              <a:t> tile/stripe </a:t>
            </a:r>
            <a:r>
              <a:rPr lang="zh-CN" altLang="en-US"/>
              <a:t>的激活</a:t>
            </a:r>
            <a:r>
              <a:rPr lang="en-US" altLang="zh-CN"/>
              <a:t>/</a:t>
            </a:r>
            <a:r>
              <a:rPr lang="zh-CN" altLang="en-US"/>
              <a:t>权重</a:t>
            </a:r>
            <a:r>
              <a:rPr lang="en-US" altLang="zh-CN"/>
              <a:t>/</a:t>
            </a:r>
            <a:r>
              <a:rPr lang="zh-CN" altLang="en-US"/>
              <a:t>中间缓冲）</a:t>
            </a:r>
            <a:r>
              <a:rPr lang="en-US" altLang="zh-CN"/>
              <a:t> [SDC]</a:t>
            </a:r>
            <a:endParaRPr lang="en-US" altLang="zh-CN"/>
          </a:p>
          <a:p>
            <a:pPr lvl="1"/>
            <a:r>
              <a:rPr lang="zh-CN" altLang="en-US"/>
              <a:t>双缓冲命中率</a:t>
            </a:r>
            <a:r>
              <a:rPr lang="en-US" altLang="zh-CN"/>
              <a:t>/</a:t>
            </a:r>
            <a:r>
              <a:rPr lang="zh-CN" altLang="en-US"/>
              <a:t>流水重用率</a:t>
            </a:r>
            <a:r>
              <a:rPr lang="en-US" altLang="zh-CN"/>
              <a:t> [SDC]</a:t>
            </a:r>
            <a:endParaRPr lang="en-US" altLang="zh-CN"/>
          </a:p>
          <a:p>
            <a:pPr lvl="1"/>
            <a:r>
              <a:rPr lang="zh-CN" altLang="en-US"/>
              <a:t>中间张量复用次数与生命周期</a:t>
            </a:r>
            <a:r>
              <a:rPr lang="en-US" altLang="zh-CN"/>
              <a:t> [SDC]</a:t>
            </a:r>
            <a:endParaRPr lang="en-US" altLang="zh-CN"/>
          </a:p>
          <a:p>
            <a:pPr lvl="0"/>
            <a:r>
              <a:rPr lang="zh-CN" altLang="en-US"/>
              <a:t>切分</a:t>
            </a:r>
            <a:r>
              <a:rPr lang="en-US" altLang="zh-CN"/>
              <a:t>/</a:t>
            </a:r>
            <a:r>
              <a:rPr lang="zh-CN" altLang="en-US"/>
              <a:t>调度与跨设备</a:t>
            </a:r>
            <a:endParaRPr lang="zh-CN" altLang="en-US"/>
          </a:p>
          <a:p>
            <a:pPr lvl="1"/>
            <a:r>
              <a:rPr lang="en-US" altLang="zh-CN"/>
              <a:t>tiling/striping </a:t>
            </a:r>
            <a:r>
              <a:rPr lang="zh-CN" altLang="en-US"/>
              <a:t>次数与形状</a:t>
            </a:r>
            <a:r>
              <a:rPr lang="en-US" altLang="zh-CN"/>
              <a:t> [SDC]</a:t>
            </a:r>
            <a:endParaRPr lang="en-US" altLang="zh-CN"/>
          </a:p>
          <a:p>
            <a:pPr lvl="1"/>
            <a:r>
              <a:rPr lang="zh-CN" altLang="en-US"/>
              <a:t>跨设备跳变次数与开销（</a:t>
            </a:r>
            <a:r>
              <a:rPr lang="en-US" altLang="zh-CN"/>
              <a:t>CPU</a:t>
            </a:r>
            <a:r>
              <a:rPr lang="en-US" altLang="en-US"/>
              <a:t>↔</a:t>
            </a:r>
            <a:r>
              <a:rPr lang="en-US" altLang="zh-CN"/>
              <a:t>NPU</a:t>
            </a:r>
            <a:r>
              <a:rPr lang="en-US" altLang="en-US"/>
              <a:t>↔</a:t>
            </a:r>
            <a:r>
              <a:rPr lang="en-US" altLang="zh-CN"/>
              <a:t>GPU</a:t>
            </a:r>
            <a:r>
              <a:rPr lang="zh-CN" altLang="en-US"/>
              <a:t>）</a:t>
            </a:r>
            <a:r>
              <a:rPr lang="en-US" altLang="zh-CN"/>
              <a:t> [SDC]</a:t>
            </a:r>
            <a:endParaRPr lang="en-US" altLang="zh-CN"/>
          </a:p>
          <a:p>
            <a:pPr lvl="1"/>
            <a:r>
              <a:rPr lang="zh-CN" altLang="en-US"/>
              <a:t>批内并发（</a:t>
            </a:r>
            <a:r>
              <a:rPr lang="en-US" altLang="zh-CN"/>
              <a:t>in-flight batching</a:t>
            </a:r>
            <a:r>
              <a:rPr lang="zh-CN" altLang="en-US"/>
              <a:t>）规模</a:t>
            </a:r>
            <a:r>
              <a:rPr lang="en-US" altLang="zh-CN"/>
              <a:t>/</a:t>
            </a:r>
            <a:r>
              <a:rPr lang="zh-CN" altLang="en-US"/>
              <a:t>命中</a:t>
            </a:r>
            <a:r>
              <a:rPr lang="en-US" altLang="zh-CN"/>
              <a:t> [SDC]</a:t>
            </a:r>
            <a:endParaRPr lang="en-US" altLang="zh-CN"/>
          </a:p>
          <a:p>
            <a:pPr lvl="1"/>
            <a:r>
              <a:rPr lang="zh-CN" altLang="en-US"/>
              <a:t>队列深度</a:t>
            </a:r>
            <a:r>
              <a:rPr lang="en-US" altLang="zh-CN"/>
              <a:t>/</a:t>
            </a:r>
            <a:r>
              <a:rPr lang="zh-CN" altLang="en-US"/>
              <a:t>排队时间</a:t>
            </a:r>
            <a:r>
              <a:rPr lang="en-US" altLang="zh-CN"/>
              <a:t> [SDC]</a:t>
            </a:r>
            <a:endParaRPr lang="en-US" altLang="zh-CN"/>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zh-CN" altLang="en-US"/>
              <a:t>回退与健壮性</a:t>
            </a:r>
            <a:endParaRPr lang="zh-CN" altLang="en-US"/>
          </a:p>
          <a:p>
            <a:r>
              <a:rPr lang="en-US" altLang="zh-CN"/>
              <a:t> CPU fallback </a:t>
            </a:r>
            <a:r>
              <a:rPr lang="zh-CN" altLang="en-US"/>
              <a:t>次数与耗时（按</a:t>
            </a:r>
            <a:r>
              <a:rPr lang="en-US" altLang="zh-CN"/>
              <a:t> OP </a:t>
            </a:r>
            <a:r>
              <a:rPr lang="zh-CN" altLang="en-US"/>
              <a:t>类型）</a:t>
            </a:r>
            <a:r>
              <a:rPr lang="en-US" altLang="zh-CN"/>
              <a:t> [SDC]</a:t>
            </a:r>
            <a:endParaRPr lang="en-US" altLang="zh-CN"/>
          </a:p>
          <a:p>
            <a:r>
              <a:rPr lang="zh-CN" altLang="en-US"/>
              <a:t>重试</a:t>
            </a:r>
            <a:r>
              <a:rPr lang="en-US" altLang="zh-CN"/>
              <a:t>/</a:t>
            </a:r>
            <a:r>
              <a:rPr lang="zh-CN" altLang="en-US"/>
              <a:t>超时</a:t>
            </a:r>
            <a:r>
              <a:rPr lang="en-US" altLang="zh-CN"/>
              <a:t>/</a:t>
            </a:r>
            <a:r>
              <a:rPr lang="zh-CN" altLang="en-US"/>
              <a:t>中止计数</a:t>
            </a:r>
            <a:r>
              <a:rPr lang="en-US" altLang="zh-CN"/>
              <a:t> [SDC]</a:t>
            </a:r>
            <a:endParaRPr lang="en-US" altLang="zh-CN"/>
          </a:p>
          <a:p>
            <a:r>
              <a:rPr lang="zh-CN" altLang="en-US"/>
              <a:t>数据校验失败</a:t>
            </a:r>
            <a:r>
              <a:rPr lang="en-US" altLang="zh-CN"/>
              <a:t>/CRC </a:t>
            </a:r>
            <a:r>
              <a:rPr lang="zh-CN" altLang="en-US"/>
              <a:t>错误</a:t>
            </a:r>
            <a:r>
              <a:rPr lang="en-US" altLang="zh-CN"/>
              <a:t> [SDC]</a:t>
            </a:r>
            <a:endParaRPr lang="en-US" altLang="zh-CN"/>
          </a:p>
          <a:p>
            <a:r>
              <a:rPr lang="zh-CN" altLang="en-US"/>
              <a:t>能耗与热代理</a:t>
            </a:r>
            <a:endParaRPr lang="zh-CN" altLang="en-US"/>
          </a:p>
          <a:p>
            <a:r>
              <a:rPr lang="zh-CN" altLang="en-US"/>
              <a:t>电流</a:t>
            </a:r>
            <a:r>
              <a:rPr lang="en-US" altLang="zh-CN"/>
              <a:t>/</a:t>
            </a:r>
            <a:r>
              <a:rPr lang="zh-CN" altLang="en-US"/>
              <a:t>功率采样（板载</a:t>
            </a:r>
            <a:r>
              <a:rPr lang="en-US" altLang="zh-CN"/>
              <a:t> INA/PMIC</a:t>
            </a:r>
            <a:r>
              <a:rPr lang="zh-CN" altLang="en-US"/>
              <a:t>）</a:t>
            </a:r>
            <a:r>
              <a:rPr lang="en-US" altLang="zh-CN"/>
              <a:t> [SDC]	</a:t>
            </a:r>
            <a:endParaRPr lang="en-US" altLang="zh-CN"/>
          </a:p>
          <a:p>
            <a:r>
              <a:rPr lang="zh-CN" altLang="en-US"/>
              <a:t>温度与节流事件</a:t>
            </a:r>
            <a:r>
              <a:rPr lang="en-US" altLang="zh-CN"/>
              <a:t> [SDC]</a:t>
            </a:r>
            <a:endParaRPr lang="en-US" altLang="zh-CN"/>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1539240" y="1574165"/>
            <a:ext cx="9105900" cy="4591050"/>
          </a:xfrm>
          <a:prstGeom prst="rect">
            <a:avLst/>
          </a:prstGeom>
        </p:spPr>
      </p:pic>
    </p:spTree>
    <p:custDataLst>
      <p:tags r:id="rId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比算子层级更细粒度的</a:t>
            </a:r>
            <a:r>
              <a:rPr lang="en-US" altLang="zh-CN"/>
              <a:t>Profiler</a:t>
            </a:r>
            <a:r>
              <a:rPr lang="zh-CN" altLang="en-US"/>
              <a:t>功能</a:t>
            </a:r>
            <a:endParaRPr lang="zh-CN" altLang="en-US"/>
          </a:p>
        </p:txBody>
      </p:sp>
      <p:sp>
        <p:nvSpPr>
          <p:cNvPr id="3" name="内容占位符 2"/>
          <p:cNvSpPr>
            <a:spLocks noGrp="1"/>
          </p:cNvSpPr>
          <p:nvPr>
            <p:ph idx="1"/>
            <p:custDataLst>
              <p:tags r:id="rId2"/>
            </p:custDataLst>
          </p:nvPr>
        </p:nvSpPr>
        <p:spPr/>
        <p:txBody>
          <a:bodyPr/>
          <a:p>
            <a:endParaRPr lang="zh-CN" altLang="en-US"/>
          </a:p>
        </p:txBody>
      </p:sp>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ASCEND</a:t>
            </a:r>
            <a:endParaRPr lang="en-US" altLang="zh-CN"/>
          </a:p>
        </p:txBody>
      </p:sp>
      <p:sp>
        <p:nvSpPr>
          <p:cNvPr id="3" name="内容占位符 2"/>
          <p:cNvSpPr>
            <a:spLocks noGrp="1"/>
          </p:cNvSpPr>
          <p:nvPr>
            <p:ph idx="1"/>
            <p:custDataLst>
              <p:tags r:id="rId2"/>
            </p:custDataLst>
          </p:nvPr>
        </p:nvSpPr>
        <p:spPr/>
        <p:txBody>
          <a:bodyPr/>
          <a:p>
            <a:r>
              <a:rPr lang="en-US" altLang="zh-CN"/>
              <a:t>MindSpore Profiler</a:t>
            </a:r>
            <a:endParaRPr lang="en-US" altLang="zh-CN"/>
          </a:p>
          <a:p>
            <a:pPr lvl="1"/>
            <a:r>
              <a:rPr lang="zh-CN" altLang="en-US"/>
              <a:t>时间线</a:t>
            </a:r>
            <a:r>
              <a:rPr lang="en-US" altLang="zh-CN"/>
              <a:t>/</a:t>
            </a:r>
            <a:r>
              <a:rPr lang="zh-CN" altLang="en-US"/>
              <a:t>阶段</a:t>
            </a:r>
            <a:endParaRPr lang="zh-CN" altLang="en-US"/>
          </a:p>
          <a:p>
            <a:pPr lvl="1"/>
            <a:r>
              <a:rPr lang="zh-CN" altLang="en-US"/>
              <a:t>算子耗时</a:t>
            </a:r>
            <a:r>
              <a:rPr lang="en-US" altLang="zh-CN"/>
              <a:t>/Step Trace/</a:t>
            </a:r>
            <a:r>
              <a:rPr lang="zh-CN" altLang="en-US"/>
              <a:t>数据准备耗时</a:t>
            </a:r>
            <a:r>
              <a:rPr lang="en-US" altLang="zh-CN"/>
              <a:t>	</a:t>
            </a:r>
            <a:endParaRPr lang="en-US" altLang="zh-CN"/>
          </a:p>
          <a:p>
            <a:pPr lvl="1"/>
            <a:r>
              <a:rPr lang="en-US" altLang="zh-CN"/>
              <a:t>AI Core </a:t>
            </a:r>
            <a:r>
              <a:rPr lang="zh-CN" altLang="en-US"/>
              <a:t>计数与</a:t>
            </a:r>
            <a:r>
              <a:rPr lang="en-US" altLang="zh-CN"/>
              <a:t> L2 </a:t>
            </a:r>
            <a:r>
              <a:rPr lang="zh-CN" altLang="en-US"/>
              <a:t>缓存</a:t>
            </a:r>
            <a:endParaRPr lang="zh-CN" altLang="en-US"/>
          </a:p>
          <a:p>
            <a:pPr lvl="1"/>
            <a:r>
              <a:rPr lang="zh-CN" altLang="en-US"/>
              <a:t>主机侧</a:t>
            </a:r>
            <a:r>
              <a:rPr lang="en-US" altLang="zh-CN"/>
              <a:t> CPU/</a:t>
            </a:r>
            <a:r>
              <a:rPr lang="zh-CN" altLang="en-US"/>
              <a:t>内存利用率</a:t>
            </a:r>
            <a:r>
              <a:rPr lang="en-US" altLang="zh-CN"/>
              <a:t>	</a:t>
            </a:r>
            <a:endParaRPr lang="en-US" altLang="zh-CN"/>
          </a:p>
        </p:txBody>
      </p:sp>
    </p:spTree>
    <p:custDataLst>
      <p:tags r:id="rId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高通</a:t>
            </a:r>
            <a:r>
              <a:rPr lang="en-US" altLang="zh-CN"/>
              <a:t> Snapdragon HTP</a:t>
            </a:r>
            <a:endParaRPr lang="en-US" altLang="zh-CN"/>
          </a:p>
        </p:txBody>
      </p:sp>
      <p:sp>
        <p:nvSpPr>
          <p:cNvPr id="3" name="内容占位符 2"/>
          <p:cNvSpPr>
            <a:spLocks noGrp="1"/>
          </p:cNvSpPr>
          <p:nvPr>
            <p:ph idx="1"/>
            <p:custDataLst>
              <p:tags r:id="rId2"/>
            </p:custDataLst>
          </p:nvPr>
        </p:nvSpPr>
        <p:spPr/>
        <p:txBody>
          <a:bodyPr/>
          <a:p>
            <a:r>
              <a:rPr lang="en-US" altLang="zh-CN"/>
              <a:t>QNN Profiling</a:t>
            </a:r>
            <a:r>
              <a:rPr lang="zh-CN" altLang="en-US"/>
              <a:t>（</a:t>
            </a:r>
            <a:r>
              <a:rPr lang="en-US" altLang="zh-CN"/>
              <a:t>CLI</a:t>
            </a:r>
            <a:r>
              <a:rPr lang="zh-CN" altLang="en-US"/>
              <a:t>）</a:t>
            </a:r>
            <a:r>
              <a:rPr lang="en-US" altLang="zh-CN"/>
              <a:t>+ qnn-profile-viewer</a:t>
            </a:r>
            <a:endParaRPr lang="en-US" altLang="zh-CN"/>
          </a:p>
          <a:p>
            <a:pPr lvl="1"/>
            <a:r>
              <a:rPr lang="en-US" altLang="zh-CN"/>
              <a:t>Detailed Profiling</a:t>
            </a:r>
            <a:r>
              <a:rPr lang="zh-CN" altLang="en-US"/>
              <a:t>：每算子</a:t>
            </a:r>
            <a:r>
              <a:rPr lang="en-US" altLang="zh-CN"/>
              <a:t> cycle </a:t>
            </a:r>
            <a:r>
              <a:rPr lang="zh-CN" altLang="en-US"/>
              <a:t>级结果（而非仅用时）</a:t>
            </a:r>
            <a:r>
              <a:rPr lang="en-US" altLang="zh-CN"/>
              <a:t>PMU·</a:t>
            </a:r>
            <a:endParaRPr lang="zh-CN" altLang="en-US"/>
          </a:p>
          <a:p>
            <a:pPr lvl="1"/>
            <a:r>
              <a:rPr lang="en-US" altLang="zh-CN"/>
              <a:t>Linting</a:t>
            </a:r>
            <a:r>
              <a:rPr lang="zh-CN" altLang="en-US"/>
              <a:t>（</a:t>
            </a:r>
            <a:r>
              <a:rPr lang="en-US" altLang="zh-CN"/>
              <a:t>HTP </a:t>
            </a:r>
            <a:r>
              <a:rPr lang="zh-CN" altLang="en-US"/>
              <a:t>专属）：主线程与后台执行细节，配合</a:t>
            </a:r>
            <a:r>
              <a:rPr lang="en-US" altLang="zh-CN"/>
              <a:t> Viewer </a:t>
            </a:r>
            <a:r>
              <a:rPr lang="zh-CN" altLang="en-US"/>
              <a:t>查看。</a:t>
            </a:r>
            <a:r>
              <a:rPr lang="en-US" altLang="zh-CN"/>
              <a:t>PMU</a:t>
            </a:r>
            <a:endParaRPr lang="en-US" altLang="zh-CN"/>
          </a:p>
        </p:txBody>
      </p:sp>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NVIDIA Jetson</a:t>
            </a:r>
            <a:r>
              <a:rPr lang="zh-CN" altLang="en-US"/>
              <a:t>（</a:t>
            </a:r>
            <a:r>
              <a:rPr lang="en-US" altLang="zh-CN"/>
              <a:t>Xavier / Orin</a:t>
            </a:r>
            <a:r>
              <a:rPr lang="zh-CN" altLang="en-US"/>
              <a:t>）</a:t>
            </a:r>
            <a:endParaRPr lang="zh-CN" altLang="en-US"/>
          </a:p>
        </p:txBody>
      </p:sp>
      <p:sp>
        <p:nvSpPr>
          <p:cNvPr id="3" name="内容占位符 2"/>
          <p:cNvSpPr>
            <a:spLocks noGrp="1"/>
          </p:cNvSpPr>
          <p:nvPr>
            <p:ph idx="1"/>
            <p:custDataLst>
              <p:tags r:id="rId2"/>
            </p:custDataLst>
          </p:nvPr>
        </p:nvSpPr>
        <p:spPr/>
        <p:txBody>
          <a:bodyPr/>
          <a:p>
            <a:r>
              <a:rPr lang="en-US" altLang="zh-CN"/>
              <a:t>Nsight Systems/Compute</a:t>
            </a:r>
            <a:r>
              <a:rPr lang="zh-CN" altLang="en-US"/>
              <a:t>（</a:t>
            </a:r>
            <a:r>
              <a:rPr lang="en-US" altLang="zh-CN"/>
              <a:t>GPU</a:t>
            </a:r>
            <a:r>
              <a:rPr lang="zh-CN" altLang="en-US"/>
              <a:t>）、</a:t>
            </a:r>
            <a:r>
              <a:rPr lang="en-US" altLang="zh-CN"/>
              <a:t>TensorRT Profiler</a:t>
            </a:r>
            <a:endParaRPr lang="en-US" altLang="zh-CN"/>
          </a:p>
          <a:p>
            <a:pPr lvl="1"/>
            <a:r>
              <a:rPr lang="en-US" altLang="zh-CN"/>
              <a:t>TensorRT </a:t>
            </a:r>
            <a:r>
              <a:rPr lang="zh-CN" altLang="en-US"/>
              <a:t>分层</a:t>
            </a:r>
            <a:r>
              <a:rPr lang="en-US" altLang="zh-CN"/>
              <a:t>/</a:t>
            </a:r>
            <a:r>
              <a:rPr lang="zh-CN" altLang="en-US"/>
              <a:t>算子时间（</a:t>
            </a:r>
            <a:r>
              <a:rPr lang="en-US" altLang="zh-CN"/>
              <a:t>per-layer ms</a:t>
            </a:r>
            <a:r>
              <a:rPr lang="zh-CN" altLang="en-US"/>
              <a:t>）。</a:t>
            </a:r>
            <a:endParaRPr lang="zh-CN" altLang="en-US"/>
          </a:p>
          <a:p>
            <a:pPr lvl="1"/>
            <a:r>
              <a:rPr lang="zh-CN" altLang="en-US"/>
              <a:t>系统</a:t>
            </a:r>
            <a:r>
              <a:rPr lang="en-US" altLang="zh-CN"/>
              <a:t>/CPU/GPU </a:t>
            </a:r>
            <a:r>
              <a:rPr lang="zh-CN" altLang="en-US"/>
              <a:t>时间线、内核活动（</a:t>
            </a:r>
            <a:r>
              <a:rPr lang="en-US" altLang="zh-CN"/>
              <a:t>Nsight Systems</a:t>
            </a:r>
            <a:r>
              <a:rPr lang="zh-CN" altLang="en-US"/>
              <a:t>）</a:t>
            </a:r>
            <a:endParaRPr lang="zh-CN" altLang="en-US"/>
          </a:p>
          <a:p>
            <a:pPr lvl="1"/>
            <a:r>
              <a:rPr lang="en-US" altLang="zh-CN"/>
              <a:t>DLA </a:t>
            </a:r>
            <a:r>
              <a:rPr lang="zh-CN" altLang="en-US"/>
              <a:t>细粒度</a:t>
            </a:r>
            <a:r>
              <a:rPr lang="en-US" altLang="zh-CN"/>
              <a:t> Profiling </a:t>
            </a:r>
            <a:r>
              <a:rPr lang="zh-CN" altLang="en-US"/>
              <a:t>支持有限</a:t>
            </a:r>
            <a:endParaRPr lang="zh-CN" altLang="en-US"/>
          </a:p>
        </p:txBody>
      </p:sp>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Arm Ethos-U55/U65 </a:t>
            </a:r>
            <a:r>
              <a:rPr lang="zh-CN" altLang="en-US"/>
              <a:t>开发板</a:t>
            </a:r>
            <a:endParaRPr lang="zh-CN" altLang="en-US"/>
          </a:p>
        </p:txBody>
      </p:sp>
      <p:sp>
        <p:nvSpPr>
          <p:cNvPr id="3" name="内容占位符 2"/>
          <p:cNvSpPr>
            <a:spLocks noGrp="1"/>
          </p:cNvSpPr>
          <p:nvPr>
            <p:ph idx="1"/>
            <p:custDataLst>
              <p:tags r:id="rId2"/>
            </p:custDataLst>
          </p:nvPr>
        </p:nvSpPr>
        <p:spPr/>
        <p:txBody>
          <a:bodyPr/>
          <a:p>
            <a:r>
              <a:rPr lang="en-US" altLang="zh-CN"/>
              <a:t>Ethos-U PMU + </a:t>
            </a:r>
            <a:r>
              <a:rPr lang="zh-CN" altLang="en-US"/>
              <a:t>供应商</a:t>
            </a:r>
            <a:r>
              <a:rPr lang="en-US" altLang="zh-CN"/>
              <a:t> Delegate </a:t>
            </a:r>
            <a:r>
              <a:rPr lang="zh-CN" altLang="en-US"/>
              <a:t>选项</a:t>
            </a:r>
            <a:endParaRPr lang="zh-CN" altLang="en-US"/>
          </a:p>
          <a:p>
            <a:pPr lvl="1"/>
            <a:r>
              <a:rPr lang="zh-CN" altLang="en-US"/>
              <a:t>周期计数</a:t>
            </a:r>
            <a:r>
              <a:rPr lang="en-US" altLang="zh-CN"/>
              <a:t> + 4 </a:t>
            </a:r>
            <a:r>
              <a:rPr lang="zh-CN" altLang="en-US"/>
              <a:t>路事件计数（</a:t>
            </a:r>
            <a:r>
              <a:rPr lang="en-US" altLang="zh-CN"/>
              <a:t>AXI </a:t>
            </a:r>
            <a:r>
              <a:rPr lang="zh-CN" altLang="en-US"/>
              <a:t>字节</a:t>
            </a:r>
            <a:r>
              <a:rPr lang="en-US" altLang="zh-CN"/>
              <a:t>/</a:t>
            </a:r>
            <a:r>
              <a:rPr lang="zh-CN" altLang="en-US"/>
              <a:t>事件等，</a:t>
            </a:r>
            <a:r>
              <a:rPr lang="en-US" altLang="zh-CN"/>
              <a:t>Ethos-U </a:t>
            </a:r>
            <a:r>
              <a:rPr lang="zh-CN" altLang="en-US"/>
              <a:t>自带</a:t>
            </a:r>
            <a:r>
              <a:rPr lang="en-US" altLang="zh-CN"/>
              <a:t> PMU</a:t>
            </a:r>
            <a:endParaRPr lang="en-US" altLang="zh-CN"/>
          </a:p>
          <a:p>
            <a:pPr lvl="1"/>
            <a:r>
              <a:rPr lang="zh-CN" altLang="en-US"/>
              <a:t>在</a:t>
            </a:r>
            <a:r>
              <a:rPr lang="en-US" altLang="zh-CN"/>
              <a:t> i.MX93 </a:t>
            </a:r>
            <a:r>
              <a:rPr lang="zh-CN" altLang="en-US"/>
              <a:t>上通过</a:t>
            </a:r>
            <a:r>
              <a:rPr lang="en-US" altLang="zh-CN"/>
              <a:t> Ethos-U Delegate </a:t>
            </a:r>
            <a:r>
              <a:rPr lang="zh-CN" altLang="en-US"/>
              <a:t>直接开启</a:t>
            </a:r>
            <a:r>
              <a:rPr lang="en-US" altLang="zh-CN"/>
              <a:t> PMU profiling</a:t>
            </a:r>
            <a:r>
              <a:rPr lang="zh-CN" altLang="en-US"/>
              <a:t>（选项包含启用</a:t>
            </a:r>
            <a:r>
              <a:rPr lang="en-US" altLang="zh-CN"/>
              <a:t> cycle counter </a:t>
            </a:r>
            <a:r>
              <a:rPr lang="zh-CN" altLang="en-US"/>
              <a:t>与</a:t>
            </a:r>
            <a:r>
              <a:rPr lang="en-US" altLang="zh-CN"/>
              <a:t> 4 </a:t>
            </a:r>
            <a:r>
              <a:rPr lang="zh-CN" altLang="en-US"/>
              <a:t>路事件映射）</a:t>
            </a:r>
            <a:endParaRPr lang="zh-CN" altLang="en-US"/>
          </a:p>
        </p:txBody>
      </p:sp>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Rockchip RK3588 / RKNPU</a:t>
            </a:r>
            <a:endParaRPr lang="en-US" altLang="zh-CN"/>
          </a:p>
        </p:txBody>
      </p:sp>
      <p:sp>
        <p:nvSpPr>
          <p:cNvPr id="3" name="内容占位符 2"/>
          <p:cNvSpPr>
            <a:spLocks noGrp="1"/>
          </p:cNvSpPr>
          <p:nvPr>
            <p:ph idx="1"/>
            <p:custDataLst>
              <p:tags r:id="rId2"/>
            </p:custDataLst>
          </p:nvPr>
        </p:nvSpPr>
        <p:spPr/>
        <p:txBody>
          <a:bodyPr/>
          <a:p>
            <a:r>
              <a:rPr lang="en-US" altLang="zh-CN"/>
              <a:t>RKNN-Toolkit2</a:t>
            </a:r>
            <a:endParaRPr lang="en-US" altLang="zh-CN"/>
          </a:p>
          <a:p>
            <a:pPr lvl="1"/>
            <a:r>
              <a:rPr lang="zh-CN" altLang="en-US"/>
              <a:t>按层评估</a:t>
            </a:r>
            <a:r>
              <a:rPr lang="en-US" altLang="zh-CN"/>
              <a:t>/</a:t>
            </a:r>
            <a:r>
              <a:rPr lang="zh-CN" altLang="en-US"/>
              <a:t>耗时、量化与转换评估，主要偏模型级与每层时间</a:t>
            </a:r>
            <a:endParaRPr lang="zh-CN" altLang="en-US"/>
          </a:p>
        </p:txBody>
      </p:sp>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1091565" y="1612265"/>
            <a:ext cx="10001250" cy="4514850"/>
          </a:xfrm>
          <a:prstGeom prst="rect">
            <a:avLst/>
          </a:prstGeom>
        </p:spPr>
      </p:pic>
    </p:spTree>
    <p:custDataLst>
      <p:tags r:id="rId4"/>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2038985" y="1490345"/>
            <a:ext cx="8107045" cy="4759325"/>
          </a:xfrm>
          <a:prstGeom prst="rect">
            <a:avLst/>
          </a:prstGeom>
        </p:spPr>
      </p:pic>
    </p:spTree>
    <p:custDataLst>
      <p:tags r:id="rId4"/>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miscellaneous</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1606550" y="2438400"/>
            <a:ext cx="3771900" cy="990600"/>
          </a:xfrm>
          <a:prstGeom prst="rect">
            <a:avLst/>
          </a:prstGeom>
        </p:spPr>
      </p:pic>
      <p:pic>
        <p:nvPicPr>
          <p:cNvPr id="5" name="图片 4"/>
          <p:cNvPicPr>
            <a:picLocks noChangeAspect="1"/>
          </p:cNvPicPr>
          <p:nvPr/>
        </p:nvPicPr>
        <p:blipFill>
          <a:blip r:embed="rId4"/>
          <a:stretch>
            <a:fillRect/>
          </a:stretch>
        </p:blipFill>
        <p:spPr>
          <a:xfrm>
            <a:off x="4120515" y="3910965"/>
            <a:ext cx="7229475" cy="1295400"/>
          </a:xfrm>
          <a:prstGeom prst="rect">
            <a:avLst/>
          </a:prstGeom>
        </p:spPr>
      </p:pic>
    </p:spTree>
    <p:custDataLst>
      <p:tags r:id="rId5"/>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sz="2220"/>
              <a:t>能不能做一个不是</a:t>
            </a:r>
            <a:r>
              <a:rPr lang="en-US" altLang="zh-CN" sz="2220"/>
              <a:t>Linux</a:t>
            </a:r>
            <a:r>
              <a:rPr lang="zh-CN" altLang="en-US" sz="2220"/>
              <a:t>的，是</a:t>
            </a:r>
            <a:r>
              <a:rPr lang="en-US" altLang="zh-CN" sz="2220"/>
              <a:t>MCU</a:t>
            </a:r>
            <a:r>
              <a:rPr lang="zh-CN" altLang="en-US" sz="2220"/>
              <a:t>（很多都是开源的</a:t>
            </a:r>
            <a:r>
              <a:rPr lang="en-US" altLang="zh-CN" sz="2220"/>
              <a:t>NPU</a:t>
            </a:r>
            <a:r>
              <a:rPr lang="zh-CN" altLang="en-US" sz="2220"/>
              <a:t>代码）的呢？</a:t>
            </a:r>
            <a:endParaRPr lang="zh-CN" altLang="en-US" sz="2220"/>
          </a:p>
        </p:txBody>
      </p:sp>
      <p:pic>
        <p:nvPicPr>
          <p:cNvPr id="4" name="内容占位符 3"/>
          <p:cNvPicPr>
            <a:picLocks noChangeAspect="1"/>
          </p:cNvPicPr>
          <p:nvPr>
            <p:ph idx="1"/>
            <p:custDataLst>
              <p:tags r:id="rId2"/>
            </p:custDataLst>
          </p:nvPr>
        </p:nvPicPr>
        <p:blipFill>
          <a:blip r:embed="rId3"/>
          <a:stretch>
            <a:fillRect/>
          </a:stretch>
        </p:blipFill>
        <p:spPr>
          <a:xfrm>
            <a:off x="1497965" y="1313815"/>
            <a:ext cx="9067800" cy="2076450"/>
          </a:xfrm>
          <a:prstGeom prst="rect">
            <a:avLst/>
          </a:prstGeom>
        </p:spPr>
      </p:pic>
      <p:pic>
        <p:nvPicPr>
          <p:cNvPr id="5" name="图片 4"/>
          <p:cNvPicPr>
            <a:picLocks noChangeAspect="1"/>
          </p:cNvPicPr>
          <p:nvPr/>
        </p:nvPicPr>
        <p:blipFill>
          <a:blip r:embed="rId4"/>
          <a:stretch>
            <a:fillRect/>
          </a:stretch>
        </p:blipFill>
        <p:spPr>
          <a:xfrm>
            <a:off x="0" y="3072130"/>
            <a:ext cx="11780520" cy="3133725"/>
          </a:xfrm>
          <a:prstGeom prst="rect">
            <a:avLst/>
          </a:prstGeom>
        </p:spPr>
      </p:pic>
    </p:spTree>
    <p:custDataLst>
      <p:tags r:id="rId5"/>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design</a:t>
            </a:r>
            <a:endParaRPr lang="en-US" altLang="zh-CN"/>
          </a:p>
        </p:txBody>
      </p:sp>
      <p:sp>
        <p:nvSpPr>
          <p:cNvPr id="3" name="内容占位符 2"/>
          <p:cNvSpPr>
            <a:spLocks noGrp="1"/>
          </p:cNvSpPr>
          <p:nvPr>
            <p:ph idx="1"/>
            <p:custDataLst>
              <p:tags r:id="rId2"/>
            </p:custDataLst>
          </p:nvPr>
        </p:nvSpPr>
        <p:spPr/>
        <p:txBody>
          <a:bodyPr/>
          <a:p>
            <a:r>
              <a:rPr lang="en-US" altLang="zh-CN"/>
              <a:t>LPN</a:t>
            </a:r>
            <a:endParaRPr lang="en-US" altLang="zh-CN"/>
          </a:p>
        </p:txBody>
      </p:sp>
      <p:pic>
        <p:nvPicPr>
          <p:cNvPr id="4" name="图片 3"/>
          <p:cNvPicPr>
            <a:picLocks noChangeAspect="1"/>
          </p:cNvPicPr>
          <p:nvPr/>
        </p:nvPicPr>
        <p:blipFill>
          <a:blip r:embed="rId3"/>
          <a:stretch>
            <a:fillRect/>
          </a:stretch>
        </p:blipFill>
        <p:spPr>
          <a:xfrm>
            <a:off x="2334895" y="0"/>
            <a:ext cx="9857105" cy="6858635"/>
          </a:xfrm>
          <a:prstGeom prst="rect">
            <a:avLst/>
          </a:prstGeom>
        </p:spPr>
      </p:pic>
    </p:spTree>
    <p:custDataLst>
      <p:tags r:id="rId4"/>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miscellaneous</a:t>
            </a:r>
            <a:endParaRPr lang="en-US" altLang="zh-CN"/>
          </a:p>
        </p:txBody>
      </p:sp>
      <p:sp>
        <p:nvSpPr>
          <p:cNvPr id="3" name="内容占位符 2"/>
          <p:cNvSpPr>
            <a:spLocks noGrp="1"/>
          </p:cNvSpPr>
          <p:nvPr>
            <p:ph idx="1"/>
            <p:custDataLst>
              <p:tags r:id="rId2"/>
            </p:custDataLst>
          </p:nvPr>
        </p:nvSpPr>
        <p:spPr/>
        <p:txBody>
          <a:bodyPr/>
          <a:p>
            <a:r>
              <a:rPr lang="en-US" altLang="zh-CN"/>
              <a:t>NPU</a:t>
            </a:r>
            <a:r>
              <a:rPr lang="zh-CN" altLang="en-US"/>
              <a:t>使用的目前最大的问题之一是不同的</a:t>
            </a:r>
            <a:r>
              <a:rPr lang="en-US" altLang="zh-CN"/>
              <a:t>NPU</a:t>
            </a:r>
            <a:r>
              <a:rPr lang="zh-CN" altLang="en-US"/>
              <a:t>厂商差别巨大，不只是硬件上，也是在软件上，整个软件栈差别</a:t>
            </a:r>
            <a:r>
              <a:rPr lang="zh-CN" altLang="en-US"/>
              <a:t>巨大</a:t>
            </a:r>
            <a:endParaRPr lang="zh-CN" altLang="en-US"/>
          </a:p>
          <a:p>
            <a:pPr lvl="1"/>
            <a:r>
              <a:rPr lang="en-US" altLang="zh-CN"/>
              <a:t>Ethos U65 tflite </a:t>
            </a:r>
            <a:r>
              <a:rPr lang="en-US" altLang="zh-CN"/>
              <a:t>delegate</a:t>
            </a:r>
            <a:endParaRPr lang="en-US" altLang="zh-CN"/>
          </a:p>
          <a:p>
            <a:pPr lvl="1"/>
            <a:r>
              <a:rPr lang="en-US" altLang="zh-CN"/>
              <a:t>RK3588 </a:t>
            </a:r>
            <a:r>
              <a:rPr lang="en-US" altLang="zh-CN"/>
              <a:t>toolkit2</a:t>
            </a:r>
            <a:endParaRPr lang="en-US" altLang="zh-CN"/>
          </a:p>
          <a:p>
            <a:pPr lvl="1"/>
            <a:r>
              <a:rPr lang="en-US" altLang="zh-CN"/>
              <a:t>ASCEND310B </a:t>
            </a:r>
            <a:r>
              <a:rPr lang="en-US" altLang="zh-CN"/>
              <a:t>CANN</a:t>
            </a:r>
            <a:endParaRPr lang="en-US" altLang="zh-CN"/>
          </a:p>
          <a:p>
            <a:pPr lvl="1"/>
            <a:r>
              <a:rPr lang="en-US" altLang="zh-CN"/>
              <a:t>Neurtron tflite </a:t>
            </a:r>
            <a:r>
              <a:rPr lang="en-US" altLang="zh-CN"/>
              <a:t>delegate</a:t>
            </a:r>
            <a:endParaRPr lang="en-US" altLang="zh-CN"/>
          </a:p>
          <a:p>
            <a:pPr lvl="0"/>
            <a:r>
              <a:rPr lang="en-US" altLang="zh-CN"/>
              <a:t>NNAPI</a:t>
            </a:r>
            <a:r>
              <a:rPr lang="zh-CN" altLang="en-US"/>
              <a:t>到</a:t>
            </a:r>
            <a:r>
              <a:rPr lang="en-US" altLang="zh-CN"/>
              <a:t>AICore</a:t>
            </a:r>
            <a:r>
              <a:rPr lang="zh-CN" altLang="en-US"/>
              <a:t>。从统一硬件</a:t>
            </a:r>
            <a:r>
              <a:rPr lang="en-US" altLang="zh-CN"/>
              <a:t>API</a:t>
            </a:r>
            <a:r>
              <a:rPr lang="zh-CN" altLang="en-US"/>
              <a:t>到统一服务</a:t>
            </a:r>
            <a:endParaRPr lang="en-US" altLang="zh-CN"/>
          </a:p>
          <a:p>
            <a:pPr lvl="0"/>
            <a:endParaRPr lang="zh-CN" altLang="en-US"/>
          </a:p>
        </p:txBody>
      </p:sp>
    </p:spTree>
    <p:custDataLst>
      <p:tags r:id="rId3"/>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NPU research constrain</a:t>
            </a:r>
            <a:r>
              <a:rPr lang="en-US" altLang="zh-CN"/>
              <a:t>s</a:t>
            </a:r>
            <a:endParaRPr lang="en-US" altLang="zh-CN"/>
          </a:p>
        </p:txBody>
      </p:sp>
      <p:sp>
        <p:nvSpPr>
          <p:cNvPr id="3" name="内容占位符 2"/>
          <p:cNvSpPr>
            <a:spLocks noGrp="1"/>
          </p:cNvSpPr>
          <p:nvPr>
            <p:ph idx="1"/>
            <p:custDataLst>
              <p:tags r:id="rId2"/>
            </p:custDataLst>
          </p:nvPr>
        </p:nvSpPr>
        <p:spPr>
          <a:xfrm>
            <a:off x="598875" y="1490400"/>
            <a:ext cx="10969200" cy="4759200"/>
          </a:xfrm>
        </p:spPr>
        <p:txBody>
          <a:bodyPr/>
          <a:p>
            <a:r>
              <a:rPr lang="zh-CN" altLang="en-US"/>
              <a:t>闭源</a:t>
            </a:r>
            <a:r>
              <a:rPr lang="zh-CN" altLang="en-US"/>
              <a:t>严重</a:t>
            </a:r>
            <a:endParaRPr lang="zh-CN" altLang="en-US"/>
          </a:p>
          <a:p>
            <a:pPr lvl="1"/>
            <a:r>
              <a:rPr lang="zh-CN" altLang="en-US" sz="1600"/>
              <a:t>固件驱动运行时闭源而且不同厂商或者同厂商的不同芯片做不到统一</a:t>
            </a:r>
            <a:endParaRPr lang="zh-CN" altLang="en-US"/>
          </a:p>
          <a:p>
            <a:r>
              <a:rPr lang="zh-CN" altLang="en-US"/>
              <a:t>硬件无</a:t>
            </a:r>
            <a:r>
              <a:rPr lang="en-US" altLang="zh-CN"/>
              <a:t>Programmability</a:t>
            </a:r>
            <a:endParaRPr lang="en-US" altLang="zh-CN"/>
          </a:p>
          <a:p>
            <a:pPr lvl="1"/>
            <a:r>
              <a:rPr lang="en-US" altLang="zh-CN" sz="1600"/>
              <a:t>CUDA</a:t>
            </a:r>
            <a:r>
              <a:rPr lang="zh-CN" altLang="en-US" sz="1600"/>
              <a:t>是</a:t>
            </a:r>
            <a:r>
              <a:rPr lang="en-US" altLang="zh-CN" sz="1600"/>
              <a:t>GPU</a:t>
            </a:r>
            <a:r>
              <a:rPr lang="zh-CN" altLang="en-US" sz="1600"/>
              <a:t>的编程语言能直接对硬件编程，端侧</a:t>
            </a:r>
            <a:r>
              <a:rPr lang="en-US" altLang="zh-CN" sz="1600"/>
              <a:t>NPU</a:t>
            </a:r>
            <a:r>
              <a:rPr lang="zh-CN" altLang="en-US" sz="1600"/>
              <a:t>没有这种语言，都是编译器直接对应硬件</a:t>
            </a:r>
            <a:r>
              <a:rPr lang="en-US" altLang="zh-CN" sz="1600"/>
              <a:t>API</a:t>
            </a:r>
            <a:r>
              <a:rPr lang="zh-CN" altLang="en-US" sz="1600"/>
              <a:t>，整个推理的软件栈比</a:t>
            </a:r>
            <a:r>
              <a:rPr lang="en-US" altLang="zh-CN" sz="1600"/>
              <a:t>GPU</a:t>
            </a:r>
            <a:r>
              <a:rPr lang="zh-CN" altLang="en-US" sz="1600"/>
              <a:t>的简单太多</a:t>
            </a:r>
            <a:endParaRPr lang="zh-CN" altLang="en-US" sz="1600"/>
          </a:p>
          <a:p>
            <a:pPr lvl="2"/>
            <a:r>
              <a:rPr lang="zh-CN" altLang="en-US"/>
              <a:t>编译器生成命令流，运行时来把命令流写入指定位置，运行时无法控制</a:t>
            </a:r>
            <a:r>
              <a:rPr lang="en-US" altLang="zh-CN"/>
              <a:t>NPU</a:t>
            </a:r>
            <a:r>
              <a:rPr lang="zh-CN" altLang="en-US"/>
              <a:t>的</a:t>
            </a:r>
            <a:r>
              <a:rPr lang="zh-CN" altLang="en-US"/>
              <a:t>行为：</a:t>
            </a:r>
            <a:r>
              <a:rPr lang="en-US" altLang="zh-CN"/>
              <a:t>Ethos U</a:t>
            </a:r>
            <a:r>
              <a:rPr lang="zh-CN" altLang="en-US"/>
              <a:t>系列</a:t>
            </a:r>
            <a:r>
              <a:rPr lang="en-US" altLang="zh-CN"/>
              <a:t> / RKNPU/ </a:t>
            </a:r>
            <a:r>
              <a:rPr lang="en-US" altLang="zh-CN" sz="1600"/>
              <a:t>VeriSilicon Vivante NPU</a:t>
            </a:r>
            <a:r>
              <a:rPr lang="zh-CN" altLang="en-US" sz="1600"/>
              <a:t>系列</a:t>
            </a:r>
            <a:r>
              <a:rPr lang="en-US" altLang="zh-CN" sz="1600"/>
              <a:t>/Google Edge TPU/Intel Movidius Myriad X/NVIDIA DLA/Apple ANE</a:t>
            </a:r>
            <a:r>
              <a:rPr lang="zh-CN" altLang="en-US" sz="1600"/>
              <a:t>（</a:t>
            </a:r>
            <a:r>
              <a:rPr lang="en-US" altLang="zh-CN" sz="1600"/>
              <a:t>Neural Engine</a:t>
            </a:r>
            <a:r>
              <a:rPr lang="zh-CN" altLang="en-US" sz="1600"/>
              <a:t>）</a:t>
            </a:r>
            <a:endParaRPr lang="zh-CN" altLang="en-US" sz="1600"/>
          </a:p>
          <a:p>
            <a:pPr lvl="2"/>
            <a:r>
              <a:rPr lang="zh-CN" altLang="en-US"/>
              <a:t>例外：</a:t>
            </a:r>
            <a:r>
              <a:rPr lang="en-US" altLang="zh-CN">
                <a:sym typeface="+mn-ea"/>
              </a:rPr>
              <a:t>ASCEND</a:t>
            </a:r>
            <a:r>
              <a:rPr lang="zh-CN" altLang="en-US">
                <a:sym typeface="+mn-ea"/>
              </a:rPr>
              <a:t>是可以编程的。</a:t>
            </a:r>
            <a:r>
              <a:rPr lang="en-US" altLang="zh-CN">
                <a:sym typeface="+mn-ea"/>
              </a:rPr>
              <a:t>CANN</a:t>
            </a:r>
            <a:r>
              <a:rPr lang="zh-CN" altLang="en-US">
                <a:sym typeface="+mn-ea"/>
              </a:rPr>
              <a:t>对应</a:t>
            </a:r>
            <a:r>
              <a:rPr lang="en-US" altLang="zh-CN">
                <a:sym typeface="+mn-ea"/>
              </a:rPr>
              <a:t>CUDA</a:t>
            </a:r>
            <a:r>
              <a:rPr lang="zh-CN" altLang="en-US">
                <a:sym typeface="+mn-ea"/>
              </a:rPr>
              <a:t>。</a:t>
            </a:r>
            <a:r>
              <a:rPr lang="en-US" altLang="zh-CN">
                <a:sym typeface="+mn-ea"/>
              </a:rPr>
              <a:t>Qualcomm</a:t>
            </a:r>
            <a:r>
              <a:rPr lang="zh-CN" altLang="en-US">
                <a:sym typeface="+mn-ea"/>
              </a:rPr>
              <a:t>的</a:t>
            </a:r>
            <a:r>
              <a:rPr lang="en-US" altLang="zh-CN">
                <a:sym typeface="+mn-ea"/>
              </a:rPr>
              <a:t>QNN</a:t>
            </a:r>
            <a:r>
              <a:rPr lang="zh-CN" altLang="en-US">
                <a:sym typeface="+mn-ea"/>
              </a:rPr>
              <a:t>也有一定程度的可编程能力</a:t>
            </a:r>
            <a:endParaRPr lang="en-US" altLang="zh-CN"/>
          </a:p>
          <a:p>
            <a:pPr lvl="2"/>
            <a:endParaRPr lang="en-US" altLang="zh-CN"/>
          </a:p>
          <a:p>
            <a:endParaRPr lang="zh-CN" altLang="en-US"/>
          </a:p>
        </p:txBody>
      </p:sp>
    </p:spTree>
    <p:custDataLst>
      <p:tags r:id="rId3"/>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端侧</a:t>
            </a:r>
            <a:r>
              <a:rPr lang="en-US" altLang="zh-CN"/>
              <a:t>NPU</a:t>
            </a:r>
            <a:r>
              <a:rPr lang="zh-CN" altLang="en-US"/>
              <a:t>科研论文</a:t>
            </a:r>
            <a:r>
              <a:rPr lang="zh-CN" altLang="en-US"/>
              <a:t>主题</a:t>
            </a:r>
            <a:endParaRPr lang="zh-CN" altLang="en-US"/>
          </a:p>
        </p:txBody>
      </p:sp>
      <p:sp>
        <p:nvSpPr>
          <p:cNvPr id="3" name="内容占位符 2"/>
          <p:cNvSpPr>
            <a:spLocks noGrp="1"/>
          </p:cNvSpPr>
          <p:nvPr>
            <p:ph idx="1"/>
            <p:custDataLst>
              <p:tags r:id="rId2"/>
            </p:custDataLst>
          </p:nvPr>
        </p:nvSpPr>
        <p:spPr/>
        <p:txBody>
          <a:bodyPr>
            <a:normAutofit lnSpcReduction="10000"/>
          </a:bodyPr>
          <a:p>
            <a:r>
              <a:rPr lang="zh-CN" altLang="en-US"/>
              <a:t>粗粒度的</a:t>
            </a:r>
            <a:r>
              <a:rPr lang="en-US" altLang="zh-CN"/>
              <a:t>NPU Profiling</a:t>
            </a:r>
            <a:r>
              <a:rPr lang="zh-CN" altLang="en-US"/>
              <a:t>（</a:t>
            </a:r>
            <a:r>
              <a:rPr lang="en-US" altLang="zh-CN"/>
              <a:t>MobiCom25</a:t>
            </a:r>
            <a:r>
              <a:rPr lang="zh-CN" altLang="en-US"/>
              <a:t>的</a:t>
            </a:r>
            <a:r>
              <a:rPr lang="en-US" altLang="zh-CN"/>
              <a:t>μNPU benchmarking</a:t>
            </a:r>
            <a:r>
              <a:rPr lang="zh-CN" altLang="en-US"/>
              <a:t>或者一些期刊上</a:t>
            </a:r>
            <a:r>
              <a:rPr lang="zh-CN" altLang="en-US"/>
              <a:t>的）</a:t>
            </a:r>
            <a:endParaRPr lang="en-US" altLang="zh-CN"/>
          </a:p>
          <a:p>
            <a:pPr lvl="1"/>
            <a:r>
              <a:rPr lang="zh-CN" altLang="en-US" sz="1600"/>
              <a:t>细粒度的</a:t>
            </a:r>
            <a:r>
              <a:rPr lang="en-US" altLang="zh-CN" sz="1600"/>
              <a:t>Profiling</a:t>
            </a:r>
            <a:r>
              <a:rPr lang="zh-CN" altLang="en-US" sz="1600"/>
              <a:t>基本上是厂商做的</a:t>
            </a:r>
            <a:endParaRPr lang="en-US" altLang="zh-CN"/>
          </a:p>
          <a:p>
            <a:r>
              <a:rPr lang="zh-CN" altLang="en-US"/>
              <a:t>算子或任务调度优化（</a:t>
            </a:r>
            <a:r>
              <a:rPr lang="en-US" altLang="zh-CN"/>
              <a:t>mllm.npu heterollm band ARIA...</a:t>
            </a:r>
            <a:r>
              <a:rPr lang="zh-CN" altLang="en-US"/>
              <a:t>分布在</a:t>
            </a:r>
            <a:r>
              <a:rPr lang="en-US" altLang="zh-CN"/>
              <a:t>mobile HPC ARCH OS</a:t>
            </a:r>
            <a:r>
              <a:rPr lang="zh-CN" altLang="en-US"/>
              <a:t>的会议中），可能是单机可能是多租户，可能是只运行一个推理任务可能同时运行多个推理任务。基本上都是修改或实现上层的推理框架，</a:t>
            </a:r>
            <a:r>
              <a:rPr lang="en-US" altLang="zh-CN"/>
              <a:t>NPU</a:t>
            </a:r>
            <a:r>
              <a:rPr lang="zh-CN" altLang="en-US"/>
              <a:t>还是编译＋使用对应的闭源</a:t>
            </a:r>
            <a:r>
              <a:rPr lang="zh-CN" altLang="en-US"/>
              <a:t>栈</a:t>
            </a:r>
            <a:endParaRPr lang="zh-CN" altLang="en-US"/>
          </a:p>
          <a:p>
            <a:r>
              <a:rPr lang="en-US" altLang="zh-CN"/>
              <a:t>NPU</a:t>
            </a:r>
            <a:r>
              <a:rPr lang="zh-CN" altLang="en-US"/>
              <a:t>推理中的内存优化（本质还是调</a:t>
            </a:r>
            <a:r>
              <a:rPr lang="en-US" altLang="zh-CN"/>
              <a:t>NPU</a:t>
            </a:r>
            <a:r>
              <a:rPr lang="zh-CN" altLang="en-US"/>
              <a:t>的</a:t>
            </a:r>
            <a:r>
              <a:rPr lang="en-US" altLang="zh-CN"/>
              <a:t>API</a:t>
            </a:r>
            <a:r>
              <a:rPr lang="zh-CN" altLang="en-US"/>
              <a:t>）并发多推理任务的</a:t>
            </a:r>
            <a:r>
              <a:rPr lang="zh-CN" altLang="en-US"/>
              <a:t>优化</a:t>
            </a:r>
            <a:endParaRPr lang="zh-CN" altLang="en-US"/>
          </a:p>
          <a:p>
            <a:r>
              <a:rPr lang="zh-CN" altLang="en-US"/>
              <a:t>其它的比如</a:t>
            </a:r>
            <a:r>
              <a:rPr lang="en-US" altLang="zh-CN"/>
              <a:t>DVFS</a:t>
            </a:r>
            <a:r>
              <a:rPr lang="zh-CN" altLang="en-US"/>
              <a:t>优化，本质还是按算子来优化的</a:t>
            </a:r>
            <a:endParaRPr lang="zh-CN" altLang="en-US"/>
          </a:p>
          <a:p>
            <a:r>
              <a:rPr lang="en-US" altLang="zh-CN"/>
              <a:t>NPU</a:t>
            </a:r>
            <a:r>
              <a:rPr lang="zh-CN" altLang="en-US"/>
              <a:t>的</a:t>
            </a:r>
            <a:r>
              <a:rPr lang="zh-CN" altLang="en-US"/>
              <a:t>论文主要是硬件和编译器优化，基本上是针对开源的</a:t>
            </a:r>
            <a:r>
              <a:rPr lang="en-US" altLang="zh-CN"/>
              <a:t>NPU</a:t>
            </a:r>
            <a:r>
              <a:rPr lang="zh-CN" altLang="en-US"/>
              <a:t>（</a:t>
            </a:r>
            <a:r>
              <a:rPr lang="en-US" altLang="zh-CN"/>
              <a:t>NVDLA</a:t>
            </a:r>
            <a:r>
              <a:rPr lang="zh-CN" altLang="en-US"/>
              <a:t>，</a:t>
            </a:r>
            <a:r>
              <a:rPr lang="en-US" altLang="zh-CN"/>
              <a:t>TVM VTA</a:t>
            </a:r>
            <a:r>
              <a:rPr lang="zh-CN" altLang="en-US"/>
              <a:t>）和运行的</a:t>
            </a:r>
            <a:r>
              <a:rPr lang="zh-CN" altLang="en-US"/>
              <a:t>论文时可能关系</a:t>
            </a:r>
            <a:r>
              <a:rPr lang="zh-CN" altLang="en-US"/>
              <a:t>不大</a:t>
            </a:r>
            <a:endParaRPr lang="zh-CN" altLang="en-US"/>
          </a:p>
          <a:p>
            <a:r>
              <a:rPr lang="zh-CN" altLang="en-US"/>
              <a:t>有修改运行时</a:t>
            </a:r>
            <a:r>
              <a:rPr lang="en-US" altLang="zh-CN"/>
              <a:t>/</a:t>
            </a:r>
            <a:r>
              <a:rPr lang="zh-CN" altLang="en-US"/>
              <a:t>固件</a:t>
            </a:r>
            <a:r>
              <a:rPr lang="en-US" altLang="zh-CN"/>
              <a:t>/</a:t>
            </a:r>
            <a:r>
              <a:rPr lang="zh-CN" altLang="en-US"/>
              <a:t>驱动的，</a:t>
            </a:r>
            <a:r>
              <a:rPr lang="en-US" altLang="zh-CN"/>
              <a:t>TEE</a:t>
            </a:r>
            <a:r>
              <a:rPr lang="zh-CN" altLang="en-US"/>
              <a:t>方向的论文，和优化没关系（</a:t>
            </a:r>
            <a:r>
              <a:rPr lang="en-US" altLang="zh-CN"/>
              <a:t>ASCEND-CC</a:t>
            </a:r>
            <a:r>
              <a:rPr lang="zh-CN" altLang="en-US"/>
              <a:t>）</a:t>
            </a:r>
            <a:endParaRPr lang="zh-CN" altLang="en-US"/>
          </a:p>
          <a:p>
            <a:r>
              <a:rPr lang="zh-CN" altLang="en-US"/>
              <a:t>很多都是</a:t>
            </a:r>
            <a:r>
              <a:rPr lang="en-US" altLang="zh-CN"/>
              <a:t>FPGA</a:t>
            </a:r>
            <a:r>
              <a:rPr lang="zh-CN" altLang="en-US"/>
              <a:t>模拟的（基本上是</a:t>
            </a:r>
            <a:r>
              <a:rPr lang="en-US" altLang="zh-CN"/>
              <a:t>TEE</a:t>
            </a:r>
            <a:r>
              <a:rPr lang="zh-CN" altLang="en-US"/>
              <a:t>的</a:t>
            </a:r>
            <a:r>
              <a:rPr lang="en-US" altLang="zh-CN"/>
              <a:t>TNPU</a:t>
            </a:r>
            <a:r>
              <a:rPr lang="zh-CN" altLang="en-US"/>
              <a:t>，</a:t>
            </a:r>
            <a:r>
              <a:rPr lang="en-US" altLang="zh-CN"/>
              <a:t>SNPU</a:t>
            </a:r>
            <a:r>
              <a:rPr lang="zh-CN" altLang="en-US"/>
              <a:t>，</a:t>
            </a:r>
            <a:r>
              <a:rPr lang="en-US" altLang="zh-CN"/>
              <a:t>IPADS</a:t>
            </a:r>
            <a:r>
              <a:rPr lang="zh-CN" altLang="en-US"/>
              <a:t>的</a:t>
            </a:r>
            <a:r>
              <a:rPr lang="zh-CN" altLang="en-US"/>
              <a:t>好几篇）</a:t>
            </a:r>
            <a:endParaRPr lang="zh-CN" altLang="en-US"/>
          </a:p>
        </p:txBody>
      </p:sp>
    </p:spTree>
    <p:custDataLst>
      <p:tags r:id="rId3"/>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能编程的</a:t>
            </a:r>
            <a:r>
              <a:rPr lang="en-US" altLang="zh-CN"/>
              <a:t>NPU/</a:t>
            </a:r>
            <a:r>
              <a:rPr lang="zh-CN" altLang="en-US"/>
              <a:t>工作站加速</a:t>
            </a:r>
            <a:r>
              <a:rPr lang="zh-CN" altLang="en-US"/>
              <a:t>卡</a:t>
            </a:r>
            <a:endParaRPr lang="zh-CN" altLang="en-US"/>
          </a:p>
        </p:txBody>
      </p:sp>
      <p:sp>
        <p:nvSpPr>
          <p:cNvPr id="3" name="内容占位符 2"/>
          <p:cNvSpPr>
            <a:spLocks noGrp="1"/>
          </p:cNvSpPr>
          <p:nvPr>
            <p:ph idx="1"/>
            <p:custDataLst>
              <p:tags r:id="rId2"/>
            </p:custDataLst>
          </p:nvPr>
        </p:nvSpPr>
        <p:spPr/>
        <p:txBody>
          <a:bodyPr/>
          <a:p>
            <a:r>
              <a:rPr lang="en-US" altLang="zh-CN"/>
              <a:t>Intel Habana Gaudi</a:t>
            </a:r>
            <a:r>
              <a:rPr lang="zh-CN" altLang="en-US"/>
              <a:t>（</a:t>
            </a:r>
            <a:r>
              <a:rPr lang="en-US" altLang="zh-CN"/>
              <a:t>SynapseAI / TPC</a:t>
            </a:r>
            <a:r>
              <a:rPr lang="zh-CN" altLang="en-US"/>
              <a:t>）</a:t>
            </a:r>
            <a:endParaRPr lang="zh-CN" altLang="en-US"/>
          </a:p>
          <a:p>
            <a:r>
              <a:rPr lang="en-US" altLang="zh-CN"/>
              <a:t>Tenstorrent</a:t>
            </a:r>
            <a:r>
              <a:rPr lang="zh-CN" altLang="en-US"/>
              <a:t>（</a:t>
            </a:r>
            <a:r>
              <a:rPr lang="en-US" altLang="zh-CN"/>
              <a:t>TT-Metal/TT-Metalium</a:t>
            </a:r>
            <a:r>
              <a:rPr lang="zh-CN" altLang="en-US"/>
              <a:t>）</a:t>
            </a:r>
            <a:endParaRPr lang="zh-CN" altLang="en-US"/>
          </a:p>
          <a:p>
            <a:r>
              <a:rPr lang="en-US" altLang="zh-CN"/>
              <a:t>Graphcore IPU</a:t>
            </a:r>
            <a:r>
              <a:rPr lang="zh-CN" altLang="en-US"/>
              <a:t>（</a:t>
            </a:r>
            <a:r>
              <a:rPr lang="en-US" altLang="zh-CN"/>
              <a:t>Poplar/PopLibs</a:t>
            </a:r>
            <a:r>
              <a:rPr lang="zh-CN" altLang="en-US"/>
              <a:t>）</a:t>
            </a:r>
            <a:endParaRPr lang="zh-CN" altLang="en-US"/>
          </a:p>
          <a:p>
            <a:r>
              <a:rPr lang="en-US" altLang="zh-CN"/>
              <a:t>AMD Xilinx Versal AI Engine</a:t>
            </a:r>
            <a:r>
              <a:rPr lang="zh-CN" altLang="en-US"/>
              <a:t>（</a:t>
            </a:r>
            <a:r>
              <a:rPr lang="en-US" altLang="zh-CN"/>
              <a:t>AIE</a:t>
            </a:r>
            <a:r>
              <a:rPr lang="zh-CN" altLang="en-US"/>
              <a:t>）</a:t>
            </a:r>
            <a:endParaRPr lang="zh-CN" altLang="en-US"/>
          </a:p>
          <a:p>
            <a:r>
              <a:rPr lang="en-US" altLang="zh-CN"/>
              <a:t>Cambricon MLU</a:t>
            </a:r>
            <a:r>
              <a:rPr lang="zh-CN" altLang="en-US"/>
              <a:t>（寒武纪）</a:t>
            </a:r>
            <a:endParaRPr lang="zh-CN" altLang="en-US"/>
          </a:p>
          <a:p>
            <a:r>
              <a:rPr lang="en-US" altLang="zh-CN"/>
              <a:t>CEVA NeuPro-M / NeuPro-S</a:t>
            </a:r>
            <a:r>
              <a:rPr lang="zh-CN" altLang="en-US"/>
              <a:t>（</a:t>
            </a:r>
            <a:r>
              <a:rPr lang="en-US" altLang="zh-CN"/>
              <a:t>NPU IP</a:t>
            </a:r>
            <a:r>
              <a:rPr lang="zh-CN" altLang="en-US"/>
              <a:t>）</a:t>
            </a:r>
            <a:endParaRPr lang="zh-CN" altLang="en-US"/>
          </a:p>
        </p:txBody>
      </p:sp>
    </p:spTree>
    <p:custDataLst>
      <p:tags r:id="rId3"/>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寒武纪</a:t>
            </a:r>
            <a:r>
              <a:rPr lang="en-US" altLang="zh-CN"/>
              <a:t>MLU</a:t>
            </a:r>
            <a:endParaRPr lang="en-US" altLang="zh-CN"/>
          </a:p>
        </p:txBody>
      </p:sp>
      <p:sp>
        <p:nvSpPr>
          <p:cNvPr id="3" name="内容占位符 2"/>
          <p:cNvSpPr>
            <a:spLocks noGrp="1"/>
          </p:cNvSpPr>
          <p:nvPr>
            <p:ph idx="1"/>
            <p:custDataLst>
              <p:tags r:id="rId2"/>
            </p:custDataLst>
          </p:nvPr>
        </p:nvSpPr>
        <p:spPr/>
        <p:txBody>
          <a:bodyPr/>
          <a:p>
            <a:r>
              <a:rPr lang="zh-CN" altLang="en-US"/>
              <a:t>可编程，和</a:t>
            </a:r>
            <a:r>
              <a:rPr lang="en-US" altLang="zh-CN"/>
              <a:t>ASCEND</a:t>
            </a:r>
            <a:r>
              <a:rPr lang="zh-CN" altLang="en-US"/>
              <a:t>一样都是算子内核级（</a:t>
            </a:r>
            <a:r>
              <a:rPr lang="en-US" altLang="zh-CN"/>
              <a:t>GPU/CUDA</a:t>
            </a:r>
            <a:r>
              <a:rPr lang="zh-CN" altLang="en-US"/>
              <a:t>可以做到</a:t>
            </a:r>
            <a:r>
              <a:rPr lang="en-US" altLang="zh-CN"/>
              <a:t>ISA</a:t>
            </a:r>
            <a:r>
              <a:rPr lang="zh-CN" altLang="en-US"/>
              <a:t>级的编程），</a:t>
            </a:r>
            <a:r>
              <a:rPr lang="en-US" altLang="zh-CN"/>
              <a:t>Qualcomm</a:t>
            </a:r>
            <a:r>
              <a:rPr lang="zh-CN" altLang="en-US"/>
              <a:t>的</a:t>
            </a:r>
            <a:r>
              <a:rPr lang="en-US" altLang="zh-CN"/>
              <a:t>HTP</a:t>
            </a:r>
            <a:r>
              <a:rPr lang="zh-CN" altLang="en-US"/>
              <a:t>是图＋算子</a:t>
            </a:r>
            <a:r>
              <a:rPr lang="zh-CN" altLang="en-US"/>
              <a:t>级</a:t>
            </a:r>
            <a:endParaRPr lang="zh-CN" altLang="en-US"/>
          </a:p>
          <a:p>
            <a:r>
              <a:rPr lang="zh-CN" altLang="en-US"/>
              <a:t>固件和运行时</a:t>
            </a:r>
            <a:r>
              <a:rPr lang="zh-CN" altLang="en-US"/>
              <a:t>编译器闭源，以二进制包</a:t>
            </a:r>
            <a:r>
              <a:rPr lang="zh-CN" altLang="en-US"/>
              <a:t>发布</a:t>
            </a:r>
            <a:endParaRPr lang="zh-CN" altLang="en-US"/>
          </a:p>
        </p:txBody>
      </p:sp>
    </p:spTree>
    <p:custDataLst>
      <p:tags r:id="rId3"/>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AMD Xilinx Versal AI Engine</a:t>
            </a:r>
            <a:r>
              <a:rPr lang="zh-CN" altLang="en-US"/>
              <a:t>（</a:t>
            </a:r>
            <a:r>
              <a:rPr lang="en-US" altLang="zh-CN"/>
              <a:t>AIE</a:t>
            </a:r>
            <a:r>
              <a:rPr lang="zh-CN" altLang="en-US"/>
              <a:t>）</a:t>
            </a:r>
            <a:endParaRPr lang="zh-CN" altLang="en-US"/>
          </a:p>
        </p:txBody>
      </p:sp>
      <p:sp>
        <p:nvSpPr>
          <p:cNvPr id="3" name="内容占位符 2"/>
          <p:cNvSpPr>
            <a:spLocks noGrp="1"/>
          </p:cNvSpPr>
          <p:nvPr>
            <p:ph idx="1"/>
            <p:custDataLst>
              <p:tags r:id="rId2"/>
            </p:custDataLst>
          </p:nvPr>
        </p:nvSpPr>
        <p:spPr/>
        <p:txBody>
          <a:bodyPr/>
          <a:p>
            <a:r>
              <a:rPr lang="zh-CN" altLang="en-US"/>
              <a:t>驱动和固件</a:t>
            </a:r>
            <a:r>
              <a:rPr lang="zh-CN" altLang="en-US"/>
              <a:t>开源</a:t>
            </a:r>
            <a:endParaRPr lang="zh-CN" altLang="en-US"/>
          </a:p>
          <a:p>
            <a:r>
              <a:rPr lang="zh-CN" altLang="en-US"/>
              <a:t>但官方的定义是可编程向量处理器阵列不是</a:t>
            </a:r>
            <a:r>
              <a:rPr lang="en-US" altLang="zh-CN"/>
              <a:t>NPU</a:t>
            </a:r>
            <a:endParaRPr lang="en-US" altLang="zh-CN"/>
          </a:p>
        </p:txBody>
      </p:sp>
    </p:spTree>
    <p:custDataLst>
      <p:tags r:id="rId3"/>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ASCEND</a:t>
            </a:r>
            <a:r>
              <a:rPr lang="zh-CN" altLang="en-US"/>
              <a:t>是可以编程</a:t>
            </a:r>
            <a:r>
              <a:rPr lang="zh-CN" altLang="en-US"/>
              <a:t>的</a:t>
            </a:r>
            <a:endParaRPr lang="zh-CN" altLang="en-US"/>
          </a:p>
        </p:txBody>
      </p:sp>
      <p:sp>
        <p:nvSpPr>
          <p:cNvPr id="3" name="内容占位符 2"/>
          <p:cNvSpPr>
            <a:spLocks noGrp="1"/>
          </p:cNvSpPr>
          <p:nvPr>
            <p:ph idx="1"/>
            <p:custDataLst>
              <p:tags r:id="rId2"/>
            </p:custDataLst>
          </p:nvPr>
        </p:nvSpPr>
        <p:spPr/>
        <p:txBody>
          <a:bodyPr/>
          <a:p>
            <a:r>
              <a:rPr lang="en-US" altLang="zh-CN"/>
              <a:t>CANN</a:t>
            </a:r>
            <a:r>
              <a:rPr lang="zh-CN" altLang="en-US"/>
              <a:t>对应</a:t>
            </a:r>
            <a:r>
              <a:rPr lang="en-US" altLang="zh-CN"/>
              <a:t>CUDA</a:t>
            </a:r>
            <a:endParaRPr lang="en-US" altLang="zh-CN"/>
          </a:p>
        </p:txBody>
      </p:sp>
    </p:spTree>
    <p:custDataLst>
      <p:tags r:id="rId3"/>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NPU </a:t>
            </a:r>
            <a:r>
              <a:rPr lang="en-US" altLang="zh-CN"/>
              <a:t>Programmability</a:t>
            </a:r>
            <a:endParaRPr lang="en-US" altLang="zh-CN"/>
          </a:p>
        </p:txBody>
      </p:sp>
      <p:sp>
        <p:nvSpPr>
          <p:cNvPr id="3" name="内容占位符 2"/>
          <p:cNvSpPr>
            <a:spLocks noGrp="1"/>
          </p:cNvSpPr>
          <p:nvPr>
            <p:ph idx="1"/>
            <p:custDataLst>
              <p:tags r:id="rId2"/>
            </p:custDataLst>
          </p:nvPr>
        </p:nvSpPr>
        <p:spPr/>
        <p:txBody>
          <a:bodyPr/>
          <a:p>
            <a:pPr marL="0" lvl="2"/>
            <a:r>
              <a:rPr lang="en-US" altLang="zh-CN"/>
              <a:t>No Programmability:</a:t>
            </a:r>
            <a:r>
              <a:rPr lang="en-US" altLang="zh-CN" sz="1800">
                <a:sym typeface="+mn-ea"/>
              </a:rPr>
              <a:t>Ethos U</a:t>
            </a:r>
            <a:r>
              <a:rPr lang="zh-CN" altLang="en-US" sz="1800">
                <a:sym typeface="+mn-ea"/>
              </a:rPr>
              <a:t>系列</a:t>
            </a:r>
            <a:r>
              <a:rPr lang="en-US" altLang="zh-CN" sz="1800">
                <a:sym typeface="+mn-ea"/>
              </a:rPr>
              <a:t> / RKNPU/ VeriSilicon Vivante NPU</a:t>
            </a:r>
            <a:r>
              <a:rPr lang="zh-CN" altLang="en-US" sz="1800">
                <a:sym typeface="+mn-ea"/>
              </a:rPr>
              <a:t>系列</a:t>
            </a:r>
            <a:r>
              <a:rPr lang="en-US" altLang="zh-CN" sz="1800">
                <a:sym typeface="+mn-ea"/>
              </a:rPr>
              <a:t>/Intel Movidius Myriad X/NVIDIA DLA/Apple ANE</a:t>
            </a:r>
            <a:r>
              <a:rPr lang="zh-CN" altLang="en-US" sz="1800">
                <a:sym typeface="+mn-ea"/>
              </a:rPr>
              <a:t>（</a:t>
            </a:r>
            <a:r>
              <a:rPr lang="en-US" altLang="zh-CN" sz="1800">
                <a:sym typeface="+mn-ea"/>
              </a:rPr>
              <a:t>Neural Engine</a:t>
            </a:r>
            <a:r>
              <a:rPr lang="zh-CN" altLang="en-US" sz="1800">
                <a:sym typeface="+mn-ea"/>
              </a:rPr>
              <a:t>）</a:t>
            </a:r>
            <a:endParaRPr lang="zh-CN" altLang="en-US" sz="1800">
              <a:sym typeface="+mn-ea"/>
            </a:endParaRPr>
          </a:p>
          <a:p>
            <a:pPr marL="457200" lvl="3"/>
            <a:r>
              <a:rPr lang="zh-CN" altLang="en-US" sz="1575">
                <a:sym typeface="+mn-ea"/>
              </a:rPr>
              <a:t>编译器生成命令流，运行时来把命令流写入指定位置，运行时无法控制</a:t>
            </a:r>
            <a:r>
              <a:rPr lang="en-US" altLang="zh-CN" sz="1575">
                <a:sym typeface="+mn-ea"/>
              </a:rPr>
              <a:t>NPU</a:t>
            </a:r>
            <a:r>
              <a:rPr lang="zh-CN" altLang="en-US" sz="1575">
                <a:sym typeface="+mn-ea"/>
              </a:rPr>
              <a:t>的行为</a:t>
            </a:r>
            <a:endParaRPr lang="zh-CN" altLang="en-US" sz="1575">
              <a:sym typeface="+mn-ea"/>
            </a:endParaRPr>
          </a:p>
          <a:p>
            <a:pPr marL="0" lvl="2"/>
            <a:r>
              <a:rPr lang="en-US" altLang="zh-CN" sz="1800">
                <a:sym typeface="+mn-ea"/>
              </a:rPr>
              <a:t>Operator level</a:t>
            </a:r>
            <a:r>
              <a:rPr lang="zh-CN" altLang="en-US" sz="1800">
                <a:sym typeface="+mn-ea"/>
              </a:rPr>
              <a:t>：可以实现新的算子（好像是把</a:t>
            </a:r>
            <a:r>
              <a:rPr lang="en-US" altLang="zh-CN" sz="1800">
                <a:sym typeface="+mn-ea"/>
              </a:rPr>
              <a:t>HTP</a:t>
            </a:r>
            <a:r>
              <a:rPr lang="zh-CN" altLang="en-US" sz="1800">
                <a:sym typeface="+mn-ea"/>
              </a:rPr>
              <a:t>支持的计算拼起来？）</a:t>
            </a:r>
            <a:endParaRPr lang="en-US" altLang="zh-CN" sz="1800">
              <a:sym typeface="+mn-ea"/>
            </a:endParaRPr>
          </a:p>
          <a:p>
            <a:pPr marL="457200" lvl="3"/>
            <a:r>
              <a:rPr lang="en-US" altLang="zh-CN" sz="1575">
                <a:sym typeface="+mn-ea"/>
              </a:rPr>
              <a:t>Qualcomm HTP(QNN)</a:t>
            </a:r>
            <a:endParaRPr lang="en-US" altLang="zh-CN" sz="1575">
              <a:sym typeface="+mn-ea"/>
            </a:endParaRPr>
          </a:p>
          <a:p>
            <a:pPr marL="457200" lvl="3"/>
            <a:r>
              <a:rPr lang="en-US" altLang="zh-CN" sz="1575">
                <a:sym typeface="+mn-ea"/>
              </a:rPr>
              <a:t>mllm.npu</a:t>
            </a:r>
            <a:r>
              <a:rPr lang="zh-CN" altLang="en-US" sz="1575">
                <a:sym typeface="+mn-ea"/>
              </a:rPr>
              <a:t>进行了算子级的编程，</a:t>
            </a:r>
            <a:r>
              <a:rPr lang="en-US" altLang="zh-CN" sz="1575">
                <a:sym typeface="+mn-ea"/>
              </a:rPr>
              <a:t>heteroLLM</a:t>
            </a:r>
            <a:r>
              <a:rPr lang="zh-CN" altLang="en-US" sz="1575">
                <a:sym typeface="+mn-ea"/>
              </a:rPr>
              <a:t>没有</a:t>
            </a:r>
            <a:endParaRPr lang="en-US" altLang="zh-CN" sz="1575">
              <a:sym typeface="+mn-ea"/>
            </a:endParaRPr>
          </a:p>
          <a:p>
            <a:pPr marL="0" lvl="2"/>
            <a:r>
              <a:rPr lang="en-US" altLang="zh-CN" sz="1800">
                <a:sym typeface="+mn-ea"/>
              </a:rPr>
              <a:t>Kernel level</a:t>
            </a:r>
            <a:r>
              <a:rPr lang="zh-CN" altLang="en-US" sz="1800">
                <a:sym typeface="+mn-ea"/>
              </a:rPr>
              <a:t>：可以显示管理</a:t>
            </a:r>
            <a:r>
              <a:rPr lang="en-US" altLang="zh-CN" sz="1800">
                <a:sym typeface="+mn-ea"/>
              </a:rPr>
              <a:t>DMA</a:t>
            </a:r>
            <a:r>
              <a:rPr lang="zh-CN" altLang="en-US" sz="1800">
                <a:sym typeface="+mn-ea"/>
              </a:rPr>
              <a:t>，</a:t>
            </a:r>
            <a:r>
              <a:rPr lang="en-US" altLang="zh-CN" sz="1800">
                <a:sym typeface="+mn-ea"/>
              </a:rPr>
              <a:t>tile</a:t>
            </a:r>
            <a:r>
              <a:rPr lang="zh-CN" altLang="en-US" sz="1800">
                <a:sym typeface="+mn-ea"/>
              </a:rPr>
              <a:t>，内存搬运，</a:t>
            </a:r>
            <a:r>
              <a:rPr lang="zh-CN" altLang="en-US" sz="1800">
                <a:sym typeface="+mn-ea"/>
              </a:rPr>
              <a:t>调度</a:t>
            </a:r>
            <a:endParaRPr lang="zh-CN" altLang="en-US" sz="1800">
              <a:sym typeface="+mn-ea"/>
            </a:endParaRPr>
          </a:p>
          <a:p>
            <a:pPr marL="457200" lvl="3"/>
            <a:r>
              <a:rPr lang="en-US" altLang="zh-CN" sz="1575">
                <a:sym typeface="+mn-ea"/>
              </a:rPr>
              <a:t>MLU</a:t>
            </a:r>
            <a:r>
              <a:rPr lang="zh-CN" altLang="en-US" sz="1575">
                <a:sym typeface="+mn-ea"/>
              </a:rPr>
              <a:t>，</a:t>
            </a:r>
            <a:r>
              <a:rPr lang="en-US" altLang="zh-CN" sz="1575">
                <a:sym typeface="+mn-ea"/>
              </a:rPr>
              <a:t>ASCEND</a:t>
            </a:r>
            <a:r>
              <a:rPr lang="zh-CN" altLang="en-US" sz="1575">
                <a:sym typeface="+mn-ea"/>
              </a:rPr>
              <a:t>，</a:t>
            </a:r>
            <a:r>
              <a:rPr lang="en-US" altLang="zh-CN" sz="1575">
                <a:sym typeface="+mn-ea"/>
              </a:rPr>
              <a:t> </a:t>
            </a:r>
            <a:r>
              <a:rPr lang="en-US" altLang="zh-CN" sz="1575">
                <a:sym typeface="+mn-ea"/>
              </a:rPr>
              <a:t>Google Edge TPU/</a:t>
            </a:r>
            <a:endParaRPr lang="zh-CN" altLang="en-US" sz="1575">
              <a:sym typeface="+mn-ea"/>
            </a:endParaRPr>
          </a:p>
          <a:p>
            <a:pPr marL="0" lvl="2"/>
            <a:r>
              <a:rPr lang="en-US" altLang="zh-CN" sz="1800">
                <a:sym typeface="+mn-ea"/>
              </a:rPr>
              <a:t>ISA level</a:t>
            </a:r>
            <a:endParaRPr lang="en-US" altLang="zh-CN" sz="1800">
              <a:sym typeface="+mn-ea"/>
            </a:endParaRPr>
          </a:p>
          <a:p>
            <a:pPr marL="0" lvl="2"/>
            <a:r>
              <a:rPr lang="zh-CN" altLang="en-US" sz="1800">
                <a:sym typeface="+mn-ea"/>
              </a:rPr>
              <a:t>顶会能看到的</a:t>
            </a:r>
            <a:r>
              <a:rPr lang="en-US" altLang="zh-CN" sz="1800">
                <a:sym typeface="+mn-ea"/>
              </a:rPr>
              <a:t>NPU</a:t>
            </a:r>
            <a:r>
              <a:rPr lang="zh-CN" altLang="en-US" sz="1800">
                <a:sym typeface="+mn-ea"/>
              </a:rPr>
              <a:t>基本上是第一类和第二类（一篇</a:t>
            </a:r>
            <a:r>
              <a:rPr lang="en-US" altLang="zh-CN" sz="1800">
                <a:sym typeface="+mn-ea"/>
              </a:rPr>
              <a:t>MLU</a:t>
            </a:r>
            <a:r>
              <a:rPr lang="zh-CN" altLang="en-US" sz="1800">
                <a:sym typeface="+mn-ea"/>
              </a:rPr>
              <a:t>（</a:t>
            </a:r>
            <a:r>
              <a:rPr lang="en-US" altLang="zh-CN" sz="1800">
                <a:sym typeface="+mn-ea"/>
              </a:rPr>
              <a:t>OSDI25</a:t>
            </a:r>
            <a:r>
              <a:rPr lang="zh-CN" altLang="en-US" sz="1800">
                <a:sym typeface="+mn-ea"/>
              </a:rPr>
              <a:t>）一篇</a:t>
            </a:r>
            <a:r>
              <a:rPr lang="en-US" altLang="zh-CN" sz="1800">
                <a:sym typeface="+mn-ea"/>
              </a:rPr>
              <a:t>ASCEND</a:t>
            </a:r>
            <a:r>
              <a:rPr lang="zh-CN" altLang="en-US" sz="1800">
                <a:sym typeface="+mn-ea"/>
              </a:rPr>
              <a:t>（</a:t>
            </a:r>
            <a:r>
              <a:rPr lang="en-US" altLang="zh-CN" sz="1800">
                <a:sym typeface="+mn-ea"/>
              </a:rPr>
              <a:t>ATC25</a:t>
            </a:r>
            <a:r>
              <a:rPr lang="zh-CN" altLang="en-US" sz="1800">
                <a:sym typeface="+mn-ea"/>
              </a:rPr>
              <a:t>）），剩下的</a:t>
            </a:r>
            <a:r>
              <a:rPr lang="en-US" altLang="zh-CN" sz="1800">
                <a:sym typeface="+mn-ea"/>
              </a:rPr>
              <a:t>Kernel level</a:t>
            </a:r>
            <a:r>
              <a:rPr lang="zh-CN" altLang="en-US" sz="1800">
                <a:sym typeface="+mn-ea"/>
              </a:rPr>
              <a:t>（</a:t>
            </a:r>
            <a:r>
              <a:rPr lang="en-US" altLang="zh-CN" sz="1800">
                <a:sym typeface="+mn-ea"/>
              </a:rPr>
              <a:t>PLDI21</a:t>
            </a:r>
            <a:r>
              <a:rPr lang="zh-CN" altLang="en-US" sz="1800">
                <a:sym typeface="+mn-ea"/>
              </a:rPr>
              <a:t>，</a:t>
            </a:r>
            <a:r>
              <a:rPr lang="en-US" altLang="zh-CN" sz="1800">
                <a:sym typeface="+mn-ea"/>
              </a:rPr>
              <a:t>MLSYS19</a:t>
            </a:r>
            <a:r>
              <a:rPr lang="zh-CN" altLang="en-US" sz="1800">
                <a:sym typeface="+mn-ea"/>
              </a:rPr>
              <a:t>）和</a:t>
            </a:r>
            <a:r>
              <a:rPr lang="en-US" altLang="zh-CN" sz="1800">
                <a:sym typeface="+mn-ea"/>
              </a:rPr>
              <a:t>ISA level</a:t>
            </a:r>
            <a:r>
              <a:rPr lang="zh-CN" altLang="en-US" sz="1800">
                <a:sym typeface="+mn-ea"/>
              </a:rPr>
              <a:t>的基本上全是</a:t>
            </a:r>
            <a:r>
              <a:rPr lang="en-US" altLang="zh-CN" sz="1800">
                <a:sym typeface="+mn-ea"/>
              </a:rPr>
              <a:t>Arxiv/FPGA/</a:t>
            </a:r>
            <a:r>
              <a:rPr lang="zh-CN" altLang="en-US" sz="1800">
                <a:sym typeface="+mn-ea"/>
              </a:rPr>
              <a:t>白皮书</a:t>
            </a:r>
            <a:r>
              <a:rPr lang="zh-CN" altLang="en-US" sz="1800">
                <a:sym typeface="+mn-ea"/>
              </a:rPr>
              <a:t>啥的</a:t>
            </a:r>
            <a:endParaRPr lang="zh-CN" altLang="en-US" sz="1800">
              <a:sym typeface="+mn-ea"/>
            </a:endParaRPr>
          </a:p>
          <a:p>
            <a:pPr marL="0" lvl="2"/>
            <a:endParaRPr lang="zh-CN" altLang="en-US" sz="1800"/>
          </a:p>
          <a:p>
            <a:endParaRPr lang="en-US" altLang="zh-CN"/>
          </a:p>
          <a:p>
            <a:pPr lvl="1"/>
            <a:endParaRPr lang="zh-CN" altLang="en-US"/>
          </a:p>
        </p:txBody>
      </p:sp>
    </p:spTree>
    <p:custDataLst>
      <p:tags r:id="rId3"/>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无法通过修改驱动和固件实现</a:t>
            </a:r>
            <a:r>
              <a:rPr lang="en-US" altLang="zh-CN"/>
              <a:t>PMU</a:t>
            </a:r>
            <a:r>
              <a:rPr lang="zh-CN" altLang="en-US"/>
              <a:t>对应的</a:t>
            </a:r>
            <a:r>
              <a:rPr lang="zh-CN" altLang="en-US"/>
              <a:t>能力</a:t>
            </a:r>
            <a:endParaRPr lang="zh-CN" altLang="en-US"/>
          </a:p>
        </p:txBody>
      </p:sp>
      <p:sp>
        <p:nvSpPr>
          <p:cNvPr id="3" name="内容占位符 2"/>
          <p:cNvSpPr>
            <a:spLocks noGrp="1"/>
          </p:cNvSpPr>
          <p:nvPr>
            <p:ph idx="1"/>
            <p:custDataLst>
              <p:tags r:id="rId2"/>
            </p:custDataLst>
          </p:nvPr>
        </p:nvSpPr>
        <p:spPr/>
        <p:txBody>
          <a:bodyPr/>
          <a:p>
            <a:r>
              <a:rPr lang="zh-CN" altLang="en-US"/>
              <a:t>能测</a:t>
            </a:r>
            <a:r>
              <a:rPr lang="zh-CN" altLang="en-US"/>
              <a:t>的</a:t>
            </a:r>
            <a:endParaRPr lang="zh-CN" altLang="en-US"/>
          </a:p>
          <a:p>
            <a:pPr lvl="1"/>
            <a:r>
              <a:rPr lang="zh-CN" altLang="en-US" sz="1600"/>
              <a:t>每次提交的时间起止时间和长度</a:t>
            </a:r>
            <a:endParaRPr lang="zh-CN" altLang="en-US" sz="1600"/>
          </a:p>
          <a:p>
            <a:pPr lvl="1"/>
            <a:r>
              <a:rPr lang="zh-CN" altLang="en-US" sz="1600"/>
              <a:t>理论的</a:t>
            </a:r>
            <a:r>
              <a:rPr lang="en-US" altLang="zh-CN" sz="1600"/>
              <a:t>MAC</a:t>
            </a:r>
            <a:r>
              <a:rPr lang="zh-CN" altLang="en-US" sz="1600"/>
              <a:t>数可以从</a:t>
            </a:r>
            <a:r>
              <a:rPr lang="en-US" altLang="zh-CN" sz="1600"/>
              <a:t>Vela</a:t>
            </a:r>
            <a:r>
              <a:rPr lang="zh-CN" altLang="en-US" sz="1600"/>
              <a:t>的报告中拿到，这个不会改变</a:t>
            </a:r>
            <a:endParaRPr lang="zh-CN" altLang="en-US" sz="1600"/>
          </a:p>
          <a:p>
            <a:pPr lvl="1"/>
            <a:r>
              <a:rPr lang="zh-CN" altLang="en-US" sz="1600"/>
              <a:t>搬运的字节数也可以从</a:t>
            </a:r>
            <a:r>
              <a:rPr lang="en-US" altLang="zh-CN" sz="1600"/>
              <a:t>Vela</a:t>
            </a:r>
            <a:r>
              <a:rPr lang="zh-CN" altLang="en-US" sz="1600"/>
              <a:t>的报告中拿到，这个也不会改变</a:t>
            </a:r>
            <a:endParaRPr lang="zh-CN" altLang="en-US" sz="1600"/>
          </a:p>
          <a:p>
            <a:pPr lvl="1"/>
            <a:r>
              <a:rPr lang="zh-CN" altLang="en-US" sz="1600"/>
              <a:t>用</a:t>
            </a:r>
            <a:r>
              <a:rPr lang="en-US" altLang="zh-CN"/>
              <a:t>uncore PMU/PerfMon</a:t>
            </a:r>
            <a:r>
              <a:rPr lang="zh-CN" altLang="en-US"/>
              <a:t>来测</a:t>
            </a:r>
            <a:r>
              <a:rPr lang="en-US" altLang="zh-CN"/>
              <a:t>NPU</a:t>
            </a:r>
            <a:r>
              <a:rPr lang="zh-CN" altLang="en-US"/>
              <a:t>的带宽，近似</a:t>
            </a:r>
            <a:r>
              <a:rPr lang="en-US" altLang="zh-CN"/>
              <a:t>NPU</a:t>
            </a:r>
            <a:r>
              <a:rPr lang="zh-CN" altLang="en-US"/>
              <a:t>的内存流量</a:t>
            </a:r>
            <a:endParaRPr lang="en-US" altLang="zh-CN"/>
          </a:p>
          <a:p>
            <a:r>
              <a:rPr lang="zh-CN" altLang="en-US"/>
              <a:t>不能测</a:t>
            </a:r>
            <a:r>
              <a:rPr lang="zh-CN" altLang="en-US"/>
              <a:t>的</a:t>
            </a:r>
            <a:endParaRPr lang="zh-CN" altLang="en-US"/>
          </a:p>
          <a:p>
            <a:pPr lvl="1"/>
            <a:r>
              <a:rPr lang="en-US" altLang="zh-CN"/>
              <a:t>NPU</a:t>
            </a:r>
            <a:r>
              <a:rPr lang="zh-CN" altLang="en-US"/>
              <a:t>内部的</a:t>
            </a:r>
            <a:r>
              <a:rPr lang="en-US" altLang="zh-CN"/>
              <a:t>SRAM</a:t>
            </a:r>
            <a:r>
              <a:rPr lang="zh-CN" altLang="en-US"/>
              <a:t>相关的</a:t>
            </a:r>
            <a:r>
              <a:rPr lang="en-US" altLang="zh-CN"/>
              <a:t>cache miss/stall</a:t>
            </a:r>
            <a:r>
              <a:rPr lang="zh-CN" altLang="en-US"/>
              <a:t>之类的</a:t>
            </a:r>
            <a:endParaRPr lang="zh-CN" altLang="en-US"/>
          </a:p>
          <a:p>
            <a:pPr lvl="1"/>
            <a:r>
              <a:rPr lang="en-US" altLang="zh-CN"/>
              <a:t>NPU</a:t>
            </a:r>
            <a:r>
              <a:rPr lang="zh-CN" altLang="en-US"/>
              <a:t>的周期，只能系统侧</a:t>
            </a:r>
            <a:r>
              <a:rPr lang="zh-CN" altLang="en-US"/>
              <a:t>近似</a:t>
            </a:r>
            <a:endParaRPr lang="zh-CN" altLang="en-US"/>
          </a:p>
          <a:p>
            <a:pPr lvl="1"/>
            <a:r>
              <a:rPr lang="en-US" altLang="zh-CN"/>
              <a:t>NPU</a:t>
            </a:r>
            <a:r>
              <a:rPr lang="zh-CN" altLang="en-US"/>
              <a:t>的</a:t>
            </a:r>
            <a:r>
              <a:rPr lang="en-US" altLang="zh-CN"/>
              <a:t>AXI</a:t>
            </a:r>
            <a:r>
              <a:rPr lang="zh-CN" altLang="en-US"/>
              <a:t>级</a:t>
            </a:r>
            <a:r>
              <a:rPr lang="zh-CN" altLang="en-US"/>
              <a:t>事件</a:t>
            </a:r>
            <a:endParaRPr lang="zh-CN" altLang="en-US"/>
          </a:p>
          <a:p>
            <a:pPr lvl="1"/>
            <a:r>
              <a:rPr lang="zh-CN" altLang="en-US"/>
              <a:t>算子阶段、阵列忙闲、内部</a:t>
            </a:r>
            <a:r>
              <a:rPr lang="en-US" altLang="zh-CN"/>
              <a:t> DMA</a:t>
            </a:r>
            <a:r>
              <a:rPr lang="zh-CN" altLang="en-US"/>
              <a:t>、具体</a:t>
            </a:r>
            <a:r>
              <a:rPr lang="en-US" altLang="zh-CN"/>
              <a:t> stall </a:t>
            </a:r>
            <a:r>
              <a:rPr lang="zh-CN" altLang="en-US"/>
              <a:t>类别、片内存储命中</a:t>
            </a:r>
            <a:r>
              <a:rPr lang="en-US" altLang="zh-CN"/>
              <a:t>/</a:t>
            </a:r>
            <a:r>
              <a:rPr lang="zh-CN" altLang="en-US"/>
              <a:t>未命中。这些是芯片内的事情，也许可以通过外界的指标（测信道）推测？但是测信道的数据不准也顶多是近似</a:t>
            </a:r>
            <a:r>
              <a:rPr lang="zh-CN" altLang="en-US"/>
              <a:t>值</a:t>
            </a:r>
            <a:endParaRPr lang="zh-CN" altLang="en-US"/>
          </a:p>
        </p:txBody>
      </p:sp>
    </p:spTree>
    <p:custDataLst>
      <p:tags r:id="rId3"/>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miscellaneous</a:t>
            </a:r>
            <a:endParaRPr lang="en-US" altLang="zh-CN"/>
          </a:p>
        </p:txBody>
      </p:sp>
      <p:sp>
        <p:nvSpPr>
          <p:cNvPr id="3" name="内容占位符 2"/>
          <p:cNvSpPr>
            <a:spLocks noGrp="1"/>
          </p:cNvSpPr>
          <p:nvPr>
            <p:ph idx="1"/>
            <p:custDataLst>
              <p:tags r:id="rId2"/>
            </p:custDataLst>
          </p:nvPr>
        </p:nvSpPr>
        <p:spPr/>
        <p:txBody>
          <a:bodyPr>
            <a:normAutofit fontScale="70000"/>
          </a:bodyPr>
          <a:p>
            <a:r>
              <a:rPr lang="en-US" altLang="zh-CN"/>
              <a:t>on device llm</a:t>
            </a:r>
            <a:r>
              <a:rPr lang="zh-CN" altLang="en-US"/>
              <a:t>的</a:t>
            </a:r>
            <a:r>
              <a:rPr lang="en-US" altLang="zh-CN"/>
              <a:t>chatbot</a:t>
            </a:r>
            <a:r>
              <a:rPr lang="zh-CN" altLang="en-US"/>
              <a:t>应用</a:t>
            </a:r>
            <a:r>
              <a:rPr lang="zh-CN" altLang="en-US"/>
              <a:t>很可能前景</a:t>
            </a:r>
            <a:r>
              <a:rPr lang="zh-CN" altLang="en-US"/>
              <a:t>不好</a:t>
            </a:r>
            <a:endParaRPr lang="zh-CN" altLang="en-US"/>
          </a:p>
          <a:p>
            <a:pPr lvl="1"/>
            <a:r>
              <a:rPr lang="zh-CN" altLang="en-US"/>
              <a:t>隐私</a:t>
            </a:r>
            <a:r>
              <a:rPr lang="zh-CN" altLang="en-US"/>
              <a:t>好，但是会严重占据端侧内存，同时效果远比传统的云端推理模式</a:t>
            </a:r>
            <a:r>
              <a:rPr lang="zh-CN" altLang="en-US"/>
              <a:t>差</a:t>
            </a:r>
            <a:endParaRPr lang="zh-CN" altLang="en-US"/>
          </a:p>
          <a:p>
            <a:pPr lvl="1"/>
            <a:r>
              <a:rPr lang="zh-CN" altLang="en-US"/>
              <a:t>隐私只是一个产品的很边缘的属性，</a:t>
            </a:r>
            <a:r>
              <a:rPr lang="zh-CN" altLang="en-US">
                <a:sym typeface="+mn-ea"/>
              </a:rPr>
              <a:t>比起隐私，我觉得大多数人更注重模型本身的能力，</a:t>
            </a:r>
            <a:r>
              <a:rPr lang="zh-CN" altLang="en-US"/>
              <a:t>客户肯定会希望隐私性好有保障，但是那是建立在端侧与云端的模型提供能力差不多的情况下，如果端侧远远弱于云侧，我相信大多数人都会选择用云侧</a:t>
            </a:r>
            <a:r>
              <a:rPr lang="zh-CN" altLang="en-US"/>
              <a:t>的。</a:t>
            </a:r>
            <a:endParaRPr lang="zh-CN" altLang="en-US"/>
          </a:p>
          <a:p>
            <a:pPr lvl="2"/>
            <a:r>
              <a:rPr lang="zh-CN" altLang="en-US">
                <a:sym typeface="+mn-ea"/>
              </a:rPr>
              <a:t>比如现在，无论是速度上还是质量上。</a:t>
            </a:r>
            <a:r>
              <a:rPr lang="en-US" altLang="zh-CN">
                <a:sym typeface="+mn-ea"/>
              </a:rPr>
              <a:t>1-8B</a:t>
            </a:r>
            <a:r>
              <a:rPr lang="zh-CN" altLang="en-US">
                <a:sym typeface="+mn-ea"/>
              </a:rPr>
              <a:t>的模型连</a:t>
            </a:r>
            <a:r>
              <a:rPr lang="en-US" altLang="zh-CN">
                <a:sym typeface="+mn-ea"/>
              </a:rPr>
              <a:t>gpt3.5</a:t>
            </a:r>
            <a:r>
              <a:rPr lang="zh-CN" altLang="en-US">
                <a:sym typeface="+mn-ea"/>
              </a:rPr>
              <a:t>的能力都达不到</a:t>
            </a:r>
            <a:endParaRPr lang="zh-CN" altLang="en-US">
              <a:sym typeface="+mn-ea"/>
            </a:endParaRPr>
          </a:p>
          <a:p>
            <a:pPr lvl="2"/>
            <a:r>
              <a:rPr lang="zh-CN" altLang="en-US">
                <a:sym typeface="+mn-ea"/>
              </a:rPr>
              <a:t>目前的</a:t>
            </a:r>
            <a:r>
              <a:rPr lang="en-US" altLang="zh-CN">
                <a:sym typeface="+mn-ea"/>
              </a:rPr>
              <a:t>GPT5</a:t>
            </a:r>
            <a:r>
              <a:rPr lang="zh-CN" altLang="en-US">
                <a:sym typeface="+mn-ea"/>
              </a:rPr>
              <a:t>的推理速度是完全可以接受的。端侧目前长</a:t>
            </a:r>
            <a:r>
              <a:rPr lang="en-US" altLang="zh-CN">
                <a:sym typeface="+mn-ea"/>
              </a:rPr>
              <a:t>Token</a:t>
            </a:r>
            <a:r>
              <a:rPr lang="zh-CN" altLang="en-US">
                <a:sym typeface="+mn-ea"/>
              </a:rPr>
              <a:t>的输出普遍是比</a:t>
            </a:r>
            <a:r>
              <a:rPr lang="en-US" altLang="zh-CN">
                <a:sym typeface="+mn-ea"/>
              </a:rPr>
              <a:t>GPT5</a:t>
            </a:r>
            <a:r>
              <a:rPr lang="zh-CN" altLang="en-US">
                <a:sym typeface="+mn-ea"/>
              </a:rPr>
              <a:t>慢的，即使用高端加速器加速（</a:t>
            </a:r>
            <a:r>
              <a:rPr lang="en-US" altLang="zh-CN">
                <a:sym typeface="+mn-ea"/>
              </a:rPr>
              <a:t>4090/ASCEND</a:t>
            </a:r>
            <a:r>
              <a:rPr lang="zh-CN" altLang="en-US">
                <a:sym typeface="+mn-ea"/>
              </a:rPr>
              <a:t>），我觉得这个和云侧的优势也不明显，云侧的速度目前完全可以</a:t>
            </a:r>
            <a:r>
              <a:rPr lang="zh-CN" altLang="en-US">
                <a:sym typeface="+mn-ea"/>
              </a:rPr>
              <a:t>接受</a:t>
            </a:r>
            <a:endParaRPr lang="zh-CN" altLang="en-US">
              <a:sym typeface="+mn-ea"/>
            </a:endParaRPr>
          </a:p>
          <a:p>
            <a:pPr lvl="1"/>
            <a:r>
              <a:rPr lang="zh-CN" altLang="en-US"/>
              <a:t>即使能力和云侧相同，</a:t>
            </a:r>
            <a:r>
              <a:rPr lang="en-US" altLang="zh-CN"/>
              <a:t>on device</a:t>
            </a:r>
            <a:r>
              <a:rPr lang="zh-CN" altLang="en-US"/>
              <a:t>的</a:t>
            </a:r>
            <a:r>
              <a:rPr lang="en-US" altLang="zh-CN"/>
              <a:t>chat bot</a:t>
            </a:r>
            <a:r>
              <a:rPr lang="zh-CN" altLang="en-US"/>
              <a:t>的内存压力也特别大。绝大多数的</a:t>
            </a:r>
            <a:r>
              <a:rPr lang="en-US" altLang="zh-CN"/>
              <a:t>device</a:t>
            </a:r>
            <a:r>
              <a:rPr lang="zh-CN" altLang="en-US"/>
              <a:t>的</a:t>
            </a:r>
            <a:r>
              <a:rPr lang="en-US" altLang="zh-CN"/>
              <a:t>memory</a:t>
            </a:r>
            <a:r>
              <a:rPr lang="zh-CN" altLang="en-US"/>
              <a:t>都是很有限的，一个云侧的网页也就几百</a:t>
            </a:r>
            <a:r>
              <a:rPr lang="en-US" altLang="zh-CN"/>
              <a:t>MB</a:t>
            </a:r>
            <a:r>
              <a:rPr lang="zh-CN" altLang="en-US"/>
              <a:t>，但是</a:t>
            </a:r>
            <a:r>
              <a:rPr lang="en-US" altLang="zh-CN"/>
              <a:t>on device</a:t>
            </a:r>
            <a:r>
              <a:rPr lang="zh-CN" altLang="en-US"/>
              <a:t>的话至少得几个</a:t>
            </a:r>
            <a:r>
              <a:rPr lang="en-US" altLang="zh-CN"/>
              <a:t>GB</a:t>
            </a:r>
            <a:r>
              <a:rPr lang="zh-CN" altLang="en-US"/>
              <a:t>，对体验影响非常</a:t>
            </a:r>
            <a:r>
              <a:rPr lang="zh-CN" altLang="en-US"/>
              <a:t>大</a:t>
            </a:r>
            <a:endParaRPr lang="zh-CN" altLang="en-US"/>
          </a:p>
          <a:p>
            <a:pPr lvl="1"/>
            <a:r>
              <a:rPr lang="zh-CN" altLang="en-US"/>
              <a:t>还要推理时间的问题，目前端侧还是如云</a:t>
            </a:r>
            <a:r>
              <a:rPr lang="zh-CN" altLang="en-US"/>
              <a:t>侧快。</a:t>
            </a:r>
            <a:endParaRPr lang="zh-CN" altLang="en-US"/>
          </a:p>
          <a:p>
            <a:pPr lvl="1"/>
            <a:r>
              <a:rPr lang="zh-CN" altLang="en-US"/>
              <a:t>云侧也可以用机密计算啥的增强安全性，但是机密计算是处理</a:t>
            </a:r>
            <a:r>
              <a:rPr lang="en-US" altLang="zh-CN"/>
              <a:t>data in use</a:t>
            </a:r>
            <a:r>
              <a:rPr lang="zh-CN" altLang="en-US"/>
              <a:t>的，</a:t>
            </a:r>
            <a:r>
              <a:rPr lang="en-US" altLang="zh-CN"/>
              <a:t>data in storage</a:t>
            </a:r>
            <a:r>
              <a:rPr lang="zh-CN" altLang="en-US"/>
              <a:t>的安全技术已经非常成熟了，各种云盘已经应用广泛，比如</a:t>
            </a:r>
            <a:r>
              <a:rPr lang="en-US" altLang="zh-CN"/>
              <a:t>icloud </a:t>
            </a:r>
            <a:r>
              <a:rPr lang="zh-CN" altLang="en-US"/>
              <a:t>。而</a:t>
            </a:r>
            <a:r>
              <a:rPr lang="en-US" altLang="zh-CN"/>
              <a:t>data in use</a:t>
            </a:r>
            <a:r>
              <a:rPr lang="zh-CN" altLang="en-US"/>
              <a:t>的攻击我觉得本身比</a:t>
            </a:r>
            <a:r>
              <a:rPr lang="en-US" altLang="zh-CN"/>
              <a:t>data in storage</a:t>
            </a:r>
            <a:r>
              <a:rPr lang="zh-CN" altLang="en-US"/>
              <a:t>的攻击难</a:t>
            </a:r>
            <a:r>
              <a:rPr lang="zh-CN" altLang="en-US"/>
              <a:t>很多，对于大多数人来说应该足够</a:t>
            </a:r>
            <a:r>
              <a:rPr lang="zh-CN" altLang="en-US"/>
              <a:t>安全。</a:t>
            </a:r>
            <a:endParaRPr lang="zh-CN" altLang="en-US"/>
          </a:p>
          <a:p>
            <a:pPr lvl="0"/>
            <a:r>
              <a:rPr lang="en-US" altLang="zh-CN"/>
              <a:t>on device llm</a:t>
            </a:r>
            <a:r>
              <a:rPr lang="zh-CN" altLang="en-US"/>
              <a:t>真正的优势是</a:t>
            </a:r>
            <a:r>
              <a:rPr lang="zh-CN" altLang="en-US"/>
              <a:t>实时性</a:t>
            </a:r>
            <a:endParaRPr lang="zh-CN" altLang="en-US"/>
          </a:p>
          <a:p>
            <a:pPr lvl="1"/>
            <a:r>
              <a:rPr lang="zh-CN" altLang="en-US"/>
              <a:t>因为云侧肯定需要来回的网络传输，不可能达到</a:t>
            </a:r>
            <a:r>
              <a:rPr lang="en-US" altLang="zh-CN"/>
              <a:t>real time</a:t>
            </a:r>
            <a:r>
              <a:rPr lang="zh-CN" altLang="en-US"/>
              <a:t>的要求，但是端侧很多应用都是</a:t>
            </a:r>
            <a:r>
              <a:rPr lang="en-US" altLang="zh-CN"/>
              <a:t>real time</a:t>
            </a:r>
            <a:r>
              <a:rPr lang="zh-CN" altLang="en-US"/>
              <a:t>的要求（这里显然不包括</a:t>
            </a:r>
            <a:r>
              <a:rPr lang="en-US" altLang="zh-CN"/>
              <a:t>LLM</a:t>
            </a:r>
            <a:r>
              <a:rPr lang="zh-CN" altLang="en-US"/>
              <a:t>目前最直接广泛的应用：</a:t>
            </a:r>
            <a:r>
              <a:rPr lang="en-US" altLang="zh-CN"/>
              <a:t>chatbot</a:t>
            </a:r>
            <a:r>
              <a:rPr lang="zh-CN" altLang="en-US"/>
              <a:t>），所以真正的优势应该是</a:t>
            </a:r>
            <a:r>
              <a:rPr lang="en-US" altLang="zh-CN"/>
              <a:t>on device</a:t>
            </a:r>
            <a:r>
              <a:rPr lang="zh-CN" altLang="en-US"/>
              <a:t>带来的</a:t>
            </a:r>
            <a:r>
              <a:rPr lang="en-US" altLang="zh-CN"/>
              <a:t>real time</a:t>
            </a:r>
            <a:r>
              <a:rPr lang="zh-CN" altLang="en-US"/>
              <a:t>。</a:t>
            </a:r>
            <a:endParaRPr lang="zh-CN" altLang="en-US"/>
          </a:p>
          <a:p>
            <a:pPr lvl="1"/>
            <a:r>
              <a:rPr lang="en-US" altLang="zh-CN"/>
              <a:t>real time application</a:t>
            </a:r>
            <a:r>
              <a:rPr lang="zh-CN" altLang="en-US"/>
              <a:t>的行为和</a:t>
            </a:r>
            <a:r>
              <a:rPr lang="en-US" altLang="zh-CN"/>
              <a:t>chatbot</a:t>
            </a:r>
            <a:r>
              <a:rPr lang="zh-CN" altLang="en-US"/>
              <a:t>很可以是不一样的，我觉得很可能是</a:t>
            </a:r>
            <a:r>
              <a:rPr lang="en-US" altLang="zh-CN"/>
              <a:t>token</a:t>
            </a:r>
            <a:r>
              <a:rPr lang="zh-CN" altLang="en-US"/>
              <a:t>输出很少，整个过程大多数</a:t>
            </a:r>
            <a:r>
              <a:rPr lang="zh-CN" altLang="en-US"/>
              <a:t>计算全在</a:t>
            </a:r>
            <a:r>
              <a:rPr lang="en-US" altLang="zh-CN"/>
              <a:t>prefill</a:t>
            </a:r>
            <a:r>
              <a:rPr lang="zh-CN" altLang="en-US"/>
              <a:t>阶段，然后输出可能只有一个</a:t>
            </a:r>
            <a:r>
              <a:rPr lang="en-US" altLang="zh-CN"/>
              <a:t>token</a:t>
            </a:r>
            <a:r>
              <a:rPr lang="zh-CN" altLang="en-US"/>
              <a:t>来做出判断。这种和</a:t>
            </a:r>
            <a:r>
              <a:rPr lang="en-US" altLang="zh-CN"/>
              <a:t>chatbot</a:t>
            </a:r>
            <a:r>
              <a:rPr lang="zh-CN" altLang="en-US"/>
              <a:t>不同的</a:t>
            </a:r>
            <a:r>
              <a:rPr lang="en-US" altLang="zh-CN"/>
              <a:t>workload</a:t>
            </a:r>
            <a:r>
              <a:rPr lang="zh-CN" altLang="en-US"/>
              <a:t>也许可以做到比传统的模型推理更激进的</a:t>
            </a:r>
            <a:r>
              <a:rPr lang="zh-CN" altLang="en-US"/>
              <a:t>优化</a:t>
            </a:r>
            <a:endParaRPr lang="zh-CN" altLang="en-US"/>
          </a:p>
        </p:txBody>
      </p:sp>
    </p:spTree>
    <p:custDataLst>
      <p:tags r:id="rId3"/>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闭源</a:t>
            </a:r>
            <a:r>
              <a:rPr lang="en-US" altLang="zh-CN"/>
              <a:t>≠</a:t>
            </a:r>
            <a:r>
              <a:rPr lang="zh-CN" altLang="en-US"/>
              <a:t>能做的科研</a:t>
            </a:r>
            <a:r>
              <a:rPr lang="zh-CN" altLang="en-US"/>
              <a:t>少</a:t>
            </a:r>
            <a:endParaRPr lang="zh-CN" altLang="en-US"/>
          </a:p>
        </p:txBody>
      </p:sp>
      <p:sp>
        <p:nvSpPr>
          <p:cNvPr id="3" name="内容占位符 2"/>
          <p:cNvSpPr>
            <a:spLocks noGrp="1"/>
          </p:cNvSpPr>
          <p:nvPr>
            <p:ph idx="1"/>
            <p:custDataLst>
              <p:tags r:id="rId2"/>
            </p:custDataLst>
          </p:nvPr>
        </p:nvSpPr>
        <p:spPr/>
        <p:txBody>
          <a:bodyPr/>
          <a:p>
            <a:r>
              <a:rPr lang="en-US" altLang="zh-CN"/>
              <a:t>GPU</a:t>
            </a:r>
            <a:r>
              <a:rPr lang="zh-CN" altLang="en-US"/>
              <a:t>的很多软件是闭源的。但</a:t>
            </a:r>
            <a:r>
              <a:rPr lang="en-US" altLang="zh-CN"/>
              <a:t>Programmability</a:t>
            </a:r>
            <a:r>
              <a:rPr lang="zh-CN" altLang="en-US"/>
              <a:t>特别强，能支持各个粒度和</a:t>
            </a:r>
            <a:r>
              <a:rPr lang="zh-CN" altLang="en-US"/>
              <a:t>层级的</a:t>
            </a:r>
            <a:r>
              <a:rPr lang="zh-CN" altLang="en-US"/>
              <a:t>优化</a:t>
            </a:r>
            <a:endParaRPr lang="zh-CN" altLang="en-US"/>
          </a:p>
        </p:txBody>
      </p:sp>
      <p:pic>
        <p:nvPicPr>
          <p:cNvPr id="4" name="图片 3"/>
          <p:cNvPicPr>
            <a:picLocks noChangeAspect="1"/>
          </p:cNvPicPr>
          <p:nvPr/>
        </p:nvPicPr>
        <p:blipFill>
          <a:blip r:embed="rId3"/>
          <a:stretch>
            <a:fillRect/>
          </a:stretch>
        </p:blipFill>
        <p:spPr>
          <a:xfrm>
            <a:off x="514985" y="2532380"/>
            <a:ext cx="10782300" cy="1952625"/>
          </a:xfrm>
          <a:prstGeom prst="rect">
            <a:avLst/>
          </a:prstGeom>
        </p:spPr>
      </p:pic>
    </p:spTree>
    <p:custDataLst>
      <p:tags r:id="rId4"/>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real-time NPU </a:t>
            </a:r>
            <a:r>
              <a:rPr lang="en-US" altLang="zh-CN"/>
              <a:t>inference</a:t>
            </a:r>
            <a:endParaRPr lang="en-US" altLang="zh-CN"/>
          </a:p>
        </p:txBody>
      </p:sp>
      <p:sp>
        <p:nvSpPr>
          <p:cNvPr id="3" name="内容占位符 2"/>
          <p:cNvSpPr>
            <a:spLocks noGrp="1"/>
          </p:cNvSpPr>
          <p:nvPr>
            <p:ph idx="1"/>
            <p:custDataLst>
              <p:tags r:id="rId2"/>
            </p:custDataLst>
          </p:nvPr>
        </p:nvSpPr>
        <p:spPr/>
        <p:txBody>
          <a:bodyPr/>
          <a:p>
            <a:r>
              <a:rPr lang="en-US" altLang="zh-CN"/>
              <a:t>MLU/</a:t>
            </a:r>
            <a:r>
              <a:rPr lang="en-US" altLang="zh-CN"/>
              <a:t>ASCEND</a:t>
            </a:r>
            <a:endParaRPr lang="en-US" altLang="zh-CN"/>
          </a:p>
          <a:p>
            <a:r>
              <a:rPr lang="zh-CN" altLang="en-US"/>
              <a:t>多套弹性模型大小，弹性精度，多套</a:t>
            </a:r>
            <a:r>
              <a:rPr lang="en-US" altLang="zh-CN"/>
              <a:t>Kernel</a:t>
            </a:r>
            <a:r>
              <a:rPr lang="zh-CN" altLang="en-US"/>
              <a:t>效率，多套优先级，组合实现动态的时间</a:t>
            </a:r>
            <a:r>
              <a:rPr lang="en-US" altLang="zh-CN"/>
              <a:t>budget</a:t>
            </a:r>
            <a:r>
              <a:rPr lang="zh-CN" altLang="en-US"/>
              <a:t>下的</a:t>
            </a:r>
            <a:r>
              <a:rPr lang="en-US" altLang="zh-CN"/>
              <a:t>real time </a:t>
            </a:r>
            <a:r>
              <a:rPr lang="en-US" altLang="zh-CN"/>
              <a:t>inference</a:t>
            </a:r>
            <a:endParaRPr lang="en-US" altLang="zh-CN"/>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BEAUTIFY_FLAG" val="#wm#"/>
  <p:tag name="KSO_WM_TEMPLATE_CATEGORY" val="custom"/>
  <p:tag name="KSO_WM_TEMPLATE_INDEX" val="2020508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KSO_WM_BEAUTIFY_FLAG" val="#wm#"/>
  <p:tag name="KSO_WM_TEMPLATE_CATEGORY" val="custom"/>
  <p:tag name="KSO_WM_TEMPLATE_INDEX" val="2020508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BEAUTIFY_FLAG" val="#wm#"/>
  <p:tag name="KSO_WM_TEMPLATE_CATEGORY" val="custom"/>
  <p:tag name="KSO_WM_TEMPLATE_INDEX" val="2020508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p="http://schemas.openxmlformats.org/presentationml/2006/main">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p="http://schemas.openxmlformats.org/presentationml/2006/main">
  <p:tag name="KSO_WM_BEAUTIFY_FLAG" val="#wm#"/>
  <p:tag name="KSO_WM_TEMPLATE_CATEGORY" val="custom"/>
  <p:tag name="KSO_WM_TEMPLATE_INDEX" val="2020508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p="http://schemas.openxmlformats.org/presentationml/2006/main">
  <p:tag name="KSO_WM_BEAUTIFY_FLAG" val="#wm#"/>
  <p:tag name="KSO_WM_TEMPLATE_CATEGORY" val="custom"/>
  <p:tag name="KSO_WM_TEMPLATE_INDEX" val="2020508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p="http://schemas.openxmlformats.org/presentationml/2006/main">
  <p:tag name="KSO_WM_BEAUTIFY_FLAG" val="#wm#"/>
  <p:tag name="KSO_WM_TEMPLATE_CATEGORY" val="custom"/>
  <p:tag name="KSO_WM_TEMPLATE_INDEX" val="2020508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p="http://schemas.openxmlformats.org/presentationml/2006/main">
  <p:tag name="KSO_WM_BEAUTIFY_FLAG" val="#wm#"/>
  <p:tag name="KSO_WM_TEMPLATE_CATEGORY" val="custom"/>
  <p:tag name="KSO_WM_TEMPLATE_INDEX" val="2020508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p="http://schemas.openxmlformats.org/presentationml/2006/main">
  <p:tag name="KSO_WM_BEAUTIFY_FLAG" val="#wm#"/>
  <p:tag name="KSO_WM_TEMPLATE_CATEGORY" val="custom"/>
  <p:tag name="KSO_WM_TEMPLATE_INDEX" val="2020508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7.xml><?xml version="1.0" encoding="utf-8"?>
<p:tagLst xmlns:p="http://schemas.openxmlformats.org/presentationml/2006/main">
  <p:tag name="KSO_WM_BEAUTIFY_FLAG" val="#wm#"/>
  <p:tag name="KSO_WM_TEMPLATE_CATEGORY" val="custom"/>
  <p:tag name="KSO_WM_TEMPLATE_INDEX" val="2020508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p="http://schemas.openxmlformats.org/presentationml/2006/main">
  <p:tag name="KSO_WM_BEAUTIFY_FLAG" val="#wm#"/>
  <p:tag name="KSO_WM_TEMPLATE_CATEGORY" val="custom"/>
  <p:tag name="KSO_WM_TEMPLATE_INDEX" val="2020508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p="http://schemas.openxmlformats.org/presentationml/2006/main">
  <p:tag name="KSO_WM_BEAUTIFY_FLAG" val="#wm#"/>
  <p:tag name="KSO_WM_TEMPLATE_CATEGORY" val="custom"/>
  <p:tag name="KSO_WM_TEMPLATE_INDEX" val="2020508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6.xml><?xml version="1.0" encoding="utf-8"?>
<p:tagLst xmlns:p="http://schemas.openxmlformats.org/presentationml/2006/main">
  <p:tag name="KSO_WM_BEAUTIFY_FLAG" val="#wm#"/>
  <p:tag name="KSO_WM_TEMPLATE_CATEGORY" val="custom"/>
  <p:tag name="KSO_WM_TEMPLATE_INDEX" val="2020508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9.xml><?xml version="1.0" encoding="utf-8"?>
<p:tagLst xmlns:p="http://schemas.openxmlformats.org/presentationml/2006/main">
  <p:tag name="KSO_WM_BEAUTIFY_FLAG" val="#wm#"/>
  <p:tag name="KSO_WM_TEMPLATE_CATEGORY" val="custom"/>
  <p:tag name="KSO_WM_TEMPLATE_INDEX" val="2020508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2.xml><?xml version="1.0" encoding="utf-8"?>
<p:tagLst xmlns:p="http://schemas.openxmlformats.org/presentationml/2006/main">
  <p:tag name="KSO_WM_BEAUTIFY_FLAG" val="#wm#"/>
  <p:tag name="KSO_WM_TEMPLATE_CATEGORY" val="custom"/>
  <p:tag name="KSO_WM_TEMPLATE_INDEX" val="2020508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5.xml><?xml version="1.0" encoding="utf-8"?>
<p:tagLst xmlns:p="http://schemas.openxmlformats.org/presentationml/2006/main">
  <p:tag name="KSO_WM_BEAUTIFY_FLAG" val="#wm#"/>
  <p:tag name="KSO_WM_TEMPLATE_CATEGORY" val="custom"/>
  <p:tag name="KSO_WM_TEMPLATE_INDEX" val="2020508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8.xml><?xml version="1.0" encoding="utf-8"?>
<p:tagLst xmlns:p="http://schemas.openxmlformats.org/presentationml/2006/main">
  <p:tag name="KSO_WM_BEAUTIFY_FLAG" val="#wm#"/>
  <p:tag name="KSO_WM_TEMPLATE_CATEGORY" val="custom"/>
  <p:tag name="KSO_WM_TEMPLATE_INDEX" val="2020508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1.xml><?xml version="1.0" encoding="utf-8"?>
<p:tagLst xmlns:p="http://schemas.openxmlformats.org/presentationml/2006/main">
  <p:tag name="KSO_WM_BEAUTIFY_FLAG" val="#wm#"/>
  <p:tag name="KSO_WM_TEMPLATE_CATEGORY" val="custom"/>
  <p:tag name="KSO_WM_TEMPLATE_INDEX" val="2020508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4.xml><?xml version="1.0" encoding="utf-8"?>
<p:tagLst xmlns:p="http://schemas.openxmlformats.org/presentationml/2006/main">
  <p:tag name="KSO_WM_BEAUTIFY_FLAG" val="#wm#"/>
  <p:tag name="KSO_WM_TEMPLATE_CATEGORY" val="custom"/>
  <p:tag name="KSO_WM_TEMPLATE_INDEX" val="2020508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7.xml><?xml version="1.0" encoding="utf-8"?>
<p:tagLst xmlns:p="http://schemas.openxmlformats.org/presentationml/2006/main">
  <p:tag name="KSO_WM_BEAUTIFY_FLAG" val="#wm#"/>
  <p:tag name="KSO_WM_TEMPLATE_CATEGORY" val="custom"/>
  <p:tag name="KSO_WM_TEMPLATE_INDEX" val="2020508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0.xml><?xml version="1.0" encoding="utf-8"?>
<p:tagLst xmlns:p="http://schemas.openxmlformats.org/presentationml/2006/main">
  <p:tag name="KSO_WM_BEAUTIFY_FLAG" val="#wm#"/>
  <p:tag name="KSO_WM_TEMPLATE_CATEGORY" val="custom"/>
  <p:tag name="KSO_WM_TEMPLATE_INDEX" val="2020508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3.xml><?xml version="1.0" encoding="utf-8"?>
<p:tagLst xmlns:p="http://schemas.openxmlformats.org/presentationml/2006/main">
  <p:tag name="KSO_WM_BEAUTIFY_FLAG" val="#wm#"/>
  <p:tag name="KSO_WM_TEMPLATE_CATEGORY" val="custom"/>
  <p:tag name="KSO_WM_TEMPLATE_INDEX" val="2020508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6.xml><?xml version="1.0" encoding="utf-8"?>
<p:tagLst xmlns:p="http://schemas.openxmlformats.org/presentationml/2006/main">
  <p:tag name="KSO_WM_BEAUTIFY_FLAG" val="#wm#"/>
  <p:tag name="KSO_WM_TEMPLATE_CATEGORY" val="custom"/>
  <p:tag name="KSO_WM_TEMPLATE_INDEX" val="2020508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9.xml><?xml version="1.0" encoding="utf-8"?>
<p:tagLst xmlns:p="http://schemas.openxmlformats.org/presentationml/2006/main">
  <p:tag name="KSO_WM_BEAUTIFY_FLAG" val="#wm#"/>
  <p:tag name="KSO_WM_TEMPLATE_CATEGORY" val="custom"/>
  <p:tag name="KSO_WM_TEMPLATE_INDEX" val="2020508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2.xml><?xml version="1.0" encoding="utf-8"?>
<p:tagLst xmlns:p="http://schemas.openxmlformats.org/presentationml/2006/main">
  <p:tag name="KSO_WM_BEAUTIFY_FLAG" val="#wm#"/>
  <p:tag name="KSO_WM_TEMPLATE_CATEGORY" val="custom"/>
  <p:tag name="KSO_WM_TEMPLATE_INDEX" val="2020508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5.xml><?xml version="1.0" encoding="utf-8"?>
<p:tagLst xmlns:p="http://schemas.openxmlformats.org/presentationml/2006/main">
  <p:tag name="KSO_WM_BEAUTIFY_FLAG" val="#wm#"/>
  <p:tag name="KSO_WM_TEMPLATE_CATEGORY" val="custom"/>
  <p:tag name="KSO_WM_TEMPLATE_INDEX" val="2020508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8.xml><?xml version="1.0" encoding="utf-8"?>
<p:tagLst xmlns:p="http://schemas.openxmlformats.org/presentationml/2006/main">
  <p:tag name="KSO_WM_BEAUTIFY_FLAG" val="#wm#"/>
  <p:tag name="KSO_WM_TEMPLATE_CATEGORY" val="custom"/>
  <p:tag name="KSO_WM_TEMPLATE_INDEX" val="2020508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1.xml><?xml version="1.0" encoding="utf-8"?>
<p:tagLst xmlns:p="http://schemas.openxmlformats.org/presentationml/2006/main">
  <p:tag name="KSO_WM_BEAUTIFY_FLAG" val="#wm#"/>
  <p:tag name="KSO_WM_TEMPLATE_CATEGORY" val="custom"/>
  <p:tag name="KSO_WM_TEMPLATE_INDEX" val="2020508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4.xml><?xml version="1.0" encoding="utf-8"?>
<p:tagLst xmlns:p="http://schemas.openxmlformats.org/presentationml/2006/main">
  <p:tag name="KSO_WM_BEAUTIFY_FLAG" val="#wm#"/>
  <p:tag name="KSO_WM_TEMPLATE_CATEGORY" val="custom"/>
  <p:tag name="KSO_WM_TEMPLATE_INDEX" val="2020508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7.xml><?xml version="1.0" encoding="utf-8"?>
<p:tagLst xmlns:p="http://schemas.openxmlformats.org/presentationml/2006/main">
  <p:tag name="KSO_WM_BEAUTIFY_FLAG" val="#wm#"/>
  <p:tag name="KSO_WM_TEMPLATE_CATEGORY" val="custom"/>
  <p:tag name="KSO_WM_TEMPLATE_INDEX" val="2020508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0.xml><?xml version="1.0" encoding="utf-8"?>
<p:tagLst xmlns:p="http://schemas.openxmlformats.org/presentationml/2006/main">
  <p:tag name="KSO_WM_BEAUTIFY_FLAG" val="#wm#"/>
  <p:tag name="KSO_WM_TEMPLATE_CATEGORY" val="custom"/>
  <p:tag name="KSO_WM_TEMPLATE_INDEX" val="2020508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3.xml><?xml version="1.0" encoding="utf-8"?>
<p:tagLst xmlns:p="http://schemas.openxmlformats.org/presentationml/2006/main">
  <p:tag name="KSO_WM_BEAUTIFY_FLAG" val="#wm#"/>
  <p:tag name="KSO_WM_TEMPLATE_CATEGORY" val="custom"/>
  <p:tag name="KSO_WM_TEMPLATE_INDEX" val="2020508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6.xml><?xml version="1.0" encoding="utf-8"?>
<p:tagLst xmlns:p="http://schemas.openxmlformats.org/presentationml/2006/main">
  <p:tag name="KSO_WM_BEAUTIFY_FLAG" val="#wm#"/>
  <p:tag name="KSO_WM_TEMPLATE_CATEGORY" val="custom"/>
  <p:tag name="KSO_WM_TEMPLATE_INDEX" val="2020508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9.xml><?xml version="1.0" encoding="utf-8"?>
<p:tagLst xmlns:p="http://schemas.openxmlformats.org/presentationml/2006/main">
  <p:tag name="KSO_WM_BEAUTIFY_FLAG" val="#wm#"/>
  <p:tag name="KSO_WM_TEMPLATE_CATEGORY" val="custom"/>
  <p:tag name="KSO_WM_TEMPLATE_INDEX" val="2020508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2.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5909</Words>
  <Application>WPS 演示</Application>
  <PresentationFormat>宽屏</PresentationFormat>
  <Paragraphs>296</Paragraphs>
  <Slides>50</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50</vt:i4>
      </vt:variant>
    </vt:vector>
  </HeadingPairs>
  <TitlesOfParts>
    <vt:vector size="58" baseType="lpstr">
      <vt:lpstr>Arial</vt:lpstr>
      <vt:lpstr>宋体</vt:lpstr>
      <vt:lpstr>Wingdings</vt:lpstr>
      <vt:lpstr>Wingdings</vt:lpstr>
      <vt:lpstr>微软雅黑</vt:lpstr>
      <vt:lpstr>Arial Unicode MS</vt:lpstr>
      <vt:lpstr>Calibri</vt:lpstr>
      <vt:lpstr>WPS</vt:lpstr>
      <vt:lpstr>10.x</vt:lpstr>
      <vt:lpstr>CPU Profiler</vt:lpstr>
      <vt:lpstr>motivation-1</vt:lpstr>
      <vt:lpstr>针对Ethos的计数器的问题：</vt:lpstr>
      <vt:lpstr>Contribution-1</vt:lpstr>
      <vt:lpstr>motivation-2</vt:lpstr>
      <vt:lpstr>motivation-3</vt:lpstr>
      <vt:lpstr>motivation-4</vt:lpstr>
      <vt:lpstr>motivation-5</vt:lpstr>
      <vt:lpstr>Challenge-1</vt:lpstr>
      <vt:lpstr>challenge2</vt:lpstr>
      <vt:lpstr>Challenge-2</vt:lpstr>
      <vt:lpstr>challenge-3</vt:lpstr>
      <vt:lpstr>NPU </vt:lpstr>
      <vt:lpstr>PowerPoint 演示文稿</vt:lpstr>
      <vt:lpstr>为啥要做开源的</vt:lpstr>
      <vt:lpstr>PowerPoint 演示文稿</vt:lpstr>
      <vt:lpstr>PowerPoint 演示文稿</vt:lpstr>
      <vt:lpstr>Ethos U65＋VIP8000是否足够？</vt:lpstr>
      <vt:lpstr>应该在有Profiler/PMU的开发板上实现System level的Profiler</vt:lpstr>
      <vt:lpstr>开发板（Linux kernel driver直接与NPU交互）</vt:lpstr>
      <vt:lpstr>指标</vt:lpstr>
      <vt:lpstr>指标哪些能测哪些不能测</vt:lpstr>
      <vt:lpstr>指标：</vt:lpstr>
      <vt:lpstr>PowerPoint 演示文稿</vt:lpstr>
      <vt:lpstr>PowerPoint 演示文稿</vt:lpstr>
      <vt:lpstr>PowerPoint 演示文稿</vt:lpstr>
      <vt:lpstr>比算子层级更细粒度的Profiler功能</vt:lpstr>
      <vt:lpstr>ASCEND</vt:lpstr>
      <vt:lpstr>高通 Snapdragon HTP</vt:lpstr>
      <vt:lpstr>NVIDIA Jetson（Xavier / Orin）</vt:lpstr>
      <vt:lpstr>Arm Ethos-U55/U65 开发板</vt:lpstr>
      <vt:lpstr>Rockchip RK3588 / RKNPU</vt:lpstr>
      <vt:lpstr>PowerPoint 演示文稿</vt:lpstr>
      <vt:lpstr>PowerPoint 演示文稿</vt:lpstr>
      <vt:lpstr>miscellaneous</vt:lpstr>
      <vt:lpstr>能不能做一个不是Linux的，是MCU（很多都是开源的NPU代码）的呢？</vt:lpstr>
      <vt:lpstr>design</vt:lpstr>
      <vt:lpstr>miscellaneous</vt:lpstr>
      <vt:lpstr>NPU research constrains</vt:lpstr>
      <vt:lpstr>端侧NPU科研论文主题</vt:lpstr>
      <vt:lpstr>能编程的NPU/工作站加速卡</vt:lpstr>
      <vt:lpstr>寒武纪MLU</vt:lpstr>
      <vt:lpstr>AMD Xilinx Versal AI Engine（AIE）</vt:lpstr>
      <vt:lpstr>ASCEND是可以编程的</vt:lpstr>
      <vt:lpstr>NPU Programmability</vt:lpstr>
      <vt:lpstr>无法通过修改驱动和固件实现PMU对应的能力</vt:lpstr>
      <vt:lpstr>miscellaneous</vt:lpstr>
      <vt:lpstr>闭源≠能做的科研少</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道不远人</cp:lastModifiedBy>
  <cp:revision>412</cp:revision>
  <dcterms:created xsi:type="dcterms:W3CDTF">2019-06-19T02:08:00Z</dcterms:created>
  <dcterms:modified xsi:type="dcterms:W3CDTF">2025-10-07T15:34:10Z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2FB2A4BADC0A4309911A5144704A083F_11</vt:lpwstr>
  </property>
</Properties>
</file>