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9" r:id="rId5"/>
    <p:sldId id="299" r:id="rId7"/>
    <p:sldId id="260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90" r:id="rId35"/>
    <p:sldId id="291" r:id="rId36"/>
    <p:sldId id="292" r:id="rId37"/>
    <p:sldId id="294" r:id="rId38"/>
    <p:sldId id="295" r:id="rId39"/>
    <p:sldId id="288" r:id="rId40"/>
    <p:sldId id="293" r:id="rId41"/>
    <p:sldId id="298" r:id="rId42"/>
    <p:sldId id="297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1.png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6.xml"/><Relationship Id="rId5" Type="http://schemas.openxmlformats.org/officeDocument/2006/relationships/image" Target="../media/image3.png"/><Relationship Id="rId4" Type="http://schemas.openxmlformats.org/officeDocument/2006/relationships/tags" Target="../tags/tag75.xml"/><Relationship Id="rId3" Type="http://schemas.openxmlformats.org/officeDocument/2006/relationships/image" Target="../media/image2.png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9.xml"/><Relationship Id="rId4" Type="http://schemas.openxmlformats.org/officeDocument/2006/relationships/image" Target="../media/image5.png"/><Relationship Id="rId3" Type="http://schemas.openxmlformats.org/officeDocument/2006/relationships/tags" Target="../tags/tag78.xml"/><Relationship Id="rId2" Type="http://schemas.openxmlformats.org/officeDocument/2006/relationships/image" Target="../media/image4.png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.xml"/><Relationship Id="rId3" Type="http://schemas.openxmlformats.org/officeDocument/2006/relationships/image" Target="../media/image2.png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89.xml"/><Relationship Id="rId6" Type="http://schemas.openxmlformats.org/officeDocument/2006/relationships/image" Target="../media/image8.png"/><Relationship Id="rId5" Type="http://schemas.openxmlformats.org/officeDocument/2006/relationships/tags" Target="../tags/tag88.xml"/><Relationship Id="rId4" Type="http://schemas.openxmlformats.org/officeDocument/2006/relationships/image" Target="../media/image7.png"/><Relationship Id="rId3" Type="http://schemas.openxmlformats.org/officeDocument/2006/relationships/tags" Target="../tags/tag87.xml"/><Relationship Id="rId2" Type="http://schemas.openxmlformats.org/officeDocument/2006/relationships/image" Target="../media/image6.png"/><Relationship Id="rId1" Type="http://schemas.openxmlformats.org/officeDocument/2006/relationships/tags" Target="../tags/tag8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2" Type="http://schemas.openxmlformats.org/officeDocument/2006/relationships/image" Target="../media/image9.png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3.xml"/><Relationship Id="rId2" Type="http://schemas.openxmlformats.org/officeDocument/2006/relationships/image" Target="../media/image10.png"/><Relationship Id="rId1" Type="http://schemas.openxmlformats.org/officeDocument/2006/relationships/tags" Target="../tags/tag9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Relationship Id="rId3" Type="http://schemas.openxmlformats.org/officeDocument/2006/relationships/image" Target="../media/image11.pn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9.xml"/><Relationship Id="rId3" Type="http://schemas.openxmlformats.org/officeDocument/2006/relationships/image" Target="../media/image12.png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2.xml"/><Relationship Id="rId3" Type="http://schemas.openxmlformats.org/officeDocument/2006/relationships/image" Target="../media/image13.png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0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0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7.xml"/><Relationship Id="rId3" Type="http://schemas.openxmlformats.org/officeDocument/2006/relationships/image" Target="../media/image20.png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0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3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45.xml"/><Relationship Id="rId5" Type="http://schemas.openxmlformats.org/officeDocument/2006/relationships/image" Target="../media/image26.png"/><Relationship Id="rId4" Type="http://schemas.openxmlformats.org/officeDocument/2006/relationships/tags" Target="../tags/tag144.xml"/><Relationship Id="rId3" Type="http://schemas.openxmlformats.org/officeDocument/2006/relationships/image" Target="../media/image25.png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4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0.xml"/><Relationship Id="rId2" Type="http://schemas.openxmlformats.org/officeDocument/2006/relationships/image" Target="../media/image30.png"/><Relationship Id="rId1" Type="http://schemas.openxmlformats.org/officeDocument/2006/relationships/tags" Target="../tags/tag149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921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8345" y="824865"/>
            <a:ext cx="10968990" cy="20916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测量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0000"/>
          </a:bodyPr>
          <a:p>
            <a:r>
              <a:rPr lang="en-US" altLang="zh-CN"/>
              <a:t>prefill / decode</a:t>
            </a:r>
            <a:endParaRPr lang="en-US" altLang="zh-CN"/>
          </a:p>
          <a:p>
            <a:pPr lvl="1"/>
            <a:r>
              <a:rPr lang="en-US" altLang="zh-CN"/>
              <a:t>Tokens/s</a:t>
            </a:r>
            <a:r>
              <a:rPr lang="zh-CN" altLang="en-US"/>
              <a:t>与每</a:t>
            </a:r>
            <a:r>
              <a:rPr lang="en-US" altLang="zh-CN"/>
              <a:t> token </a:t>
            </a:r>
            <a:r>
              <a:rPr lang="zh-CN" altLang="en-US"/>
              <a:t>时延</a:t>
            </a:r>
            <a:endParaRPr lang="zh-CN" altLang="en-US"/>
          </a:p>
          <a:p>
            <a:pPr lvl="1"/>
            <a:r>
              <a:rPr lang="zh-CN" altLang="en-US"/>
              <a:t>百万</a:t>
            </a:r>
            <a:r>
              <a:rPr lang="en-US" altLang="zh-CN"/>
              <a:t> token </a:t>
            </a:r>
            <a:r>
              <a:rPr lang="zh-CN" altLang="en-US"/>
              <a:t>的成本</a:t>
            </a:r>
            <a:endParaRPr lang="zh-CN" altLang="en-US"/>
          </a:p>
          <a:p>
            <a:pPr lvl="1"/>
            <a:r>
              <a:rPr lang="zh-CN" altLang="en-US"/>
              <a:t>每阶段的时间占比</a:t>
            </a:r>
            <a:endParaRPr lang="zh-CN" altLang="en-US"/>
          </a:p>
          <a:p>
            <a:pPr lvl="2"/>
            <a:r>
              <a:rPr lang="en-US" altLang="zh-CN"/>
              <a:t>Transformer </a:t>
            </a:r>
            <a:r>
              <a:rPr lang="zh-CN" altLang="en-US"/>
              <a:t>拆成</a:t>
            </a:r>
            <a:r>
              <a:rPr lang="en-US" altLang="zh-CN"/>
              <a:t> ATTN / FFN / LM Head </a:t>
            </a:r>
            <a:r>
              <a:rPr lang="zh-CN" altLang="en-US"/>
              <a:t>等，统计各部分耗时比例</a:t>
            </a:r>
            <a:endParaRPr lang="zh-CN" altLang="en-US"/>
          </a:p>
          <a:p>
            <a:pPr lvl="1"/>
            <a:r>
              <a:rPr lang="zh-CN" altLang="en-US"/>
              <a:t>内核</a:t>
            </a:r>
            <a:r>
              <a:rPr lang="en-US" altLang="zh-CN"/>
              <a:t>/</a:t>
            </a:r>
            <a:r>
              <a:rPr lang="zh-CN" altLang="en-US"/>
              <a:t>算子粒度的吞吐与构成</a:t>
            </a:r>
            <a:endParaRPr lang="zh-CN" altLang="en-US"/>
          </a:p>
          <a:p>
            <a:pPr lvl="2"/>
            <a:r>
              <a:rPr lang="en-US" altLang="zh-CN"/>
              <a:t>GEMM</a:t>
            </a:r>
            <a:r>
              <a:rPr lang="zh-CN" altLang="en-US"/>
              <a:t>（</a:t>
            </a:r>
            <a:r>
              <a:rPr lang="en-US" altLang="zh-CN"/>
              <a:t>prefill</a:t>
            </a:r>
            <a:r>
              <a:rPr lang="zh-CN" altLang="en-US"/>
              <a:t>）与</a:t>
            </a:r>
            <a:r>
              <a:rPr lang="en-US" altLang="zh-CN"/>
              <a:t> GEMV</a:t>
            </a:r>
            <a:r>
              <a:rPr lang="zh-CN" altLang="en-US"/>
              <a:t>（</a:t>
            </a:r>
            <a:r>
              <a:rPr lang="en-US" altLang="zh-CN"/>
              <a:t>decode</a:t>
            </a:r>
            <a:r>
              <a:rPr lang="zh-CN" altLang="en-US"/>
              <a:t>）的</a:t>
            </a:r>
            <a:r>
              <a:rPr lang="en-US" altLang="zh-CN"/>
              <a:t>TFLOPS </a:t>
            </a:r>
            <a:r>
              <a:rPr lang="zh-CN" altLang="en-US"/>
              <a:t>吞吐，以及各量化方案下</a:t>
            </a:r>
            <a:r>
              <a:rPr lang="en-US" altLang="zh-CN"/>
              <a:t>“</a:t>
            </a:r>
            <a:r>
              <a:rPr lang="zh-CN" altLang="en-US"/>
              <a:t>解量化</a:t>
            </a:r>
            <a:r>
              <a:rPr lang="en-US" altLang="zh-CN"/>
              <a:t>+</a:t>
            </a:r>
            <a:r>
              <a:rPr lang="zh-CN" altLang="en-US"/>
              <a:t>运算</a:t>
            </a:r>
            <a:r>
              <a:rPr lang="en-US" altLang="zh-CN"/>
              <a:t>”</a:t>
            </a:r>
            <a:r>
              <a:rPr lang="zh-CN" altLang="en-US"/>
              <a:t>的融合核占比</a:t>
            </a:r>
            <a:endParaRPr lang="zh-CN" altLang="en-US"/>
          </a:p>
          <a:p>
            <a:pPr lvl="0"/>
            <a:r>
              <a:rPr lang="zh-CN" altLang="en-US"/>
              <a:t>硬件</a:t>
            </a:r>
            <a:r>
              <a:rPr lang="en-US" altLang="zh-CN"/>
              <a:t>/</a:t>
            </a:r>
            <a:r>
              <a:rPr lang="zh-CN" altLang="en-US"/>
              <a:t>内核级性能计数与利用率</a:t>
            </a:r>
            <a:endParaRPr lang="zh-CN" altLang="en-US"/>
          </a:p>
          <a:p>
            <a:pPr lvl="1"/>
            <a:r>
              <a:rPr lang="en-US" altLang="zh-CN"/>
              <a:t>ALU utilization / ALU stall / ALU limiter</a:t>
            </a:r>
            <a:endParaRPr lang="en-US" altLang="zh-CN"/>
          </a:p>
          <a:p>
            <a:pPr lvl="1"/>
            <a:r>
              <a:rPr lang="en-US" altLang="zh-CN"/>
              <a:t>FP32 / INT </a:t>
            </a:r>
            <a:r>
              <a:rPr lang="zh-CN" altLang="en-US"/>
              <a:t>利用率</a:t>
            </a:r>
            <a:endParaRPr lang="zh-CN" altLang="en-US"/>
          </a:p>
          <a:p>
            <a:pPr lvl="1"/>
            <a:r>
              <a:rPr lang="en-US" altLang="zh-CN"/>
              <a:t>Buffer load utilization </a:t>
            </a:r>
            <a:r>
              <a:rPr lang="zh-CN" altLang="en-US"/>
              <a:t>与</a:t>
            </a:r>
            <a:r>
              <a:rPr lang="en-US" altLang="zh-CN"/>
              <a:t> Buffer read limiter</a:t>
            </a:r>
            <a:r>
              <a:rPr lang="zh-CN" altLang="en-US"/>
              <a:t>＋</a:t>
            </a:r>
            <a:r>
              <a:rPr lang="en-US" altLang="zh-CN"/>
              <a:t>occupancy</a:t>
            </a:r>
            <a:endParaRPr lang="en-US" altLang="zh-CN"/>
          </a:p>
          <a:p>
            <a:pPr lvl="1"/>
            <a:r>
              <a:rPr lang="en-US" altLang="zh-CN"/>
              <a:t>Roofline / Arithmetic Intensity</a:t>
            </a:r>
            <a:endParaRPr lang="en-US" altLang="zh-CN"/>
          </a:p>
          <a:p>
            <a:pPr lvl="2"/>
            <a:r>
              <a:rPr lang="zh-CN" altLang="en-US"/>
              <a:t>建立解码阶段各组件的算力密度，判定计算受限还是内存受限。</a:t>
            </a:r>
            <a:endParaRPr lang="zh-CN" altLang="en-US"/>
          </a:p>
          <a:p>
            <a:pPr lvl="1"/>
            <a:r>
              <a:rPr lang="zh-CN" altLang="en-US"/>
              <a:t>指令层面开销</a:t>
            </a:r>
            <a:endParaRPr lang="zh-CN" altLang="en-US"/>
          </a:p>
          <a:p>
            <a:pPr lvl="1"/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notes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lvl="1"/>
            <a:endParaRPr lang="zh-CN" altLang="en-US" sz="1800"/>
          </a:p>
          <a:p>
            <a:pPr lvl="1"/>
            <a:r>
              <a:rPr lang="en-US" altLang="zh-CN" sz="1800">
                <a:sym typeface="+mn-ea"/>
              </a:rPr>
              <a:t>challenge</a:t>
            </a:r>
            <a:r>
              <a:rPr lang="zh-CN" altLang="en-US" sz="1800">
                <a:sym typeface="+mn-ea"/>
              </a:rPr>
              <a:t>：</a:t>
            </a:r>
            <a:endParaRPr lang="zh-CN" altLang="en-US" sz="1800">
              <a:sym typeface="+mn-ea"/>
            </a:endParaRPr>
          </a:p>
          <a:p>
            <a:pPr lvl="2"/>
            <a:r>
              <a:rPr lang="en-US" altLang="zh-CN" sz="1575"/>
              <a:t>NPU</a:t>
            </a:r>
            <a:r>
              <a:rPr lang="zh-CN" altLang="en-US" sz="1575"/>
              <a:t>缺乏</a:t>
            </a:r>
            <a:r>
              <a:rPr lang="en-US" altLang="zh-CN" sz="1575"/>
              <a:t>API</a:t>
            </a:r>
            <a:r>
              <a:rPr lang="zh-CN" altLang="en-US" sz="1575"/>
              <a:t>，缺乏成熟</a:t>
            </a:r>
            <a:r>
              <a:rPr lang="en-US" altLang="zh-CN" sz="1575"/>
              <a:t>Profiler</a:t>
            </a:r>
            <a:r>
              <a:rPr lang="zh-CN" altLang="en-US" sz="1575"/>
              <a:t>支持</a:t>
            </a:r>
            <a:endParaRPr lang="zh-CN" altLang="en-US" sz="1575"/>
          </a:p>
          <a:p>
            <a:pPr lvl="2"/>
            <a:r>
              <a:rPr lang="zh-CN" altLang="en-US" sz="1800">
                <a:sym typeface="+mn-ea"/>
              </a:rPr>
              <a:t>多种</a:t>
            </a:r>
            <a:r>
              <a:rPr lang="en-US" altLang="zh-CN" sz="1800">
                <a:sym typeface="+mn-ea"/>
              </a:rPr>
              <a:t>NPU</a:t>
            </a:r>
            <a:r>
              <a:rPr lang="zh-CN" altLang="en-US" sz="1800">
                <a:sym typeface="+mn-ea"/>
              </a:rPr>
              <a:t>，不同</a:t>
            </a:r>
            <a:r>
              <a:rPr lang="en-US" altLang="zh-CN" sz="1800">
                <a:sym typeface="+mn-ea"/>
              </a:rPr>
              <a:t>IP</a:t>
            </a:r>
            <a:r>
              <a:rPr lang="zh-CN" altLang="en-US" sz="1800">
                <a:sym typeface="+mn-ea"/>
              </a:rPr>
              <a:t>差别大</a:t>
            </a:r>
            <a:endParaRPr lang="zh-CN" altLang="en-US" sz="1800">
              <a:sym typeface="+mn-ea"/>
            </a:endParaRPr>
          </a:p>
          <a:p>
            <a:pPr lvl="2"/>
            <a:r>
              <a:rPr lang="zh-CN" altLang="en-US" sz="1800">
                <a:sym typeface="+mn-ea"/>
              </a:rPr>
              <a:t>驱动信息量</a:t>
            </a:r>
            <a:r>
              <a:rPr lang="zh-CN" altLang="en-US" sz="1800">
                <a:sym typeface="+mn-ea"/>
              </a:rPr>
              <a:t>少</a:t>
            </a:r>
            <a:endParaRPr lang="zh-CN" altLang="en-US" sz="1800">
              <a:sym typeface="+mn-ea"/>
            </a:endParaRPr>
          </a:p>
          <a:p>
            <a:pPr lvl="2"/>
            <a:r>
              <a:rPr lang="en-US" altLang="zh-CN" sz="1800">
                <a:sym typeface="+mn-ea"/>
              </a:rPr>
              <a:t>PMU</a:t>
            </a:r>
            <a:r>
              <a:rPr lang="zh-CN" altLang="en-US" sz="1800">
                <a:sym typeface="+mn-ea"/>
              </a:rPr>
              <a:t>粒度</a:t>
            </a:r>
            <a:endParaRPr lang="zh-CN" altLang="en-US" sz="1800">
              <a:sym typeface="+mn-ea"/>
            </a:endParaRPr>
          </a:p>
          <a:p>
            <a:pPr lvl="2"/>
            <a:r>
              <a:rPr lang="en-US" altLang="zh-CN" sz="1800">
                <a:sym typeface="+mn-ea"/>
              </a:rPr>
              <a:t>LLM</a:t>
            </a:r>
            <a:r>
              <a:rPr lang="zh-CN" altLang="en-US" sz="1800">
                <a:sym typeface="+mn-ea"/>
              </a:rPr>
              <a:t>部署</a:t>
            </a:r>
            <a:r>
              <a:rPr lang="zh-CN" altLang="en-US" sz="1800">
                <a:sym typeface="+mn-ea"/>
              </a:rPr>
              <a:t>难度</a:t>
            </a:r>
            <a:endParaRPr lang="zh-CN" altLang="en-US" sz="1800">
              <a:sym typeface="+mn-ea"/>
            </a:endParaRPr>
          </a:p>
          <a:p>
            <a:pPr lvl="1"/>
            <a:r>
              <a:rPr lang="en-US" altLang="zh-CN" sz="1800">
                <a:sym typeface="+mn-ea"/>
              </a:rPr>
              <a:t>contribution</a:t>
            </a:r>
            <a:r>
              <a:rPr lang="zh-CN" altLang="en-US" sz="1800">
                <a:sym typeface="+mn-ea"/>
              </a:rPr>
              <a:t>：</a:t>
            </a:r>
            <a:endParaRPr lang="zh-CN" altLang="en-US" sz="1800">
              <a:sym typeface="+mn-ea"/>
            </a:endParaRPr>
          </a:p>
          <a:p>
            <a:pPr lvl="2"/>
            <a:r>
              <a:rPr lang="en-US" altLang="zh-CN" sz="1800">
                <a:sym typeface="+mn-ea"/>
              </a:rPr>
              <a:t>kernel framework</a:t>
            </a:r>
            <a:r>
              <a:rPr lang="zh-CN" altLang="en-US" sz="1800">
                <a:sym typeface="+mn-ea"/>
              </a:rPr>
              <a:t>：修改</a:t>
            </a:r>
            <a:r>
              <a:rPr lang="en-US" altLang="zh-CN" sz="1800">
                <a:sym typeface="+mn-ea"/>
              </a:rPr>
              <a:t>kernel</a:t>
            </a:r>
            <a:r>
              <a:rPr lang="zh-CN" altLang="en-US" sz="1800">
                <a:sym typeface="+mn-ea"/>
              </a:rPr>
              <a:t>来实现</a:t>
            </a:r>
            <a:r>
              <a:rPr lang="en-US" altLang="zh-CN" sz="1800">
                <a:sym typeface="+mn-ea"/>
              </a:rPr>
              <a:t>NPU</a:t>
            </a:r>
            <a:r>
              <a:rPr lang="zh-CN" altLang="en-US" sz="1800">
                <a:sym typeface="+mn-ea"/>
              </a:rPr>
              <a:t>测量框架（</a:t>
            </a:r>
            <a:r>
              <a:rPr lang="en-US" altLang="zh-CN" sz="1800">
                <a:sym typeface="+mn-ea"/>
              </a:rPr>
              <a:t>technique</a:t>
            </a:r>
            <a:r>
              <a:rPr lang="zh-CN" altLang="en-US" sz="1800">
                <a:sym typeface="+mn-ea"/>
              </a:rPr>
              <a:t>）</a:t>
            </a:r>
            <a:endParaRPr lang="zh-CN" altLang="en-US" sz="1800">
              <a:sym typeface="+mn-ea"/>
            </a:endParaRPr>
          </a:p>
          <a:p>
            <a:pPr lvl="2"/>
            <a:r>
              <a:rPr lang="en-US" altLang="zh-CN" sz="1800">
                <a:sym typeface="+mn-ea"/>
              </a:rPr>
              <a:t>Profiling Skill</a:t>
            </a:r>
            <a:r>
              <a:rPr lang="zh-CN" altLang="en-US" sz="1800">
                <a:sym typeface="+mn-ea"/>
              </a:rPr>
              <a:t>放到</a:t>
            </a:r>
            <a:r>
              <a:rPr lang="en-US" altLang="zh-CN" sz="1800">
                <a:sym typeface="+mn-ea"/>
              </a:rPr>
              <a:t>LM</a:t>
            </a:r>
            <a:r>
              <a:rPr lang="zh-CN" altLang="en-US" sz="1800">
                <a:sym typeface="+mn-ea"/>
              </a:rPr>
              <a:t>场景，</a:t>
            </a:r>
            <a:r>
              <a:rPr lang="en-US" altLang="zh-CN" sz="1800">
                <a:sym typeface="+mn-ea"/>
              </a:rPr>
              <a:t>Multiple NPU</a:t>
            </a:r>
            <a:endParaRPr lang="zh-CN" altLang="en-US" sz="1800">
              <a:sym typeface="+mn-ea"/>
            </a:endParaRPr>
          </a:p>
          <a:p>
            <a:pPr lvl="2"/>
            <a:r>
              <a:rPr lang="en-US" altLang="zh-CN" sz="1800">
                <a:sym typeface="+mn-ea"/>
              </a:rPr>
              <a:t>implications</a:t>
            </a:r>
            <a:endParaRPr lang="en-US" altLang="zh-CN" sz="1800">
              <a:sym typeface="+mn-ea"/>
            </a:endParaRPr>
          </a:p>
          <a:p>
            <a:pPr lvl="2"/>
            <a:r>
              <a:rPr lang="en-US" altLang="zh-CN" sz="1800">
                <a:sym typeface="+mn-ea"/>
              </a:rPr>
              <a:t>LLM</a:t>
            </a:r>
            <a:r>
              <a:rPr lang="zh-CN" altLang="en-US" sz="1800">
                <a:sym typeface="+mn-ea"/>
              </a:rPr>
              <a:t>部署</a:t>
            </a:r>
            <a:endParaRPr lang="zh-CN" altLang="en-US" sz="1575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测量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708095" y="1490400"/>
            <a:ext cx="10969200" cy="4759200"/>
          </a:xfrm>
        </p:spPr>
        <p:txBody>
          <a:bodyPr/>
          <a:p>
            <a:r>
              <a:rPr lang="zh-CN" altLang="en-US"/>
              <a:t>不同</a:t>
            </a:r>
            <a:r>
              <a:rPr lang="en-US" altLang="zh-CN"/>
              <a:t> bit </a:t>
            </a:r>
            <a:r>
              <a:rPr lang="zh-CN" altLang="en-US"/>
              <a:t>宽</a:t>
            </a:r>
            <a:r>
              <a:rPr lang="en-US" altLang="zh-CN"/>
              <a:t>/</a:t>
            </a:r>
            <a:r>
              <a:rPr lang="zh-CN" altLang="en-US"/>
              <a:t>方案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95" y="2063115"/>
            <a:ext cx="9811385" cy="902970"/>
          </a:xfrm>
          <a:prstGeom prst="rect">
            <a:avLst/>
          </a:prstGeom>
        </p:spPr>
      </p:pic>
      <p:pic>
        <p:nvPicPr>
          <p:cNvPr id="5" name="内容占位符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12495" y="2966085"/>
            <a:ext cx="10968990" cy="34099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8440" y="3173095"/>
            <a:ext cx="10968990" cy="3309620"/>
          </a:xfrm>
          <a:prstGeom prst="rect">
            <a:avLst/>
          </a:prstGeom>
        </p:spPr>
      </p:pic>
      <p:pic>
        <p:nvPicPr>
          <p:cNvPr id="3" name="内容占位符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18440" y="217170"/>
            <a:ext cx="10968990" cy="272605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带宽受限</a:t>
            </a:r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推测：越是</a:t>
            </a:r>
            <a:r>
              <a:rPr lang="en-US" altLang="zh-CN"/>
              <a:t>Compute intensive</a:t>
            </a:r>
            <a:r>
              <a:rPr lang="zh-CN" altLang="en-US"/>
              <a:t>的算子，</a:t>
            </a:r>
            <a:r>
              <a:rPr lang="en-US" altLang="zh-CN"/>
              <a:t>NPU</a:t>
            </a:r>
            <a:r>
              <a:rPr lang="zh-CN" altLang="en-US"/>
              <a:t>相比</a:t>
            </a:r>
            <a:r>
              <a:rPr lang="en-US" altLang="zh-CN"/>
              <a:t>CPU</a:t>
            </a:r>
            <a:r>
              <a:rPr lang="zh-CN" altLang="en-US"/>
              <a:t>的优势越明显，越是</a:t>
            </a:r>
            <a:r>
              <a:rPr lang="en-US" altLang="zh-CN"/>
              <a:t>memory intensive</a:t>
            </a:r>
            <a:r>
              <a:rPr lang="zh-CN" altLang="en-US"/>
              <a:t>的算子，</a:t>
            </a:r>
            <a:r>
              <a:rPr lang="en-US" altLang="zh-CN"/>
              <a:t>NPU</a:t>
            </a:r>
            <a:r>
              <a:rPr lang="zh-CN" altLang="en-US"/>
              <a:t>的优势就越小，甚至是</a:t>
            </a:r>
            <a:r>
              <a:rPr lang="zh-CN" altLang="en-US"/>
              <a:t>劣势。</a:t>
            </a:r>
            <a:endParaRPr lang="zh-CN" altLang="en-US"/>
          </a:p>
          <a:p>
            <a:pPr lvl="1"/>
            <a:r>
              <a:rPr lang="en-US" altLang="zh-CN"/>
              <a:t>Conv NPU</a:t>
            </a:r>
            <a:r>
              <a:rPr lang="zh-CN" altLang="en-US"/>
              <a:t>比</a:t>
            </a:r>
            <a:r>
              <a:rPr lang="en-US" altLang="zh-CN"/>
              <a:t>CPU</a:t>
            </a:r>
            <a:r>
              <a:rPr lang="zh-CN" altLang="en-US"/>
              <a:t>算的快</a:t>
            </a:r>
            <a:r>
              <a:rPr lang="zh-CN" altLang="en-US"/>
              <a:t>很多</a:t>
            </a:r>
            <a:endParaRPr lang="zh-CN" altLang="en-US"/>
          </a:p>
          <a:p>
            <a:pPr lvl="1"/>
            <a:r>
              <a:rPr lang="zh-CN" altLang="en-US"/>
              <a:t>只有</a:t>
            </a:r>
            <a:r>
              <a:rPr lang="en-US" altLang="zh-CN"/>
              <a:t>Conv2d</a:t>
            </a:r>
            <a:r>
              <a:rPr lang="zh-CN" altLang="en-US"/>
              <a:t>和</a:t>
            </a:r>
            <a:r>
              <a:rPr lang="en-US" altLang="zh-CN"/>
              <a:t>FullyConnected </a:t>
            </a:r>
            <a:r>
              <a:rPr lang="zh-CN" altLang="en-US"/>
              <a:t>是</a:t>
            </a:r>
            <a:r>
              <a:rPr lang="en-US" altLang="zh-CN"/>
              <a:t>Compute intensive</a:t>
            </a:r>
            <a:r>
              <a:rPr lang="zh-CN" altLang="en-US"/>
              <a:t>（带偏置激活的</a:t>
            </a:r>
            <a:r>
              <a:rPr lang="en-US" altLang="zh-CN"/>
              <a:t>MatMul/GEMM</a:t>
            </a:r>
            <a:r>
              <a:rPr lang="zh-CN" altLang="en-US"/>
              <a:t>）的，所以在</a:t>
            </a:r>
            <a:r>
              <a:rPr lang="en-US" altLang="zh-CN"/>
              <a:t>Ethos U65</a:t>
            </a:r>
            <a:r>
              <a:rPr lang="zh-CN" altLang="en-US"/>
              <a:t>上能得到加速，但是对于其它的</a:t>
            </a:r>
            <a:r>
              <a:rPr lang="en-US" altLang="zh-CN"/>
              <a:t>Memory intensive</a:t>
            </a:r>
            <a:r>
              <a:rPr lang="zh-CN" altLang="en-US"/>
              <a:t>的，</a:t>
            </a:r>
            <a:r>
              <a:rPr lang="en-US" altLang="zh-CN"/>
              <a:t>NPU</a:t>
            </a:r>
            <a:r>
              <a:rPr lang="zh-CN" altLang="en-US"/>
              <a:t>就不如</a:t>
            </a:r>
            <a:r>
              <a:rPr lang="en-US" altLang="zh-CN"/>
              <a:t>CPU</a:t>
            </a:r>
            <a:r>
              <a:rPr lang="zh-CN" altLang="en-US"/>
              <a:t>了</a:t>
            </a:r>
            <a:endParaRPr lang="zh-CN" altLang="en-US"/>
          </a:p>
          <a:p>
            <a:pPr lvl="1"/>
            <a:r>
              <a:rPr lang="zh-CN" altLang="en-US"/>
              <a:t>就是因为前者是</a:t>
            </a:r>
            <a:r>
              <a:rPr lang="en-US" altLang="zh-CN"/>
              <a:t>compute intensive 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后者是</a:t>
            </a:r>
            <a:r>
              <a:rPr lang="en-US" altLang="zh-CN"/>
              <a:t>memory </a:t>
            </a:r>
            <a:r>
              <a:rPr lang="en-US" altLang="zh-CN"/>
              <a:t>intensive</a:t>
            </a:r>
            <a:endParaRPr lang="en-US" altLang="zh-CN"/>
          </a:p>
          <a:p>
            <a:pPr lvl="2"/>
            <a:r>
              <a:rPr lang="zh-CN" altLang="en-US"/>
              <a:t>最</a:t>
            </a:r>
            <a:r>
              <a:rPr lang="en-US" altLang="zh-CN"/>
              <a:t>memory intensive</a:t>
            </a:r>
            <a:r>
              <a:rPr lang="zh-CN" altLang="en-US"/>
              <a:t>的算子可能是</a:t>
            </a:r>
            <a:r>
              <a:rPr lang="en-US" altLang="zh-CN"/>
              <a:t>Transpose</a:t>
            </a:r>
            <a:r>
              <a:rPr lang="zh-CN" altLang="en-US"/>
              <a:t>这种，但是无论是</a:t>
            </a:r>
            <a:r>
              <a:rPr lang="en-US" altLang="zh-CN"/>
              <a:t>Ethos U65</a:t>
            </a:r>
            <a:r>
              <a:rPr lang="zh-CN" altLang="en-US"/>
              <a:t>还是</a:t>
            </a:r>
            <a:r>
              <a:rPr lang="en-US" altLang="zh-CN"/>
              <a:t>RK3588</a:t>
            </a:r>
            <a:r>
              <a:rPr lang="zh-CN" altLang="en-US"/>
              <a:t>都不支持，不过</a:t>
            </a:r>
            <a:r>
              <a:rPr lang="en-US" altLang="zh-CN"/>
              <a:t>Ethos U85</a:t>
            </a:r>
            <a:r>
              <a:rPr lang="zh-CN" altLang="en-US"/>
              <a:t>支持，不过</a:t>
            </a:r>
            <a:r>
              <a:rPr lang="en-US" altLang="zh-CN"/>
              <a:t>U85</a:t>
            </a:r>
            <a:r>
              <a:rPr lang="zh-CN" altLang="en-US"/>
              <a:t>的主要优势之一就是带宽的</a:t>
            </a:r>
            <a:r>
              <a:rPr lang="zh-CN" altLang="en-US"/>
              <a:t>提升，而且如果能把</a:t>
            </a:r>
            <a:r>
              <a:rPr lang="en-US" altLang="zh-CN"/>
              <a:t>Transpose</a:t>
            </a:r>
            <a:r>
              <a:rPr lang="zh-CN" altLang="en-US"/>
              <a:t>也下发到</a:t>
            </a:r>
            <a:r>
              <a:rPr lang="en-US" altLang="zh-CN"/>
              <a:t>NPU</a:t>
            </a:r>
            <a:r>
              <a:rPr lang="zh-CN" altLang="en-US"/>
              <a:t>的话，</a:t>
            </a:r>
            <a:r>
              <a:rPr lang="en-US" altLang="zh-CN"/>
              <a:t>NPU</a:t>
            </a:r>
            <a:r>
              <a:rPr lang="zh-CN" altLang="en-US"/>
              <a:t>就可以进行各种算子层面或者内存层面的优化，调度也好算子融合也好，能够减少使用</a:t>
            </a:r>
            <a:r>
              <a:rPr lang="en-US" altLang="zh-CN"/>
              <a:t>DMA</a:t>
            </a:r>
            <a:r>
              <a:rPr lang="zh-CN" altLang="en-US"/>
              <a:t>读取内存（如果</a:t>
            </a:r>
            <a:r>
              <a:rPr lang="en-US" altLang="zh-CN"/>
              <a:t>Transpose</a:t>
            </a:r>
            <a:r>
              <a:rPr lang="zh-CN" altLang="en-US"/>
              <a:t>这类</a:t>
            </a:r>
            <a:r>
              <a:rPr lang="en-US" altLang="zh-CN"/>
              <a:t>Memory Intensive</a:t>
            </a:r>
            <a:r>
              <a:rPr lang="zh-CN" altLang="en-US"/>
              <a:t>的算子能在</a:t>
            </a:r>
            <a:r>
              <a:rPr lang="en-US" altLang="zh-CN"/>
              <a:t>NPU</a:t>
            </a:r>
            <a:r>
              <a:rPr lang="zh-CN" altLang="en-US"/>
              <a:t>自己的</a:t>
            </a:r>
            <a:r>
              <a:rPr lang="en-US" altLang="zh-CN"/>
              <a:t>SRAM</a:t>
            </a:r>
            <a:r>
              <a:rPr lang="zh-CN" altLang="en-US"/>
              <a:t>里算，速度肯定比要在外界内存中读取快多了，其它计算不密集的算子也是</a:t>
            </a:r>
            <a:r>
              <a:rPr lang="zh-CN" altLang="en-US"/>
              <a:t>这个道理）</a:t>
            </a:r>
            <a:endParaRPr lang="zh-CN" altLang="en-US"/>
          </a:p>
          <a:p>
            <a:pPr lvl="0"/>
            <a:r>
              <a:rPr lang="zh-CN" altLang="en-US"/>
              <a:t>和</a:t>
            </a:r>
            <a:r>
              <a:rPr lang="en-US" altLang="zh-CN"/>
              <a:t>CNN</a:t>
            </a:r>
            <a:r>
              <a:rPr lang="zh-CN" altLang="en-US"/>
              <a:t>的</a:t>
            </a:r>
            <a:r>
              <a:rPr lang="en-US" altLang="zh-CN"/>
              <a:t>Conv</a:t>
            </a:r>
            <a:r>
              <a:rPr lang="zh-CN" altLang="en-US"/>
              <a:t>相比，</a:t>
            </a:r>
            <a:r>
              <a:rPr lang="en-US" altLang="zh-CN"/>
              <a:t>Transformer</a:t>
            </a:r>
            <a:r>
              <a:rPr lang="zh-CN" altLang="en-US"/>
              <a:t>更偏向带宽</a:t>
            </a:r>
            <a:r>
              <a:rPr lang="zh-CN" altLang="en-US"/>
              <a:t>受限</a:t>
            </a:r>
            <a:endParaRPr lang="zh-CN" altLang="en-US"/>
          </a:p>
          <a:p>
            <a:pPr lvl="2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 sz="2665"/>
              <a:t>为啥</a:t>
            </a:r>
            <a:r>
              <a:rPr lang="en-US" altLang="zh-CN" sz="2665"/>
              <a:t>Ethos U85</a:t>
            </a:r>
            <a:r>
              <a:rPr lang="zh-CN" altLang="en-US" sz="2665"/>
              <a:t>能支持</a:t>
            </a:r>
            <a:r>
              <a:rPr lang="en-US" altLang="zh-CN" sz="2665"/>
              <a:t>Transformer</a:t>
            </a:r>
            <a:r>
              <a:rPr lang="zh-CN" altLang="en-US" sz="2665"/>
              <a:t>，</a:t>
            </a:r>
            <a:r>
              <a:rPr lang="en-US" altLang="zh-CN" sz="2665"/>
              <a:t>Ethos U65</a:t>
            </a:r>
            <a:r>
              <a:rPr lang="zh-CN" altLang="en-US" sz="2665"/>
              <a:t>就不行？</a:t>
            </a:r>
            <a:endParaRPr lang="zh-CN" altLang="en-US" sz="2665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不只是</a:t>
            </a:r>
            <a:r>
              <a:rPr lang="en-US" altLang="zh-CN"/>
              <a:t>U85</a:t>
            </a:r>
            <a:r>
              <a:rPr lang="zh-CN" altLang="en-US"/>
              <a:t>的算力强：</a:t>
            </a:r>
            <a:r>
              <a:rPr lang="en-US" altLang="zh-CN"/>
              <a:t>4TOPS</a:t>
            </a:r>
            <a:r>
              <a:rPr lang="zh-CN" altLang="en-US"/>
              <a:t>，对比</a:t>
            </a:r>
            <a:r>
              <a:rPr lang="en-US" altLang="zh-CN"/>
              <a:t>U65</a:t>
            </a:r>
            <a:r>
              <a:rPr lang="zh-CN" altLang="en-US"/>
              <a:t>的</a:t>
            </a:r>
            <a:r>
              <a:rPr lang="en-US" altLang="zh-CN"/>
              <a:t>0.5TOPS</a:t>
            </a:r>
            <a:r>
              <a:rPr lang="zh-CN" altLang="en-US"/>
              <a:t>和</a:t>
            </a:r>
            <a:r>
              <a:rPr lang="en-US" altLang="zh-CN"/>
              <a:t>U85</a:t>
            </a:r>
            <a:r>
              <a:rPr lang="zh-CN" altLang="en-US"/>
              <a:t>支持</a:t>
            </a:r>
            <a:r>
              <a:rPr lang="en-US" altLang="zh-CN"/>
              <a:t>MatMul</a:t>
            </a:r>
            <a:r>
              <a:rPr lang="zh-CN" altLang="en-US"/>
              <a:t>这种</a:t>
            </a:r>
            <a:r>
              <a:rPr lang="en-US" altLang="zh-CN"/>
              <a:t>Compute intensive</a:t>
            </a:r>
            <a:r>
              <a:rPr lang="zh-CN" altLang="en-US"/>
              <a:t>的而</a:t>
            </a:r>
            <a:r>
              <a:rPr lang="en-US" altLang="zh-CN"/>
              <a:t>U65</a:t>
            </a:r>
            <a:r>
              <a:rPr lang="zh-CN" altLang="en-US"/>
              <a:t>不支持。</a:t>
            </a:r>
            <a:endParaRPr lang="zh-CN" altLang="en-US"/>
          </a:p>
          <a:p>
            <a:r>
              <a:rPr lang="en-US" altLang="zh-CN"/>
              <a:t>Ethos U85</a:t>
            </a:r>
            <a:r>
              <a:rPr lang="zh-CN" altLang="en-US"/>
              <a:t>的带宽比</a:t>
            </a:r>
            <a:r>
              <a:rPr lang="en-US" altLang="zh-CN"/>
              <a:t>U65</a:t>
            </a:r>
            <a:r>
              <a:rPr lang="zh-CN" altLang="en-US"/>
              <a:t>强很多，说明它针对</a:t>
            </a:r>
            <a:r>
              <a:rPr lang="en-US" altLang="zh-CN"/>
              <a:t>Memory Intensive</a:t>
            </a:r>
            <a:r>
              <a:rPr lang="zh-CN" altLang="en-US"/>
              <a:t>的</a:t>
            </a:r>
            <a:r>
              <a:rPr lang="en-US" altLang="zh-CN"/>
              <a:t>operator</a:t>
            </a:r>
            <a:r>
              <a:rPr lang="zh-CN" altLang="en-US"/>
              <a:t>速度也会比</a:t>
            </a:r>
            <a:r>
              <a:rPr lang="en-US" altLang="zh-CN"/>
              <a:t>U65</a:t>
            </a:r>
            <a:r>
              <a:rPr lang="zh-CN" altLang="en-US"/>
              <a:t>强很多</a:t>
            </a:r>
            <a:endParaRPr lang="zh-CN" altLang="en-US"/>
          </a:p>
          <a:p>
            <a:pPr lvl="1"/>
            <a:r>
              <a:rPr lang="en-US" altLang="zh-CN"/>
              <a:t>U85</a:t>
            </a:r>
            <a:r>
              <a:rPr lang="zh-CN" altLang="en-US"/>
              <a:t>：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AXI</a:t>
            </a:r>
            <a:r>
              <a:rPr lang="zh-CN" altLang="en-US"/>
              <a:t>，每个都支持</a:t>
            </a:r>
            <a:r>
              <a:rPr lang="zh-CN" altLang="en-US"/>
              <a:t>读写（分为</a:t>
            </a:r>
            <a:r>
              <a:rPr lang="en-US" altLang="zh-CN"/>
              <a:t> EXT/</a:t>
            </a:r>
            <a:r>
              <a:rPr lang="zh-CN" altLang="en-US"/>
              <a:t>外存</a:t>
            </a:r>
            <a:r>
              <a:rPr lang="en-US" altLang="zh-CN"/>
              <a:t> </a:t>
            </a:r>
            <a:r>
              <a:rPr lang="zh-CN" altLang="en-US"/>
              <a:t>与</a:t>
            </a:r>
            <a:r>
              <a:rPr lang="en-US" altLang="zh-CN"/>
              <a:t> SRAM/</a:t>
            </a:r>
            <a:r>
              <a:rPr lang="zh-CN" altLang="en-US"/>
              <a:t>片上存储两类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en-US" altLang="zh-CN"/>
              <a:t>u65 </a:t>
            </a:r>
            <a:r>
              <a:rPr lang="zh-CN" altLang="en-US"/>
              <a:t>：</a:t>
            </a:r>
            <a:r>
              <a:rPr lang="en-US" altLang="zh-CN"/>
              <a:t>DMA </a:t>
            </a:r>
            <a:r>
              <a:rPr lang="zh-CN" altLang="en-US"/>
              <a:t>只有两条</a:t>
            </a:r>
            <a:r>
              <a:rPr lang="en-US" altLang="zh-CN"/>
              <a:t> AXI </a:t>
            </a:r>
            <a:r>
              <a:rPr lang="zh-CN" altLang="en-US"/>
              <a:t>管理口。写通道固定走</a:t>
            </a:r>
            <a:r>
              <a:rPr lang="en-US" altLang="zh-CN"/>
              <a:t> AXI port 0</a:t>
            </a:r>
            <a:r>
              <a:rPr lang="zh-CN" altLang="en-US"/>
              <a:t>，读通道在</a:t>
            </a:r>
            <a:r>
              <a:rPr lang="en-US" altLang="zh-CN"/>
              <a:t> port 0/1 </a:t>
            </a:r>
            <a:r>
              <a:rPr lang="zh-CN" altLang="en-US"/>
              <a:t>之间择一</a:t>
            </a:r>
            <a:endParaRPr lang="zh-CN" altLang="en-US"/>
          </a:p>
          <a:p>
            <a:pPr lvl="1"/>
            <a:r>
              <a:rPr lang="zh-CN" altLang="en-US"/>
              <a:t>并发与带宽</a:t>
            </a:r>
            <a:r>
              <a:rPr lang="zh-CN" altLang="en-US"/>
              <a:t>放大</a:t>
            </a:r>
            <a:endParaRPr lang="zh-CN" altLang="en-US"/>
          </a:p>
          <a:p>
            <a:pPr lvl="2"/>
            <a:r>
              <a:rPr lang="zh-CN" altLang="en-US"/>
              <a:t>可配置的</a:t>
            </a:r>
            <a:r>
              <a:rPr lang="en-US" altLang="zh-CN"/>
              <a:t> max outstanding transactions</a:t>
            </a:r>
            <a:r>
              <a:rPr lang="zh-CN" altLang="en-US"/>
              <a:t>：</a:t>
            </a:r>
            <a:r>
              <a:rPr lang="en-US" altLang="zh-CN"/>
              <a:t>U85 </a:t>
            </a:r>
            <a:r>
              <a:rPr lang="zh-CN" altLang="en-US"/>
              <a:t>通过配置引脚</a:t>
            </a:r>
            <a:r>
              <a:rPr lang="en-US" altLang="zh-CN"/>
              <a:t> + </a:t>
            </a:r>
            <a:r>
              <a:rPr lang="zh-CN" altLang="en-US"/>
              <a:t>可编程寄存器限制</a:t>
            </a:r>
            <a:r>
              <a:rPr lang="en-US" altLang="zh-CN"/>
              <a:t>/</a:t>
            </a:r>
            <a:r>
              <a:rPr lang="zh-CN" altLang="en-US"/>
              <a:t>提升各类</a:t>
            </a:r>
            <a:r>
              <a:rPr lang="en-US" altLang="zh-CN"/>
              <a:t> AXI </a:t>
            </a:r>
            <a:r>
              <a:rPr lang="zh-CN" altLang="en-US"/>
              <a:t>口的并发未完成事务数，提升有效吞吐、隐藏总线时延。</a:t>
            </a:r>
            <a:endParaRPr lang="zh-CN" altLang="en-US"/>
          </a:p>
          <a:p>
            <a:pPr lvl="2"/>
            <a:r>
              <a:rPr lang="en-US" altLang="zh-CN"/>
              <a:t>AXI“striping”</a:t>
            </a:r>
            <a:r>
              <a:rPr lang="zh-CN" altLang="en-US"/>
              <a:t>：</a:t>
            </a:r>
            <a:r>
              <a:rPr lang="en-US" altLang="zh-CN"/>
              <a:t>U85 </a:t>
            </a:r>
            <a:r>
              <a:rPr lang="zh-CN" altLang="en-US"/>
              <a:t>文档提供跨多个</a:t>
            </a:r>
            <a:r>
              <a:rPr lang="en-US" altLang="zh-CN"/>
              <a:t> AXI </a:t>
            </a:r>
            <a:r>
              <a:rPr lang="zh-CN" altLang="en-US"/>
              <a:t>口条带化访问的说明，用多口并行把大张量拉满带宽。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875" y="5622290"/>
            <a:ext cx="9811385" cy="9029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00965"/>
            <a:ext cx="7101840" cy="3237865"/>
          </a:xfrm>
          <a:prstGeom prst="rect">
            <a:avLst/>
          </a:prstGeom>
        </p:spPr>
      </p:pic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5286375"/>
            <a:ext cx="10968990" cy="1374775"/>
          </a:xfrm>
          <a:prstGeom prst="rect">
            <a:avLst/>
          </a:prstGeom>
        </p:spPr>
      </p:pic>
      <p:pic>
        <p:nvPicPr>
          <p:cNvPr id="6" name="内容占位符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3304540"/>
            <a:ext cx="7343140" cy="255143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RK3588</a:t>
            </a:r>
            <a:r>
              <a:rPr lang="zh-CN" altLang="en-US"/>
              <a:t>：能看到不同算子</a:t>
            </a:r>
            <a:r>
              <a:rPr lang="en-US" altLang="zh-CN"/>
              <a:t>NPU</a:t>
            </a:r>
            <a:r>
              <a:rPr lang="zh-CN" altLang="en-US"/>
              <a:t>对</a:t>
            </a:r>
            <a:r>
              <a:rPr lang="en-US" altLang="zh-CN"/>
              <a:t>CPU</a:t>
            </a:r>
            <a:r>
              <a:rPr lang="zh-CN" altLang="en-US"/>
              <a:t>的加速</a:t>
            </a:r>
            <a:r>
              <a:rPr lang="zh-CN" altLang="en-US"/>
              <a:t>比</a:t>
            </a:r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685165" y="1313815"/>
            <a:ext cx="10892155" cy="53060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CPU</a:t>
            </a:r>
            <a:r>
              <a:rPr lang="zh-CN" altLang="en-US"/>
              <a:t>对应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932940" y="1313498"/>
            <a:ext cx="7486650" cy="54768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RK3588</a:t>
            </a:r>
            <a:r>
              <a:rPr lang="zh-CN" altLang="en-US"/>
              <a:t>上，算子也不全是</a:t>
            </a:r>
            <a:r>
              <a:rPr lang="en-US" altLang="zh-CN"/>
              <a:t>NPU</a:t>
            </a:r>
            <a:r>
              <a:rPr lang="zh-CN" altLang="en-US"/>
              <a:t>比</a:t>
            </a:r>
            <a:r>
              <a:rPr lang="en-US" altLang="zh-CN"/>
              <a:t>CPU</a:t>
            </a:r>
            <a:r>
              <a:rPr lang="zh-CN" altLang="en-US"/>
              <a:t>快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4780" y="1680210"/>
            <a:ext cx="11896090" cy="22974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ASCEND310</a:t>
            </a:r>
            <a:r>
              <a:rPr lang="en-US" altLang="zh-CN"/>
              <a:t>B</a:t>
            </a:r>
            <a:endParaRPr lang="en-US" altLang="zh-CN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5585" y="2106295"/>
            <a:ext cx="11521440" cy="24879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INT8</a:t>
            </a:r>
            <a:r>
              <a:rPr lang="zh-CN" altLang="en-US"/>
              <a:t>推理不如</a:t>
            </a:r>
            <a:r>
              <a:rPr lang="en-US" altLang="zh-CN"/>
              <a:t>FP16</a:t>
            </a:r>
            <a:r>
              <a:rPr lang="zh-CN" altLang="en-US"/>
              <a:t>的</a:t>
            </a:r>
            <a:r>
              <a:rPr lang="zh-CN" altLang="en-US"/>
              <a:t>快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01570" y="1883410"/>
            <a:ext cx="7381875" cy="39719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SoftMax</a:t>
            </a:r>
            <a:r>
              <a:rPr lang="zh-CN" altLang="en-US"/>
              <a:t>和</a:t>
            </a:r>
            <a:r>
              <a:rPr lang="en-US" altLang="zh-CN"/>
              <a:t>EWOP</a:t>
            </a:r>
            <a:r>
              <a:rPr lang="zh-CN" altLang="en-US"/>
              <a:t>是</a:t>
            </a:r>
            <a:r>
              <a:rPr lang="zh-CN" altLang="en-US"/>
              <a:t>大头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82545" y="1856740"/>
            <a:ext cx="7019925" cy="12858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2545" y="5683885"/>
            <a:ext cx="7181850" cy="8667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870" y="5071110"/>
            <a:ext cx="7086600" cy="7143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ASCEND310B VIT W8A8</a:t>
            </a:r>
            <a:r>
              <a:rPr lang="zh-CN" altLang="en-US"/>
              <a:t>推理</a:t>
            </a:r>
            <a:r>
              <a:rPr lang="en-US" altLang="zh-CN"/>
              <a:t> </a:t>
            </a:r>
            <a:r>
              <a:rPr lang="zh-CN" altLang="en-US"/>
              <a:t>三线程</a:t>
            </a:r>
            <a:r>
              <a:rPr lang="en-US" altLang="zh-CN"/>
              <a:t>onnx</a:t>
            </a:r>
            <a:r>
              <a:rPr lang="en-US" altLang="zh-CN"/>
              <a:t>runtime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391920"/>
            <a:ext cx="7562850" cy="10953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3317875"/>
            <a:ext cx="10839450" cy="762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72160" y="27489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FP32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22020" y="46583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FP16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5344160"/>
            <a:ext cx="10610850" cy="8477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测量实时</a:t>
            </a:r>
            <a:r>
              <a:rPr lang="en-US" altLang="zh-CN"/>
              <a:t>TOPS</a:t>
            </a:r>
            <a:r>
              <a:rPr lang="zh-CN" altLang="en-US"/>
              <a:t>？测</a:t>
            </a:r>
            <a:r>
              <a:rPr lang="en-US" altLang="zh-CN"/>
              <a:t>MAC</a:t>
            </a:r>
            <a:r>
              <a:rPr lang="zh-CN" altLang="en-US"/>
              <a:t>和</a:t>
            </a:r>
            <a:r>
              <a:rPr lang="en-US" altLang="zh-CN"/>
              <a:t>Cycle </a:t>
            </a:r>
            <a:r>
              <a:rPr lang="en-US" altLang="zh-CN"/>
              <a:t>Counts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Cycle Counts</a:t>
            </a:r>
            <a:r>
              <a:rPr lang="zh-CN" altLang="en-US">
                <a:sym typeface="+mn-ea"/>
              </a:rPr>
              <a:t>可以直接开</a:t>
            </a:r>
            <a:r>
              <a:rPr lang="en-US" altLang="zh-CN">
                <a:sym typeface="+mn-ea"/>
              </a:rPr>
              <a:t>Cycle Counter</a:t>
            </a:r>
            <a:r>
              <a:rPr lang="zh-CN" altLang="en-US">
                <a:sym typeface="+mn-ea"/>
              </a:rPr>
              <a:t>测</a:t>
            </a:r>
            <a:endParaRPr lang="zh-CN" altLang="en-US">
              <a:sym typeface="+mn-ea"/>
            </a:endParaRPr>
          </a:p>
          <a:p>
            <a:r>
              <a:rPr lang="en-US" altLang="zh-CN"/>
              <a:t>MAC</a:t>
            </a:r>
            <a:r>
              <a:rPr lang="zh-CN" altLang="en-US"/>
              <a:t>只能从</a:t>
            </a:r>
            <a:r>
              <a:rPr lang="en-US" altLang="zh-CN"/>
              <a:t>Vela</a:t>
            </a:r>
            <a:r>
              <a:rPr lang="zh-CN" altLang="en-US"/>
              <a:t>的报告里得到估计值</a:t>
            </a:r>
            <a:endParaRPr lang="zh-CN" altLang="en-US"/>
          </a:p>
          <a:p>
            <a:r>
              <a:rPr lang="zh-CN" altLang="en-US">
                <a:sym typeface="+mn-ea"/>
              </a:rPr>
              <a:t>测</a:t>
            </a:r>
            <a:r>
              <a:rPr lang="en-US" altLang="zh-CN">
                <a:sym typeface="+mn-ea"/>
              </a:rPr>
              <a:t>bandwidth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直接用</a:t>
            </a:r>
            <a:r>
              <a:rPr lang="en-US" altLang="zh-CN">
                <a:sym typeface="+mn-ea"/>
              </a:rPr>
              <a:t>PMU</a:t>
            </a:r>
            <a:r>
              <a:rPr lang="zh-CN" altLang="en-US">
                <a:sym typeface="+mn-ea"/>
              </a:rPr>
              <a:t>测</a:t>
            </a:r>
            <a:endParaRPr lang="zh-CN" altLang="en-US"/>
          </a:p>
          <a:p>
            <a:pPr lvl="1"/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不同端侧推理引擎和不同</a:t>
            </a:r>
            <a:r>
              <a:rPr lang="en-US" altLang="zh-CN"/>
              <a:t>NPU</a:t>
            </a:r>
            <a:r>
              <a:rPr lang="zh-CN" altLang="en-US"/>
              <a:t>会造成精度</a:t>
            </a:r>
            <a:r>
              <a:rPr lang="zh-CN" altLang="en-US"/>
              <a:t>不同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算子实现方式可能</a:t>
            </a:r>
            <a:r>
              <a:rPr lang="zh-CN" altLang="en-US"/>
              <a:t>不一样</a:t>
            </a:r>
            <a:endParaRPr lang="zh-CN" altLang="en-US"/>
          </a:p>
          <a:p>
            <a:r>
              <a:rPr lang="zh-CN" altLang="en-US"/>
              <a:t>细节</a:t>
            </a:r>
            <a:r>
              <a:rPr lang="zh-CN" altLang="en-US"/>
              <a:t>不一样</a:t>
            </a:r>
            <a:endParaRPr lang="zh-CN" altLang="en-US"/>
          </a:p>
          <a:p>
            <a:r>
              <a:rPr lang="zh-CN" altLang="en-US"/>
              <a:t>量化方法</a:t>
            </a:r>
            <a:r>
              <a:rPr lang="zh-CN" altLang="en-US"/>
              <a:t>不一样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Transformer</a:t>
            </a:r>
            <a:r>
              <a:rPr lang="zh-CN" altLang="en-US"/>
              <a:t>＋</a:t>
            </a:r>
            <a:r>
              <a:rPr lang="en-US" altLang="zh-CN"/>
              <a:t>INT8</a:t>
            </a:r>
            <a:r>
              <a:rPr lang="zh-CN" altLang="en-US"/>
              <a:t>会影响</a:t>
            </a:r>
            <a:r>
              <a:rPr lang="zh-CN" altLang="en-US"/>
              <a:t>精度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82190" y="2683510"/>
            <a:ext cx="7620000" cy="23717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Profiling GPU</a:t>
            </a:r>
            <a:r>
              <a:rPr lang="zh-CN" altLang="en-US"/>
              <a:t>＋</a:t>
            </a:r>
            <a:r>
              <a:rPr lang="en-US" altLang="zh-CN"/>
              <a:t>CNN</a:t>
            </a:r>
            <a:r>
              <a:rPr lang="zh-CN" altLang="en-US"/>
              <a:t>（</a:t>
            </a:r>
            <a:r>
              <a:rPr lang="en-US" altLang="zh-CN"/>
              <a:t>ours</a:t>
            </a:r>
            <a:r>
              <a:rPr lang="zh-CN" altLang="en-US"/>
              <a:t>：</a:t>
            </a:r>
            <a:r>
              <a:rPr lang="en-US" altLang="zh-CN"/>
              <a:t>NPU</a:t>
            </a:r>
            <a:r>
              <a:rPr lang="zh-CN" altLang="en-US"/>
              <a:t>＋</a:t>
            </a:r>
            <a:r>
              <a:rPr lang="en-US" altLang="zh-CN"/>
              <a:t>Transformer</a:t>
            </a:r>
            <a:r>
              <a:rPr lang="zh-CN" altLang="en-US"/>
              <a:t>）启发式选组代替</a:t>
            </a:r>
            <a:r>
              <a:rPr lang="zh-CN" altLang="en-US"/>
              <a:t>穷举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635760"/>
            <a:ext cx="10968990" cy="21818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55" y="4006850"/>
            <a:ext cx="6955155" cy="26403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测量内存</a:t>
            </a:r>
            <a:r>
              <a:rPr lang="zh-CN" altLang="en-US"/>
              <a:t>带宽：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82190" y="3479165"/>
            <a:ext cx="7620000" cy="781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190" y="4185920"/>
            <a:ext cx="7686675" cy="7715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Topic</a:t>
            </a:r>
            <a:r>
              <a:rPr lang="zh-CN" altLang="en-US"/>
              <a:t>：</a:t>
            </a:r>
            <a:r>
              <a:rPr lang="en-US" altLang="zh-CN"/>
              <a:t>Profiling On-Device Transformer Inference on Low-End NPUs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为什么会减速</a:t>
            </a:r>
            <a:r>
              <a:rPr lang="en-US" altLang="zh-CN"/>
              <a:t> / </a:t>
            </a:r>
            <a:r>
              <a:rPr lang="zh-CN" altLang="en-US"/>
              <a:t>为什么加速效果差，只有</a:t>
            </a:r>
            <a:r>
              <a:rPr lang="en-US" altLang="zh-CN"/>
              <a:t>1.x</a:t>
            </a:r>
            <a:r>
              <a:rPr lang="zh-CN" altLang="en-US"/>
              <a:t>倍</a:t>
            </a:r>
            <a:endParaRPr lang="zh-CN" altLang="en-US"/>
          </a:p>
          <a:p>
            <a:pPr lvl="1"/>
            <a:r>
              <a:rPr lang="zh-CN" altLang="en-US" sz="1600"/>
              <a:t>全过程</a:t>
            </a:r>
            <a:r>
              <a:rPr lang="zh-CN" altLang="en-US" sz="1600"/>
              <a:t>定量测量</a:t>
            </a:r>
            <a:endParaRPr lang="zh-CN" altLang="en-US" sz="1600"/>
          </a:p>
          <a:p>
            <a:pPr lvl="1"/>
            <a:r>
              <a:rPr lang="zh-CN" altLang="en-US" sz="1600"/>
              <a:t>可能的</a:t>
            </a:r>
            <a:r>
              <a:rPr lang="zh-CN" altLang="en-US" sz="1600"/>
              <a:t>话做些优化</a:t>
            </a:r>
            <a:endParaRPr lang="zh-CN" altLang="en-US"/>
          </a:p>
          <a:p>
            <a:r>
              <a:rPr lang="zh-CN" altLang="en-US"/>
              <a:t>开发板</a:t>
            </a:r>
            <a:r>
              <a:rPr lang="en-US" altLang="zh-CN"/>
              <a:t>Ethos U65 NPU</a:t>
            </a:r>
            <a:r>
              <a:rPr lang="zh-CN" altLang="en-US"/>
              <a:t>（</a:t>
            </a:r>
            <a:r>
              <a:rPr lang="en-US" altLang="zh-CN"/>
              <a:t>INT8</a:t>
            </a:r>
            <a:r>
              <a:rPr lang="zh-CN" altLang="en-US"/>
              <a:t>减速为</a:t>
            </a:r>
            <a:r>
              <a:rPr lang="en-US" altLang="zh-CN"/>
              <a:t>0.85</a:t>
            </a:r>
            <a:r>
              <a:rPr lang="zh-CN" altLang="en-US"/>
              <a:t>）</a:t>
            </a:r>
            <a:r>
              <a:rPr lang="en-US" altLang="zh-CN"/>
              <a:t> / RKNPU</a:t>
            </a:r>
            <a:r>
              <a:rPr lang="zh-CN" altLang="en-US"/>
              <a:t>（</a:t>
            </a:r>
            <a:r>
              <a:rPr lang="en-US" altLang="zh-CN"/>
              <a:t>FP16</a:t>
            </a:r>
            <a:r>
              <a:rPr lang="zh-CN" altLang="en-US"/>
              <a:t>效果是</a:t>
            </a:r>
            <a:r>
              <a:rPr lang="en-US" altLang="zh-CN"/>
              <a:t>1.15</a:t>
            </a:r>
            <a:r>
              <a:rPr lang="zh-CN" altLang="en-US"/>
              <a:t>倍）</a:t>
            </a:r>
            <a:endParaRPr lang="en-US" altLang="zh-CN"/>
          </a:p>
          <a:p>
            <a:pPr lvl="1"/>
            <a:r>
              <a:rPr lang="en-US" altLang="zh-CN"/>
              <a:t>ASCEND310B</a:t>
            </a:r>
            <a:r>
              <a:rPr lang="zh-CN" altLang="en-US"/>
              <a:t>太强了</a:t>
            </a:r>
            <a:r>
              <a:rPr lang="en-US" altLang="zh-CN"/>
              <a:t>FP16</a:t>
            </a:r>
            <a:r>
              <a:rPr lang="zh-CN" altLang="en-US"/>
              <a:t>加速</a:t>
            </a:r>
            <a:r>
              <a:rPr lang="en-US" altLang="zh-CN"/>
              <a:t>23</a:t>
            </a:r>
            <a:r>
              <a:rPr lang="zh-CN" altLang="en-US"/>
              <a:t>倍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后端：</a:t>
            </a:r>
            <a:r>
              <a:rPr lang="en-US" altLang="zh-CN"/>
              <a:t>Ethos U65</a:t>
            </a:r>
            <a:r>
              <a:rPr lang="zh-CN" altLang="en-US"/>
              <a:t>是</a:t>
            </a:r>
            <a:r>
              <a:rPr lang="en-US" altLang="zh-CN"/>
              <a:t>TFLite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Ethos U65</a:t>
            </a:r>
            <a:r>
              <a:rPr lang="zh-CN" altLang="en-US"/>
              <a:t>就只有</a:t>
            </a:r>
            <a:r>
              <a:rPr lang="en-US" altLang="zh-CN"/>
              <a:t>Ethosudelegate</a:t>
            </a:r>
            <a:r>
              <a:rPr lang="zh-CN" altLang="en-US"/>
              <a:t>一种方式，使用</a:t>
            </a:r>
            <a:r>
              <a:rPr lang="en-US" altLang="zh-CN"/>
              <a:t>TFLite</a:t>
            </a:r>
            <a:r>
              <a:rPr lang="zh-CN" altLang="en-US"/>
              <a:t>推理时加速。同时在推理前要先使用</a:t>
            </a:r>
            <a:r>
              <a:rPr lang="en-US" altLang="zh-CN"/>
              <a:t>Vela</a:t>
            </a:r>
            <a:r>
              <a:rPr lang="zh-CN" altLang="en-US"/>
              <a:t>来把对应的</a:t>
            </a:r>
            <a:r>
              <a:rPr lang="en-US" altLang="zh-CN"/>
              <a:t>TFlite</a:t>
            </a:r>
            <a:r>
              <a:rPr lang="zh-CN" altLang="en-US"/>
              <a:t>模型编译成</a:t>
            </a:r>
            <a:r>
              <a:rPr lang="en-US" altLang="zh-CN"/>
              <a:t>NPU</a:t>
            </a:r>
            <a:r>
              <a:rPr lang="zh-CN" altLang="en-US"/>
              <a:t>能够加速的</a:t>
            </a:r>
            <a:r>
              <a:rPr lang="zh-CN" altLang="en-US"/>
              <a:t>格式。</a:t>
            </a:r>
            <a:endParaRPr lang="zh-CN" altLang="en-US"/>
          </a:p>
          <a:p>
            <a:pPr lvl="1"/>
            <a:r>
              <a:rPr lang="zh-CN" altLang="en-US" sz="1600"/>
              <a:t>除了</a:t>
            </a:r>
            <a:r>
              <a:rPr lang="en-US" altLang="zh-CN" sz="1600"/>
              <a:t>TFLite</a:t>
            </a:r>
            <a:r>
              <a:rPr lang="zh-CN" altLang="en-US" sz="1600"/>
              <a:t>以外</a:t>
            </a:r>
            <a:r>
              <a:rPr lang="en-US" altLang="zh-CN" sz="1600"/>
              <a:t>Ethos U65</a:t>
            </a:r>
            <a:r>
              <a:rPr lang="zh-CN" altLang="en-US" sz="1600"/>
              <a:t>不支持其它的推理框架</a:t>
            </a:r>
            <a:endParaRPr lang="zh-CN" altLang="en-US"/>
          </a:p>
          <a:p>
            <a:r>
              <a:rPr lang="zh-CN" altLang="en-US"/>
              <a:t>对应的</a:t>
            </a:r>
            <a:r>
              <a:rPr lang="en-US" altLang="zh-CN"/>
              <a:t>CPU</a:t>
            </a:r>
            <a:r>
              <a:rPr lang="zh-CN" altLang="en-US"/>
              <a:t>也是</a:t>
            </a:r>
            <a:r>
              <a:rPr lang="en-US" altLang="zh-CN"/>
              <a:t>TFLite</a:t>
            </a:r>
            <a:r>
              <a:rPr lang="zh-CN" altLang="en-US"/>
              <a:t>，使用</a:t>
            </a:r>
            <a:r>
              <a:rPr lang="en-US" altLang="zh-CN"/>
              <a:t>XNNPACK</a:t>
            </a:r>
            <a:r>
              <a:rPr lang="zh-CN" altLang="en-US"/>
              <a:t>后端和</a:t>
            </a:r>
            <a:r>
              <a:rPr lang="en-US" altLang="zh-CN"/>
              <a:t>TFLite</a:t>
            </a:r>
            <a:r>
              <a:rPr lang="zh-CN" altLang="en-US"/>
              <a:t>自带的</a:t>
            </a:r>
            <a:r>
              <a:rPr lang="en-US" altLang="zh-CN"/>
              <a:t>Kernel</a:t>
            </a:r>
            <a:r>
              <a:rPr lang="zh-CN" altLang="en-US"/>
              <a:t>进行</a:t>
            </a:r>
            <a:r>
              <a:rPr lang="zh-CN" altLang="en-US"/>
              <a:t>推理</a:t>
            </a:r>
            <a:endParaRPr lang="zh-CN" altLang="en-US"/>
          </a:p>
          <a:p>
            <a:r>
              <a:rPr lang="zh-CN" altLang="en-US"/>
              <a:t>对于</a:t>
            </a:r>
            <a:r>
              <a:rPr lang="en-US" altLang="zh-CN"/>
              <a:t>Ethos U65</a:t>
            </a:r>
            <a:r>
              <a:rPr lang="zh-CN" altLang="en-US"/>
              <a:t>这样的好处是，</a:t>
            </a:r>
            <a:r>
              <a:rPr lang="en-US" altLang="zh-CN"/>
              <a:t>CPU</a:t>
            </a:r>
            <a:r>
              <a:rPr lang="zh-CN" altLang="en-US"/>
              <a:t>和</a:t>
            </a:r>
            <a:r>
              <a:rPr lang="en-US" altLang="zh-CN"/>
              <a:t>NPU</a:t>
            </a:r>
            <a:r>
              <a:rPr lang="zh-CN" altLang="en-US"/>
              <a:t>使用相同的推理框架，减少推理框架间的不同造成的推理</a:t>
            </a:r>
            <a:r>
              <a:rPr lang="zh-CN" altLang="en-US"/>
              <a:t>速度差别。</a:t>
            </a:r>
            <a:endParaRPr lang="zh-CN" altLang="en-US"/>
          </a:p>
          <a:p>
            <a:pPr lvl="1"/>
            <a:r>
              <a:rPr lang="zh-CN" altLang="en-US" sz="1600"/>
              <a:t>一个</a:t>
            </a:r>
            <a:r>
              <a:rPr lang="zh-CN" altLang="en-US" sz="1600"/>
              <a:t>问题是</a:t>
            </a:r>
            <a:r>
              <a:rPr lang="en-US" altLang="zh-CN" sz="1600"/>
              <a:t>NPU</a:t>
            </a:r>
            <a:r>
              <a:rPr lang="zh-CN" altLang="en-US" sz="1600"/>
              <a:t>必须使用</a:t>
            </a:r>
            <a:r>
              <a:rPr lang="en-US" altLang="zh-CN" sz="1600"/>
              <a:t>Vela</a:t>
            </a:r>
            <a:r>
              <a:rPr lang="zh-CN" altLang="en-US" sz="1600"/>
              <a:t>编译后的模型推理，</a:t>
            </a:r>
            <a:r>
              <a:rPr lang="en-US" altLang="zh-CN" sz="1600"/>
              <a:t>CPU</a:t>
            </a:r>
            <a:r>
              <a:rPr lang="zh-CN" altLang="en-US" sz="1600"/>
              <a:t>只能使用原模型进行推理</a:t>
            </a:r>
            <a:endParaRPr lang="zh-CN" altLang="en-US" sz="1600"/>
          </a:p>
          <a:p>
            <a:pPr lvl="2"/>
            <a:r>
              <a:rPr lang="en-US" altLang="zh-CN"/>
              <a:t>Vela</a:t>
            </a:r>
            <a:r>
              <a:rPr lang="zh-CN" altLang="en-US"/>
              <a:t>的优化和修改也应该算到</a:t>
            </a:r>
            <a:r>
              <a:rPr lang="en-US" altLang="zh-CN"/>
              <a:t>NPU</a:t>
            </a:r>
            <a:r>
              <a:rPr lang="zh-CN" altLang="en-US"/>
              <a:t>的能力里？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RKNPU</a:t>
            </a:r>
            <a:r>
              <a:rPr lang="zh-CN" altLang="en-US"/>
              <a:t>：</a:t>
            </a:r>
            <a:r>
              <a:rPr lang="en-US" altLang="zh-CN"/>
              <a:t>CPU TFLite</a:t>
            </a:r>
            <a:r>
              <a:rPr lang="zh-CN" altLang="en-US"/>
              <a:t>？</a:t>
            </a:r>
            <a:r>
              <a:rPr lang="en-US" altLang="zh-CN"/>
              <a:t>NPU</a:t>
            </a:r>
            <a:r>
              <a:rPr lang="zh-CN" altLang="en-US"/>
              <a:t>用的闭源</a:t>
            </a:r>
            <a:r>
              <a:rPr lang="zh-CN" altLang="en-US"/>
              <a:t>运行时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/>
          <a:p>
            <a:r>
              <a:rPr lang="en-US" altLang="zh-CN"/>
              <a:t>RKNPU</a:t>
            </a:r>
            <a:r>
              <a:rPr lang="zh-CN" altLang="en-US"/>
              <a:t>的</a:t>
            </a:r>
            <a:r>
              <a:rPr lang="en-US" altLang="zh-CN"/>
              <a:t>NPU</a:t>
            </a:r>
            <a:r>
              <a:rPr lang="zh-CN" altLang="en-US"/>
              <a:t>加速推理只能用</a:t>
            </a:r>
            <a:r>
              <a:rPr lang="en-US" altLang="zh-CN"/>
              <a:t>RockChip</a:t>
            </a:r>
            <a:r>
              <a:rPr lang="zh-CN" altLang="en-US"/>
              <a:t>的闭源运行时。</a:t>
            </a:r>
            <a:r>
              <a:rPr lang="en-US" altLang="zh-CN"/>
              <a:t>CPU</a:t>
            </a:r>
            <a:r>
              <a:rPr lang="zh-CN" altLang="en-US"/>
              <a:t>的话应该可以有多种运行支持</a:t>
            </a:r>
            <a:endParaRPr lang="zh-CN" altLang="en-US"/>
          </a:p>
          <a:p>
            <a:r>
              <a:rPr lang="zh-CN" altLang="en-US"/>
              <a:t>所以</a:t>
            </a:r>
            <a:r>
              <a:rPr lang="en-US" altLang="zh-CN"/>
              <a:t>CPU</a:t>
            </a:r>
            <a:r>
              <a:rPr lang="zh-CN" altLang="en-US"/>
              <a:t>和</a:t>
            </a:r>
            <a:r>
              <a:rPr lang="en-US" altLang="zh-CN"/>
              <a:t>Ethos U65</a:t>
            </a:r>
            <a:r>
              <a:rPr lang="zh-CN" altLang="en-US"/>
              <a:t>一样也使用</a:t>
            </a:r>
            <a:r>
              <a:rPr lang="en-US" altLang="zh-CN"/>
              <a:t>TFLite</a:t>
            </a:r>
            <a:r>
              <a:rPr lang="zh-CN" altLang="en-US"/>
              <a:t>，然后</a:t>
            </a:r>
            <a:r>
              <a:rPr lang="en-US" altLang="zh-CN"/>
              <a:t>NPU</a:t>
            </a:r>
            <a:r>
              <a:rPr lang="zh-CN" altLang="en-US"/>
              <a:t>加速的使用</a:t>
            </a:r>
            <a:r>
              <a:rPr lang="en-US" altLang="zh-CN"/>
              <a:t>RK</a:t>
            </a:r>
            <a:r>
              <a:rPr lang="zh-CN" altLang="en-US"/>
              <a:t>的闭源</a:t>
            </a:r>
            <a:r>
              <a:rPr lang="zh-CN" altLang="en-US"/>
              <a:t>运行时</a:t>
            </a:r>
            <a:endParaRPr lang="zh-CN" altLang="en-US"/>
          </a:p>
          <a:p>
            <a:pPr lvl="1"/>
            <a:r>
              <a:rPr lang="zh-CN" altLang="en-US"/>
              <a:t>会带来框架不同导致的</a:t>
            </a:r>
            <a:r>
              <a:rPr lang="en-US" altLang="zh-CN"/>
              <a:t>CPU</a:t>
            </a:r>
            <a:r>
              <a:rPr lang="zh-CN" altLang="en-US"/>
              <a:t>算子速度</a:t>
            </a:r>
            <a:r>
              <a:rPr lang="zh-CN" altLang="en-US"/>
              <a:t>不同</a:t>
            </a:r>
            <a:endParaRPr lang="zh-CN" altLang="en-US"/>
          </a:p>
          <a:p>
            <a:pPr lvl="2"/>
            <a:r>
              <a:rPr lang="zh-CN" altLang="en-US"/>
              <a:t>比如</a:t>
            </a:r>
            <a:r>
              <a:rPr lang="en-US" altLang="zh-CN"/>
              <a:t>RK</a:t>
            </a:r>
            <a:r>
              <a:rPr lang="zh-CN" altLang="en-US"/>
              <a:t>上的</a:t>
            </a:r>
            <a:r>
              <a:rPr lang="en-US" altLang="zh-CN"/>
              <a:t>CPU</a:t>
            </a:r>
            <a:r>
              <a:rPr lang="zh-CN" altLang="en-US"/>
              <a:t>算子只能单线程，这样就不能和多线程的</a:t>
            </a:r>
            <a:r>
              <a:rPr lang="en-US" altLang="zh-CN"/>
              <a:t>TFLiteCPU</a:t>
            </a:r>
            <a:r>
              <a:rPr lang="zh-CN" altLang="en-US"/>
              <a:t>线程进行定量比较</a:t>
            </a:r>
            <a:r>
              <a:rPr lang="zh-CN" altLang="en-US"/>
              <a:t>了</a:t>
            </a:r>
            <a:endParaRPr lang="zh-CN" altLang="en-US"/>
          </a:p>
          <a:p>
            <a:pPr lvl="3"/>
            <a:r>
              <a:rPr lang="zh-CN" altLang="en-US"/>
              <a:t>也许在比较的时候应该剔除这些</a:t>
            </a:r>
            <a:r>
              <a:rPr lang="en-US" altLang="zh-CN"/>
              <a:t>CPU</a:t>
            </a:r>
            <a:r>
              <a:rPr lang="zh-CN" altLang="en-US"/>
              <a:t>算子，把</a:t>
            </a:r>
            <a:r>
              <a:rPr lang="en-US" altLang="zh-CN"/>
              <a:t>CPU</a:t>
            </a:r>
            <a:r>
              <a:rPr lang="zh-CN" altLang="en-US"/>
              <a:t>上使用</a:t>
            </a:r>
            <a:r>
              <a:rPr lang="en-US" altLang="zh-CN"/>
              <a:t>TFLite</a:t>
            </a:r>
            <a:r>
              <a:rPr lang="zh-CN" altLang="en-US"/>
              <a:t>的</a:t>
            </a:r>
            <a:r>
              <a:rPr lang="en-US" altLang="zh-CN"/>
              <a:t>CPU</a:t>
            </a:r>
            <a:r>
              <a:rPr lang="zh-CN" altLang="en-US"/>
              <a:t>算子和使用</a:t>
            </a:r>
            <a:r>
              <a:rPr lang="en-US" altLang="zh-CN"/>
              <a:t>NPU</a:t>
            </a:r>
            <a:r>
              <a:rPr lang="zh-CN" altLang="en-US"/>
              <a:t>加速的算子比，而不考虑这些都运行在</a:t>
            </a:r>
            <a:r>
              <a:rPr lang="en-US" altLang="zh-CN"/>
              <a:t>CPU</a:t>
            </a:r>
            <a:r>
              <a:rPr lang="zh-CN" altLang="en-US"/>
              <a:t>的</a:t>
            </a:r>
            <a:r>
              <a:rPr lang="zh-CN" altLang="en-US"/>
              <a:t>算子</a:t>
            </a:r>
            <a:endParaRPr lang="zh-CN" altLang="en-US"/>
          </a:p>
          <a:p>
            <a:pPr lvl="0"/>
            <a:r>
              <a:rPr lang="zh-CN" altLang="en-US"/>
              <a:t>和</a:t>
            </a:r>
            <a:r>
              <a:rPr lang="en-US" altLang="zh-CN"/>
              <a:t>ASCEND310B</a:t>
            </a:r>
            <a:r>
              <a:rPr lang="zh-CN" altLang="en-US"/>
              <a:t>不同，</a:t>
            </a:r>
            <a:r>
              <a:rPr lang="en-US" altLang="zh-CN"/>
              <a:t>RKNN</a:t>
            </a:r>
            <a:r>
              <a:rPr lang="zh-CN" altLang="en-US"/>
              <a:t>可以直接从</a:t>
            </a:r>
            <a:r>
              <a:rPr lang="en-US" altLang="zh-CN"/>
              <a:t>TFLite</a:t>
            </a:r>
            <a:r>
              <a:rPr lang="zh-CN" altLang="en-US"/>
              <a:t>模型转，可以保证模型是一致的？前者只能从</a:t>
            </a:r>
            <a:r>
              <a:rPr lang="en-US" altLang="zh-CN"/>
              <a:t>ONNX</a:t>
            </a:r>
            <a:r>
              <a:rPr lang="zh-CN" altLang="en-US"/>
              <a:t>（或者</a:t>
            </a:r>
            <a:r>
              <a:rPr lang="en-US" altLang="zh-CN"/>
              <a:t>MindSpore TensorFlow</a:t>
            </a:r>
            <a:r>
              <a:rPr lang="zh-CN" altLang="en-US"/>
              <a:t>之类的）转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后端的</a:t>
            </a:r>
            <a:r>
              <a:rPr lang="zh-CN" altLang="en-US"/>
              <a:t>线程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CPU</a:t>
            </a:r>
            <a:r>
              <a:rPr lang="zh-CN" altLang="en-US"/>
              <a:t>都用最快的</a:t>
            </a:r>
            <a:r>
              <a:rPr lang="zh-CN" altLang="en-US"/>
              <a:t>线程</a:t>
            </a:r>
            <a:endParaRPr lang="zh-CN" altLang="en-US"/>
          </a:p>
          <a:p>
            <a:pPr lvl="1"/>
            <a:r>
              <a:rPr lang="zh-CN" altLang="en-US"/>
              <a:t>多测</a:t>
            </a:r>
            <a:r>
              <a:rPr lang="zh-CN" altLang="en-US"/>
              <a:t>几组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模型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on device</a:t>
            </a:r>
            <a:r>
              <a:rPr lang="zh-CN" altLang="en-US"/>
              <a:t>侧已经使用广泛的</a:t>
            </a:r>
            <a:r>
              <a:rPr lang="en-US" altLang="zh-CN"/>
              <a:t>Transformer</a:t>
            </a:r>
            <a:r>
              <a:rPr lang="zh-CN" altLang="en-US"/>
              <a:t>模型</a:t>
            </a:r>
            <a:endParaRPr lang="zh-CN" altLang="en-US"/>
          </a:p>
          <a:p>
            <a:pPr lvl="1"/>
            <a:r>
              <a:rPr lang="zh-CN" altLang="en-US"/>
              <a:t>使用</a:t>
            </a:r>
            <a:r>
              <a:rPr lang="en-US" altLang="zh-CN"/>
              <a:t>ViT/BERT</a:t>
            </a:r>
            <a:r>
              <a:rPr lang="zh-CN" altLang="en-US"/>
              <a:t>的变种</a:t>
            </a:r>
            <a:r>
              <a:rPr lang="zh-CN" altLang="en-US"/>
              <a:t>？</a:t>
            </a:r>
            <a:endParaRPr lang="zh-CN" altLang="en-US"/>
          </a:p>
          <a:p>
            <a:pPr lvl="0"/>
            <a:r>
              <a:rPr lang="en-US" altLang="zh-CN"/>
              <a:t>encoder</a:t>
            </a:r>
            <a:r>
              <a:rPr lang="zh-CN" altLang="en-US"/>
              <a:t>和</a:t>
            </a:r>
            <a:r>
              <a:rPr lang="en-US" altLang="zh-CN"/>
              <a:t>decoder</a:t>
            </a:r>
            <a:r>
              <a:rPr lang="zh-CN" altLang="en-US"/>
              <a:t>都做</a:t>
            </a:r>
            <a:endParaRPr lang="zh-CN" altLang="en-US"/>
          </a:p>
          <a:p>
            <a:pPr lvl="1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模型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按架构特征分类，而不是按模型的</a:t>
            </a:r>
            <a:r>
              <a:rPr lang="zh-CN" altLang="en-US"/>
              <a:t>应用</a:t>
            </a:r>
            <a:endParaRPr lang="zh-CN" altLang="en-US"/>
          </a:p>
          <a:p>
            <a:r>
              <a:rPr lang="en-US" altLang="zh-CN"/>
              <a:t>encoder-</a:t>
            </a:r>
            <a:r>
              <a:rPr lang="en-US" altLang="zh-CN"/>
              <a:t>only</a:t>
            </a:r>
            <a:endParaRPr lang="en-US" altLang="zh-CN"/>
          </a:p>
          <a:p>
            <a:pPr lvl="1"/>
            <a:r>
              <a:rPr lang="en-US" altLang="zh-CN" sz="1600"/>
              <a:t>VIT</a:t>
            </a:r>
            <a:r>
              <a:rPr lang="zh-CN" altLang="en-US" sz="1600"/>
              <a:t>模型</a:t>
            </a:r>
            <a:endParaRPr lang="en-US" altLang="zh-CN"/>
          </a:p>
          <a:p>
            <a:r>
              <a:rPr lang="en-US" altLang="zh-CN"/>
              <a:t>decoder-only autoregression</a:t>
            </a:r>
            <a:endParaRPr lang="en-US" altLang="zh-CN"/>
          </a:p>
          <a:p>
            <a:pPr lvl="1"/>
            <a:r>
              <a:rPr lang="en-US" altLang="zh-CN" sz="1600"/>
              <a:t>DistilGPT2</a:t>
            </a:r>
            <a:r>
              <a:rPr lang="zh-CN" altLang="en-US" sz="1600"/>
              <a:t>模型</a:t>
            </a:r>
            <a:r>
              <a:rPr lang="en-US" altLang="zh-CN" sz="1600"/>
              <a:t> </a:t>
            </a:r>
            <a:endParaRPr lang="en-US" altLang="zh-CN" sz="1600"/>
          </a:p>
          <a:p>
            <a:pPr lvl="1"/>
            <a:r>
              <a:rPr lang="en-US" altLang="zh-CN"/>
              <a:t>MobileLLM-125M</a:t>
            </a:r>
            <a:endParaRPr lang="en-US" altLang="zh-CN"/>
          </a:p>
          <a:p>
            <a:r>
              <a:rPr lang="en-US" altLang="zh-CN"/>
              <a:t>encoder-decoder cross </a:t>
            </a:r>
            <a:r>
              <a:rPr lang="en-US" altLang="zh-CN"/>
              <a:t>attention</a:t>
            </a:r>
            <a:endParaRPr lang="en-US" altLang="zh-CN"/>
          </a:p>
          <a:p>
            <a:pPr lvl="1"/>
            <a:r>
              <a:rPr lang="en-US" altLang="zh-CN"/>
              <a:t>Whisper</a:t>
            </a:r>
            <a:r>
              <a:rPr lang="zh-CN" altLang="en-US"/>
              <a:t>模型</a:t>
            </a:r>
            <a:r>
              <a:rPr lang="en-US" altLang="zh-CN"/>
              <a:t>Distil-Whisper</a:t>
            </a:r>
            <a:endParaRPr lang="en-US" altLang="zh-CN"/>
          </a:p>
          <a:p>
            <a:pPr lvl="2"/>
            <a:r>
              <a:rPr lang="en-US" altLang="zh-CN"/>
              <a:t>Whisper</a:t>
            </a:r>
            <a:r>
              <a:rPr lang="zh-CN" altLang="en-US"/>
              <a:t>太大了</a:t>
            </a:r>
            <a:endParaRPr lang="zh-CN" altLang="en-US"/>
          </a:p>
          <a:p>
            <a:pPr lvl="0"/>
            <a:r>
              <a:rPr lang="zh-CN" altLang="en-US"/>
              <a:t>问题是这里只有</a:t>
            </a:r>
            <a:r>
              <a:rPr lang="en-US" altLang="zh-CN"/>
              <a:t>VIT</a:t>
            </a:r>
            <a:r>
              <a:rPr lang="zh-CN" altLang="en-US"/>
              <a:t>是给出了</a:t>
            </a:r>
            <a:r>
              <a:rPr lang="en-US" altLang="zh-CN"/>
              <a:t>W8A8</a:t>
            </a:r>
            <a:r>
              <a:rPr lang="zh-CN" altLang="en-US"/>
              <a:t>的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模型：</a:t>
            </a:r>
            <a:r>
              <a:rPr lang="en-US" altLang="zh-CN"/>
              <a:t>Hugging Face Qualcomm </a:t>
            </a:r>
            <a:r>
              <a:rPr lang="en-US" altLang="zh-CN"/>
              <a:t>AI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36040" y="1490345"/>
            <a:ext cx="9512935" cy="4759325"/>
          </a:xfrm>
          <a:prstGeom prst="rect">
            <a:avLst/>
          </a:prstGeom>
        </p:spPr>
      </p:pic>
      <p:pic>
        <p:nvPicPr>
          <p:cNvPr id="3" name="内容占位符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31160" y="1790700"/>
            <a:ext cx="8341995" cy="47593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6155" y="1778635"/>
            <a:ext cx="9972675" cy="342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155" y="2201545"/>
            <a:ext cx="10144125" cy="381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470" y="3188335"/>
            <a:ext cx="10258425" cy="28003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45790" y="1490345"/>
            <a:ext cx="5892800" cy="47593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details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推理过程</a:t>
            </a:r>
            <a:r>
              <a:rPr lang="zh-CN" altLang="en-US"/>
              <a:t>中</a:t>
            </a:r>
            <a:endParaRPr lang="zh-CN" altLang="en-US"/>
          </a:p>
          <a:p>
            <a:pPr lvl="1"/>
            <a:r>
              <a:rPr lang="zh-CN" altLang="en-US"/>
              <a:t>测量启动的时间得到初始化的</a:t>
            </a:r>
            <a:r>
              <a:rPr lang="zh-CN" altLang="en-US"/>
              <a:t>瓶颈</a:t>
            </a:r>
            <a:endParaRPr lang="zh-CN" altLang="en-US"/>
          </a:p>
          <a:p>
            <a:pPr lvl="2"/>
            <a:r>
              <a:rPr lang="en-US" altLang="zh-CN"/>
              <a:t>NPU</a:t>
            </a:r>
            <a:r>
              <a:rPr lang="zh-CN" altLang="en-US"/>
              <a:t>后端的启动</a:t>
            </a:r>
            <a:r>
              <a:rPr lang="zh-CN" altLang="en-US"/>
              <a:t>时间</a:t>
            </a:r>
            <a:endParaRPr lang="zh-CN" altLang="en-US"/>
          </a:p>
          <a:p>
            <a:pPr lvl="3"/>
            <a:r>
              <a:rPr lang="zh-CN" altLang="en-US"/>
              <a:t>同时的</a:t>
            </a:r>
            <a:r>
              <a:rPr lang="en-US" altLang="zh-CN"/>
              <a:t>CPU</a:t>
            </a:r>
            <a:r>
              <a:rPr lang="zh-CN" altLang="en-US"/>
              <a:t>后端的启动</a:t>
            </a:r>
            <a:r>
              <a:rPr lang="zh-CN" altLang="en-US"/>
              <a:t>时间</a:t>
            </a:r>
            <a:endParaRPr lang="zh-CN" altLang="en-US"/>
          </a:p>
          <a:p>
            <a:pPr lvl="2"/>
            <a:r>
              <a:rPr lang="en-US" altLang="zh-CN"/>
              <a:t>CPU</a:t>
            </a:r>
            <a:r>
              <a:rPr lang="zh-CN" altLang="en-US"/>
              <a:t>后端的启动</a:t>
            </a:r>
            <a:r>
              <a:rPr lang="zh-CN" altLang="en-US"/>
              <a:t>时间</a:t>
            </a:r>
            <a:endParaRPr lang="zh-CN" altLang="en-US"/>
          </a:p>
          <a:p>
            <a:pPr lvl="1"/>
            <a:r>
              <a:rPr lang="zh-CN" altLang="en-US"/>
              <a:t>真正推理的时</a:t>
            </a:r>
            <a:r>
              <a:rPr lang="zh-CN" altLang="en-US"/>
              <a:t>间</a:t>
            </a:r>
            <a:endParaRPr lang="zh-CN" altLang="en-US"/>
          </a:p>
          <a:p>
            <a:pPr lvl="2"/>
            <a:r>
              <a:rPr lang="en-US" altLang="zh-CN"/>
              <a:t>NPU</a:t>
            </a:r>
            <a:r>
              <a:rPr lang="zh-CN" altLang="en-US"/>
              <a:t>推理的</a:t>
            </a:r>
            <a:r>
              <a:rPr lang="zh-CN" altLang="en-US"/>
              <a:t>时间</a:t>
            </a:r>
            <a:endParaRPr lang="zh-CN" altLang="en-US"/>
          </a:p>
          <a:p>
            <a:pPr lvl="2"/>
            <a:r>
              <a:rPr lang="en-US" altLang="zh-CN"/>
              <a:t>CPU</a:t>
            </a:r>
            <a:r>
              <a:rPr lang="zh-CN" altLang="en-US"/>
              <a:t>推理</a:t>
            </a:r>
            <a:r>
              <a:rPr lang="zh-CN" altLang="en-US"/>
              <a:t>时间</a:t>
            </a:r>
            <a:endParaRPr lang="zh-CN" altLang="en-US"/>
          </a:p>
          <a:p>
            <a:pPr lvl="3"/>
            <a:r>
              <a:rPr lang="zh-CN" altLang="en-US" sz="1400"/>
              <a:t>比较原模型中相同</a:t>
            </a:r>
            <a:r>
              <a:rPr lang="zh-CN" altLang="en-US" sz="1400"/>
              <a:t>一串算子</a:t>
            </a:r>
            <a:r>
              <a:rPr lang="en-US" altLang="zh-CN" sz="1400"/>
              <a:t>NPU</a:t>
            </a:r>
            <a:r>
              <a:rPr lang="zh-CN" altLang="en-US" sz="1400"/>
              <a:t>和</a:t>
            </a:r>
            <a:r>
              <a:rPr lang="en-US" altLang="zh-CN" sz="1400"/>
              <a:t>CPU</a:t>
            </a:r>
            <a:r>
              <a:rPr lang="zh-CN" altLang="en-US" sz="1400"/>
              <a:t>的时间比</a:t>
            </a:r>
            <a:endParaRPr lang="zh-CN" altLang="en-US" sz="1400"/>
          </a:p>
          <a:p>
            <a:pPr lvl="1"/>
            <a:r>
              <a:rPr lang="en-US" altLang="zh-CN"/>
              <a:t>NPU</a:t>
            </a:r>
            <a:r>
              <a:rPr lang="zh-CN" altLang="en-US"/>
              <a:t>推理的时间中，有多少是计算的时间，有多少是同步和消息传递的</a:t>
            </a:r>
            <a:r>
              <a:rPr lang="zh-CN" altLang="en-US"/>
              <a:t>时间。</a:t>
            </a:r>
            <a:endParaRPr lang="zh-CN" altLang="en-US"/>
          </a:p>
          <a:p>
            <a:pPr lvl="2"/>
            <a:r>
              <a:rPr lang="zh-CN" altLang="en-US"/>
              <a:t>同步和消息传递的时间又各自发生在哪里，具体的比例是</a:t>
            </a:r>
            <a:r>
              <a:rPr lang="zh-CN" altLang="en-US"/>
              <a:t>怎样的</a:t>
            </a:r>
            <a:endParaRPr lang="zh-CN" altLang="en-US"/>
          </a:p>
          <a:p>
            <a:pPr lvl="1"/>
            <a:r>
              <a:rPr lang="zh-CN" altLang="en-US"/>
              <a:t>对于</a:t>
            </a:r>
            <a:r>
              <a:rPr lang="en-US" altLang="zh-CN"/>
              <a:t>NPU</a:t>
            </a:r>
            <a:r>
              <a:rPr lang="zh-CN" altLang="en-US"/>
              <a:t>的算子和</a:t>
            </a:r>
            <a:r>
              <a:rPr lang="en-US" altLang="zh-CN"/>
              <a:t>CPU</a:t>
            </a:r>
            <a:r>
              <a:rPr lang="zh-CN" altLang="en-US"/>
              <a:t>的算子，根据算子类型得到对应的加速比。研究</a:t>
            </a:r>
            <a:r>
              <a:rPr lang="en-US" altLang="zh-CN"/>
              <a:t>compute intensive</a:t>
            </a:r>
            <a:r>
              <a:rPr lang="zh-CN" altLang="en-US"/>
              <a:t>和</a:t>
            </a:r>
            <a:r>
              <a:rPr lang="en-US" altLang="zh-CN"/>
              <a:t>memory intensive</a:t>
            </a:r>
            <a:r>
              <a:rPr lang="zh-CN" altLang="en-US"/>
              <a:t>的算子的各个加速是多少，以及</a:t>
            </a:r>
            <a:r>
              <a:rPr lang="en-US" altLang="zh-CN"/>
              <a:t>intensive</a:t>
            </a:r>
            <a:r>
              <a:rPr lang="zh-CN" altLang="en-US"/>
              <a:t>的不同对算子加速造成的</a:t>
            </a:r>
            <a:r>
              <a:rPr lang="zh-CN" altLang="en-US"/>
              <a:t>影响</a:t>
            </a:r>
            <a:endParaRPr lang="zh-CN" altLang="en-US"/>
          </a:p>
          <a:p>
            <a:pPr lvl="2"/>
            <a:r>
              <a:rPr lang="zh-CN" altLang="en-US"/>
              <a:t>测量</a:t>
            </a:r>
            <a:r>
              <a:rPr lang="en-US" altLang="zh-CN"/>
              <a:t>NPU</a:t>
            </a:r>
            <a:r>
              <a:rPr lang="zh-CN" altLang="en-US"/>
              <a:t>和</a:t>
            </a:r>
            <a:r>
              <a:rPr lang="en-US" altLang="zh-CN"/>
              <a:t>CPU</a:t>
            </a:r>
            <a:r>
              <a:rPr lang="zh-CN" altLang="en-US"/>
              <a:t>的</a:t>
            </a:r>
            <a:r>
              <a:rPr lang="zh-CN" altLang="en-US"/>
              <a:t>带宽</a:t>
            </a:r>
            <a:endParaRPr lang="zh-CN" altLang="en-US"/>
          </a:p>
          <a:p>
            <a:pPr lvl="0"/>
            <a:r>
              <a:rPr lang="zh-CN" altLang="en-US"/>
              <a:t>推理过程可能会出现</a:t>
            </a:r>
            <a:r>
              <a:rPr lang="en-US" altLang="zh-CN"/>
              <a:t>Ethos U</a:t>
            </a:r>
            <a:r>
              <a:rPr lang="zh-CN" altLang="en-US"/>
              <a:t>内存不足的情况，可能其它开发板</a:t>
            </a:r>
            <a:r>
              <a:rPr lang="zh-CN" altLang="en-US"/>
              <a:t>也有</a:t>
            </a:r>
            <a:endParaRPr lang="zh-CN" altLang="en-US"/>
          </a:p>
          <a:p>
            <a:pPr lvl="1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启动</a:t>
            </a:r>
            <a:r>
              <a:rPr lang="zh-CN" altLang="en-US"/>
              <a:t>过程：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模型加载</a:t>
            </a:r>
            <a:r>
              <a:rPr lang="zh-CN" altLang="en-US"/>
              <a:t>时间</a:t>
            </a:r>
            <a:endParaRPr lang="zh-CN" altLang="en-US"/>
          </a:p>
          <a:p>
            <a:r>
              <a:rPr lang="zh-CN" altLang="en-US"/>
              <a:t>编译</a:t>
            </a:r>
            <a:r>
              <a:rPr lang="en-US" altLang="zh-CN"/>
              <a:t>/Delegate </a:t>
            </a:r>
            <a:r>
              <a:rPr lang="zh-CN" altLang="en-US"/>
              <a:t>初始化</a:t>
            </a:r>
            <a:endParaRPr lang="zh-CN" altLang="en-US"/>
          </a:p>
          <a:p>
            <a:r>
              <a:rPr lang="zh-CN" altLang="en-US"/>
              <a:t>内存分配</a:t>
            </a:r>
            <a:r>
              <a:rPr lang="zh-CN" altLang="en-US"/>
              <a:t>情况</a:t>
            </a:r>
            <a:endParaRPr lang="zh-CN" altLang="en-US"/>
          </a:p>
          <a:p>
            <a:r>
              <a:rPr lang="zh-CN" altLang="en-US"/>
              <a:t>各种</a:t>
            </a:r>
            <a:r>
              <a:rPr lang="zh-CN" altLang="en-US"/>
              <a:t>推理设置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推理阶段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端到端</a:t>
            </a:r>
            <a:r>
              <a:rPr lang="zh-CN" altLang="en-US"/>
              <a:t>延迟</a:t>
            </a:r>
            <a:endParaRPr lang="zh-CN" altLang="en-US"/>
          </a:p>
          <a:p>
            <a:r>
              <a:rPr lang="zh-CN" altLang="en-US"/>
              <a:t>分块延迟</a:t>
            </a:r>
            <a:endParaRPr lang="zh-CN" altLang="en-US"/>
          </a:p>
          <a:p>
            <a:pPr lvl="1"/>
            <a:r>
              <a:rPr lang="en-US" altLang="zh-CN"/>
              <a:t>VIT</a:t>
            </a:r>
            <a:r>
              <a:rPr lang="zh-CN" altLang="en-US"/>
              <a:t>：</a:t>
            </a:r>
            <a:r>
              <a:rPr lang="en-US" altLang="zh-CN"/>
              <a:t>(preproc) </a:t>
            </a:r>
            <a:r>
              <a:rPr lang="en-US" altLang="en-US"/>
              <a:t>→</a:t>
            </a:r>
            <a:r>
              <a:rPr lang="en-US" altLang="zh-CN"/>
              <a:t> encoder(MHSA, MLP, reshape/transpose) </a:t>
            </a:r>
            <a:r>
              <a:rPr lang="en-US" altLang="en-US"/>
              <a:t>→</a:t>
            </a:r>
            <a:r>
              <a:rPr lang="en-US" altLang="zh-CN"/>
              <a:t> (postproc)</a:t>
            </a:r>
            <a:endParaRPr lang="zh-CN" altLang="en-US" b="1"/>
          </a:p>
          <a:p>
            <a:pPr lvl="1"/>
            <a:r>
              <a:rPr lang="en-US" altLang="zh-CN"/>
              <a:t>GPT-2</a:t>
            </a:r>
            <a:r>
              <a:rPr lang="zh-CN" altLang="en-US"/>
              <a:t>：</a:t>
            </a:r>
            <a:r>
              <a:rPr lang="en-US" altLang="zh-CN"/>
              <a:t>prefill vs decode </a:t>
            </a:r>
            <a:r>
              <a:rPr lang="zh-CN" altLang="en-US"/>
              <a:t>：</a:t>
            </a:r>
            <a:r>
              <a:rPr lang="en-US" altLang="zh-CN"/>
              <a:t>decode </a:t>
            </a:r>
            <a:r>
              <a:rPr lang="zh-CN" altLang="en-US"/>
              <a:t>报每</a:t>
            </a:r>
            <a:r>
              <a:rPr lang="en-US" altLang="zh-CN"/>
              <a:t>token</a:t>
            </a:r>
            <a:r>
              <a:rPr lang="zh-CN" altLang="en-US"/>
              <a:t>平均时延</a:t>
            </a:r>
            <a:r>
              <a:rPr lang="en-US" altLang="zh-CN"/>
              <a:t> tokens/s</a:t>
            </a:r>
            <a:endParaRPr lang="en-US" altLang="zh-CN"/>
          </a:p>
          <a:p>
            <a:pPr lvl="1"/>
            <a:r>
              <a:rPr lang="en-US" altLang="zh-CN"/>
              <a:t>Whisper</a:t>
            </a:r>
            <a:r>
              <a:rPr lang="zh-CN" altLang="en-US"/>
              <a:t>：</a:t>
            </a:r>
            <a:r>
              <a:rPr lang="en-US" altLang="zh-CN"/>
              <a:t>encoder vs decoder</a:t>
            </a:r>
            <a:r>
              <a:rPr lang="zh-CN" altLang="en-US"/>
              <a:t>；</a:t>
            </a:r>
            <a:r>
              <a:rPr lang="en-US" altLang="zh-CN"/>
              <a:t>decoder </a:t>
            </a:r>
            <a:r>
              <a:rPr lang="zh-CN" altLang="en-US"/>
              <a:t>内再分</a:t>
            </a:r>
            <a:r>
              <a:rPr lang="en-US" altLang="zh-CN"/>
              <a:t> self-attn / cross-attn</a:t>
            </a:r>
            <a:r>
              <a:rPr lang="zh-CN" altLang="en-US"/>
              <a:t>；前后处理（</a:t>
            </a:r>
            <a:r>
              <a:rPr lang="en-US" altLang="zh-CN"/>
              <a:t>STFT/CTC/tokenizer</a:t>
            </a:r>
            <a:r>
              <a:rPr lang="zh-CN" altLang="en-US"/>
              <a:t>）单列</a:t>
            </a:r>
            <a:endParaRPr lang="zh-CN" altLang="en-US"/>
          </a:p>
          <a:p>
            <a:r>
              <a:rPr lang="zh-CN" altLang="en-US"/>
              <a:t>热与降频</a:t>
            </a:r>
            <a:endParaRPr lang="zh-CN" altLang="en-US"/>
          </a:p>
          <a:p>
            <a:r>
              <a:rPr lang="zh-CN" altLang="en-US"/>
              <a:t>功耗与能效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算子：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异构分摊与回退</a:t>
            </a:r>
            <a:endParaRPr lang="zh-CN" altLang="en-US"/>
          </a:p>
          <a:p>
            <a:pPr lvl="1"/>
            <a:r>
              <a:rPr lang="en-US" altLang="zh-CN"/>
              <a:t>NPU/CPU </a:t>
            </a:r>
            <a:r>
              <a:rPr lang="zh-CN" altLang="en-US"/>
              <a:t>时间占比</a:t>
            </a:r>
            <a:endParaRPr lang="zh-CN" altLang="en-US"/>
          </a:p>
          <a:p>
            <a:pPr lvl="1"/>
            <a:r>
              <a:rPr lang="zh-CN" altLang="en-US"/>
              <a:t>分区拓扑</a:t>
            </a:r>
            <a:endParaRPr lang="zh-CN" altLang="en-US"/>
          </a:p>
          <a:p>
            <a:pPr lvl="1"/>
            <a:r>
              <a:rPr lang="zh-CN" altLang="en-US"/>
              <a:t>回退算子</a:t>
            </a:r>
            <a:endParaRPr lang="zh-CN" altLang="en-US"/>
          </a:p>
          <a:p>
            <a:pPr lvl="1"/>
            <a:r>
              <a:rPr lang="en-US" altLang="zh-CN"/>
              <a:t>offload </a:t>
            </a:r>
            <a:r>
              <a:rPr lang="zh-CN" altLang="en-US"/>
              <a:t>覆盖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参考</a:t>
            </a:r>
            <a:r>
              <a:rPr lang="en-US" altLang="zh-CN"/>
              <a:t>Profiling APPLE</a:t>
            </a:r>
            <a:r>
              <a:rPr lang="zh-CN" altLang="en-US"/>
              <a:t>那个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测量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10000"/>
          </a:bodyPr>
          <a:p>
            <a:r>
              <a:rPr lang="en-US" altLang="zh-CN"/>
              <a:t>prefill / decode</a:t>
            </a:r>
            <a:endParaRPr lang="en-US" altLang="zh-CN"/>
          </a:p>
          <a:p>
            <a:pPr lvl="1"/>
            <a:r>
              <a:rPr lang="en-US" altLang="zh-CN"/>
              <a:t>Tokens/s</a:t>
            </a:r>
            <a:r>
              <a:rPr lang="zh-CN" altLang="en-US"/>
              <a:t>与每</a:t>
            </a:r>
            <a:r>
              <a:rPr lang="en-US" altLang="zh-CN"/>
              <a:t> token </a:t>
            </a:r>
            <a:r>
              <a:rPr lang="zh-CN" altLang="en-US"/>
              <a:t>时延</a:t>
            </a:r>
            <a:endParaRPr lang="zh-CN" altLang="en-US"/>
          </a:p>
          <a:p>
            <a:pPr lvl="1"/>
            <a:r>
              <a:rPr lang="zh-CN" altLang="en-US"/>
              <a:t>百万</a:t>
            </a:r>
            <a:r>
              <a:rPr lang="en-US" altLang="zh-CN"/>
              <a:t> token </a:t>
            </a:r>
            <a:r>
              <a:rPr lang="zh-CN" altLang="en-US"/>
              <a:t>的成本</a:t>
            </a:r>
            <a:endParaRPr lang="zh-CN" altLang="en-US"/>
          </a:p>
          <a:p>
            <a:pPr lvl="1"/>
            <a:r>
              <a:rPr lang="zh-CN" altLang="en-US"/>
              <a:t>每阶段的时间占比</a:t>
            </a:r>
            <a:endParaRPr lang="zh-CN" altLang="en-US"/>
          </a:p>
          <a:p>
            <a:pPr lvl="2"/>
            <a:r>
              <a:rPr lang="en-US" altLang="zh-CN"/>
              <a:t>Transformer </a:t>
            </a:r>
            <a:r>
              <a:rPr lang="zh-CN" altLang="en-US"/>
              <a:t>拆成</a:t>
            </a:r>
            <a:r>
              <a:rPr lang="en-US" altLang="zh-CN"/>
              <a:t> ATTN / FFN / LM Head </a:t>
            </a:r>
            <a:r>
              <a:rPr lang="zh-CN" altLang="en-US"/>
              <a:t>等，统计各部分耗时比例</a:t>
            </a:r>
            <a:endParaRPr lang="zh-CN" altLang="en-US"/>
          </a:p>
          <a:p>
            <a:pPr lvl="1"/>
            <a:r>
              <a:rPr lang="zh-CN" altLang="en-US"/>
              <a:t>内核</a:t>
            </a:r>
            <a:r>
              <a:rPr lang="en-US" altLang="zh-CN"/>
              <a:t>/</a:t>
            </a:r>
            <a:r>
              <a:rPr lang="zh-CN" altLang="en-US"/>
              <a:t>算子粒度的吞吐与构成</a:t>
            </a:r>
            <a:endParaRPr lang="zh-CN" altLang="en-US"/>
          </a:p>
          <a:p>
            <a:pPr lvl="2"/>
            <a:r>
              <a:rPr lang="en-US" altLang="zh-CN"/>
              <a:t>GEMM</a:t>
            </a:r>
            <a:r>
              <a:rPr lang="zh-CN" altLang="en-US"/>
              <a:t>（</a:t>
            </a:r>
            <a:r>
              <a:rPr lang="en-US" altLang="zh-CN"/>
              <a:t>prefill</a:t>
            </a:r>
            <a:r>
              <a:rPr lang="zh-CN" altLang="en-US"/>
              <a:t>）与</a:t>
            </a:r>
            <a:r>
              <a:rPr lang="en-US" altLang="zh-CN"/>
              <a:t> GEMV</a:t>
            </a:r>
            <a:r>
              <a:rPr lang="zh-CN" altLang="en-US"/>
              <a:t>（</a:t>
            </a:r>
            <a:r>
              <a:rPr lang="en-US" altLang="zh-CN"/>
              <a:t>decode</a:t>
            </a:r>
            <a:r>
              <a:rPr lang="zh-CN" altLang="en-US"/>
              <a:t>）的</a:t>
            </a:r>
            <a:r>
              <a:rPr lang="en-US" altLang="zh-CN"/>
              <a:t>TFLOPS </a:t>
            </a:r>
            <a:r>
              <a:rPr lang="zh-CN" altLang="en-US"/>
              <a:t>吞吐，以及各量化方案下</a:t>
            </a:r>
            <a:r>
              <a:rPr lang="en-US" altLang="zh-CN"/>
              <a:t>“</a:t>
            </a:r>
            <a:r>
              <a:rPr lang="zh-CN" altLang="en-US"/>
              <a:t>解量化</a:t>
            </a:r>
            <a:r>
              <a:rPr lang="en-US" altLang="zh-CN"/>
              <a:t>+</a:t>
            </a:r>
            <a:r>
              <a:rPr lang="zh-CN" altLang="en-US"/>
              <a:t>运算</a:t>
            </a:r>
            <a:r>
              <a:rPr lang="en-US" altLang="zh-CN"/>
              <a:t>”</a:t>
            </a:r>
            <a:r>
              <a:rPr lang="zh-CN" altLang="en-US"/>
              <a:t>的融合核占比</a:t>
            </a:r>
            <a:endParaRPr lang="zh-CN" altLang="en-US"/>
          </a:p>
          <a:p>
            <a:pPr lvl="0"/>
            <a:r>
              <a:rPr lang="zh-CN" altLang="en-US"/>
              <a:t>硬件</a:t>
            </a:r>
            <a:r>
              <a:rPr lang="en-US" altLang="zh-CN"/>
              <a:t>/</a:t>
            </a:r>
            <a:r>
              <a:rPr lang="zh-CN" altLang="en-US"/>
              <a:t>内核级性能计数与利用率</a:t>
            </a:r>
            <a:endParaRPr lang="zh-CN" altLang="en-US"/>
          </a:p>
          <a:p>
            <a:pPr lvl="1"/>
            <a:r>
              <a:rPr lang="en-US" altLang="zh-CN"/>
              <a:t>ALU utilization / ALU stall / ALU limiter</a:t>
            </a:r>
            <a:endParaRPr lang="en-US" altLang="zh-CN"/>
          </a:p>
          <a:p>
            <a:pPr lvl="1"/>
            <a:r>
              <a:rPr lang="en-US" altLang="zh-CN"/>
              <a:t>FP32 / INT </a:t>
            </a:r>
            <a:r>
              <a:rPr lang="zh-CN" altLang="en-US"/>
              <a:t>利用率</a:t>
            </a:r>
            <a:endParaRPr lang="zh-CN" altLang="en-US"/>
          </a:p>
          <a:p>
            <a:pPr lvl="1"/>
            <a:r>
              <a:rPr lang="en-US" altLang="zh-CN"/>
              <a:t>Buffer load utilization </a:t>
            </a:r>
            <a:r>
              <a:rPr lang="zh-CN" altLang="en-US"/>
              <a:t>与</a:t>
            </a:r>
            <a:r>
              <a:rPr lang="en-US" altLang="zh-CN"/>
              <a:t> Buffer read limiter</a:t>
            </a:r>
            <a:r>
              <a:rPr lang="zh-CN" altLang="en-US"/>
              <a:t>＋</a:t>
            </a:r>
            <a:r>
              <a:rPr lang="en-US" altLang="zh-CN"/>
              <a:t>occupancy</a:t>
            </a:r>
            <a:endParaRPr lang="en-US" altLang="zh-CN"/>
          </a:p>
          <a:p>
            <a:pPr lvl="1"/>
            <a:r>
              <a:rPr lang="en-US" altLang="zh-CN"/>
              <a:t>Roofline / Arithmetic Intensity</a:t>
            </a:r>
            <a:endParaRPr lang="en-US" altLang="zh-CN"/>
          </a:p>
          <a:p>
            <a:pPr lvl="2"/>
            <a:r>
              <a:rPr lang="zh-CN" altLang="en-US"/>
              <a:t>建立解码阶段各组件的算力密度，判定计算受限还是内存受限。</a:t>
            </a:r>
            <a:endParaRPr lang="zh-CN" altLang="en-US"/>
          </a:p>
          <a:p>
            <a:pPr lvl="1"/>
            <a:r>
              <a:rPr lang="zh-CN" altLang="en-US"/>
              <a:t>指令层面开销</a:t>
            </a:r>
            <a:endParaRPr lang="zh-CN" altLang="en-US"/>
          </a:p>
          <a:p>
            <a:pPr lvl="1"/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pay attention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CPU</a:t>
            </a:r>
            <a:r>
              <a:rPr lang="zh-CN" altLang="en-US"/>
              <a:t>推理与</a:t>
            </a:r>
            <a:r>
              <a:rPr lang="en-US" altLang="zh-CN"/>
              <a:t>NPU</a:t>
            </a:r>
            <a:r>
              <a:rPr lang="zh-CN" altLang="en-US"/>
              <a:t>推理运行的是一个模型吗？可能需要经过编译器的</a:t>
            </a:r>
            <a:r>
              <a:rPr lang="zh-CN" altLang="en-US"/>
              <a:t>转换</a:t>
            </a:r>
            <a:endParaRPr lang="zh-CN" altLang="en-US"/>
          </a:p>
          <a:p>
            <a:pPr lvl="1"/>
            <a:r>
              <a:rPr lang="en-US" altLang="zh-CN" sz="1600"/>
              <a:t>Ethos U65</a:t>
            </a:r>
            <a:r>
              <a:rPr lang="zh-CN" altLang="en-US" sz="1600"/>
              <a:t>是</a:t>
            </a:r>
            <a:r>
              <a:rPr lang="en-US" altLang="zh-CN" sz="1600"/>
              <a:t> Vela</a:t>
            </a:r>
            <a:r>
              <a:rPr lang="zh-CN" altLang="en-US" sz="1600"/>
              <a:t>编译的</a:t>
            </a:r>
            <a:r>
              <a:rPr lang="en-US" altLang="zh-CN" sz="1600"/>
              <a:t>TFLite</a:t>
            </a:r>
            <a:r>
              <a:rPr lang="zh-CN" altLang="en-US" sz="1600"/>
              <a:t>模型</a:t>
            </a:r>
            <a:endParaRPr lang="zh-CN" altLang="en-US" sz="1600"/>
          </a:p>
          <a:p>
            <a:pPr lvl="1"/>
            <a:r>
              <a:rPr lang="en-US" altLang="zh-CN" sz="1600"/>
              <a:t>RK3588</a:t>
            </a:r>
            <a:r>
              <a:rPr lang="zh-CN" altLang="en-US" sz="1600"/>
              <a:t>可以把</a:t>
            </a:r>
            <a:r>
              <a:rPr lang="en-US" altLang="zh-CN" sz="1600"/>
              <a:t>TFLite</a:t>
            </a:r>
            <a:r>
              <a:rPr lang="zh-CN" altLang="en-US" sz="1600"/>
              <a:t>转成</a:t>
            </a:r>
            <a:r>
              <a:rPr lang="en-US" altLang="zh-CN" sz="1600"/>
              <a:t>RKNN</a:t>
            </a:r>
            <a:r>
              <a:rPr lang="zh-CN" altLang="en-US" sz="1600"/>
              <a:t>推理</a:t>
            </a:r>
            <a:endParaRPr lang="zh-CN" altLang="en-US" sz="1600"/>
          </a:p>
          <a:p>
            <a:pPr lvl="1"/>
            <a:r>
              <a:rPr lang="zh-CN" altLang="en-US" sz="1600"/>
              <a:t>上面两个应该都和原</a:t>
            </a:r>
            <a:r>
              <a:rPr lang="en-US" altLang="zh-CN" sz="1600"/>
              <a:t>TFLite</a:t>
            </a:r>
            <a:r>
              <a:rPr lang="zh-CN" altLang="en-US" sz="1600"/>
              <a:t>模型匹配，或者说编译器的优化本身就是</a:t>
            </a:r>
            <a:r>
              <a:rPr lang="en-US" altLang="zh-CN" sz="1600"/>
              <a:t>NPU</a:t>
            </a:r>
            <a:r>
              <a:rPr lang="zh-CN" altLang="en-US" sz="1600"/>
              <a:t>能力的一部分。但是</a:t>
            </a:r>
            <a:r>
              <a:rPr lang="en-US" altLang="zh-CN" sz="1600"/>
              <a:t>ASCEND310B</a:t>
            </a:r>
            <a:r>
              <a:rPr lang="zh-CN" altLang="en-US" sz="1600"/>
              <a:t>的</a:t>
            </a:r>
            <a:r>
              <a:rPr lang="en-US" altLang="zh-CN" sz="1600"/>
              <a:t>.om</a:t>
            </a:r>
            <a:r>
              <a:rPr lang="zh-CN" altLang="en-US" sz="1600"/>
              <a:t>模型不能直接用</a:t>
            </a:r>
            <a:r>
              <a:rPr lang="en-US" altLang="zh-CN" sz="1600"/>
              <a:t>TFLite</a:t>
            </a:r>
            <a:r>
              <a:rPr lang="zh-CN" altLang="en-US" sz="1600"/>
              <a:t>转，只能从</a:t>
            </a:r>
            <a:r>
              <a:rPr lang="en-US" altLang="zh-CN" sz="1600"/>
              <a:t>ONNX</a:t>
            </a:r>
            <a:r>
              <a:rPr lang="zh-CN" altLang="en-US" sz="1600"/>
              <a:t>转。但是</a:t>
            </a:r>
            <a:r>
              <a:rPr lang="en-US" altLang="zh-CN" sz="1600"/>
              <a:t>ONNX</a:t>
            </a:r>
            <a:r>
              <a:rPr lang="zh-CN" altLang="en-US" sz="1600"/>
              <a:t>模型和</a:t>
            </a:r>
            <a:r>
              <a:rPr lang="en-US" altLang="zh-CN" sz="1600"/>
              <a:t>TFLite</a:t>
            </a:r>
            <a:r>
              <a:rPr lang="zh-CN" altLang="en-US" sz="1600"/>
              <a:t>模型对应的同一个模型算子和</a:t>
            </a:r>
            <a:r>
              <a:rPr lang="zh-CN" altLang="en-US" sz="1600"/>
              <a:t>优化是一致的吗？</a:t>
            </a:r>
            <a:endParaRPr lang="zh-CN" altLang="en-US" sz="1600"/>
          </a:p>
          <a:p>
            <a:pPr lvl="1"/>
            <a:endParaRPr lang="zh-CN" altLang="en-US"/>
          </a:p>
          <a:p>
            <a:pPr lvl="1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68090"/>
            <a:ext cx="10969200" cy="705600"/>
          </a:xfrm>
        </p:spPr>
        <p:txBody>
          <a:bodyPr>
            <a:normAutofit/>
          </a:bodyPr>
          <a:p>
            <a:r>
              <a:rPr lang="zh-CN" altLang="en-US"/>
              <a:t>目前的大模型</a:t>
            </a:r>
            <a:r>
              <a:rPr lang="zh-CN" altLang="en-US"/>
              <a:t>很多是</a:t>
            </a:r>
            <a:r>
              <a:rPr lang="en-US" altLang="zh-CN"/>
              <a:t>Weight only</a:t>
            </a:r>
            <a:r>
              <a:rPr lang="zh-CN" altLang="en-US"/>
              <a:t>的</a:t>
            </a:r>
            <a:r>
              <a:rPr lang="en-US" altLang="zh-CN"/>
              <a:t>quantization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Ethos U </a:t>
            </a:r>
            <a:r>
              <a:rPr lang="zh-CN" altLang="en-US"/>
              <a:t>类无法进行加速</a:t>
            </a:r>
            <a:endParaRPr lang="zh-CN" altLang="en-US"/>
          </a:p>
          <a:p>
            <a:pPr lvl="1"/>
            <a:r>
              <a:rPr lang="zh-CN" altLang="en-US"/>
              <a:t>存在</a:t>
            </a:r>
            <a:r>
              <a:rPr lang="en-US" altLang="zh-CN"/>
              <a:t>W8A8</a:t>
            </a:r>
            <a:r>
              <a:rPr lang="zh-CN" altLang="en-US"/>
              <a:t>的大模型，可以</a:t>
            </a:r>
            <a:r>
              <a:rPr lang="zh-CN" altLang="en-US"/>
              <a:t>加速</a:t>
            </a:r>
            <a:endParaRPr lang="zh-CN" altLang="en-US"/>
          </a:p>
          <a:p>
            <a:pPr lvl="0"/>
            <a:r>
              <a:rPr lang="zh-CN" altLang="en-US"/>
              <a:t>即使能加速，模型里存在的操作</a:t>
            </a:r>
            <a:r>
              <a:rPr lang="en-US" altLang="zh-CN"/>
              <a:t>Vela</a:t>
            </a:r>
            <a:r>
              <a:rPr lang="zh-CN" altLang="en-US"/>
              <a:t>编译器也不识别直接报错无法</a:t>
            </a:r>
            <a:r>
              <a:rPr lang="zh-CN" altLang="en-US"/>
              <a:t>编译</a:t>
            </a:r>
            <a:endParaRPr lang="zh-CN" altLang="en-US"/>
          </a:p>
          <a:p>
            <a:pPr lvl="1"/>
            <a:r>
              <a:rPr lang="zh-CN" altLang="en-US"/>
              <a:t>可能替换成</a:t>
            </a:r>
            <a:r>
              <a:rPr lang="en-US" altLang="zh-CN"/>
              <a:t>Vela</a:t>
            </a:r>
            <a:r>
              <a:rPr lang="zh-CN" altLang="en-US"/>
              <a:t>支持的</a:t>
            </a:r>
            <a:r>
              <a:rPr lang="zh-CN" altLang="en-US"/>
              <a:t>算子？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MLU220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FP16</a:t>
            </a:r>
            <a:r>
              <a:rPr lang="zh-CN" altLang="en-US"/>
              <a:t>算子支持的少，不如</a:t>
            </a:r>
            <a:r>
              <a:rPr lang="en-US" altLang="zh-CN"/>
              <a:t>INT8</a:t>
            </a:r>
            <a:r>
              <a:rPr lang="zh-CN" altLang="en-US"/>
              <a:t>和</a:t>
            </a:r>
            <a:r>
              <a:rPr lang="en-US" altLang="zh-CN"/>
              <a:t>IN</a:t>
            </a:r>
            <a:r>
              <a:rPr lang="en-US" altLang="zh-CN"/>
              <a:t>T16</a:t>
            </a:r>
            <a:endParaRPr lang="en-US" altLang="zh-CN"/>
          </a:p>
          <a:p>
            <a:r>
              <a:rPr lang="zh-CN" altLang="en-US"/>
              <a:t>编译器不能直接从</a:t>
            </a:r>
            <a:r>
              <a:rPr lang="en-US" altLang="zh-CN"/>
              <a:t>TFLite</a:t>
            </a:r>
            <a:r>
              <a:rPr lang="zh-CN" altLang="en-US"/>
              <a:t>转，要从</a:t>
            </a:r>
            <a:r>
              <a:rPr lang="en-US" altLang="zh-CN"/>
              <a:t>ONNX</a:t>
            </a:r>
            <a:r>
              <a:rPr lang="zh-CN" altLang="en-US"/>
              <a:t>转</a:t>
            </a:r>
            <a:endParaRPr lang="zh-CN" altLang="en-US"/>
          </a:p>
          <a:p>
            <a:r>
              <a:rPr lang="zh-CN" altLang="en-US"/>
              <a:t>算力高，</a:t>
            </a:r>
            <a:r>
              <a:rPr lang="en-US" altLang="zh-CN"/>
              <a:t>8TOPS/16TOPS </a:t>
            </a:r>
            <a:r>
              <a:rPr lang="zh-CN" altLang="en-US"/>
              <a:t>但是算子覆盖低且都是</a:t>
            </a:r>
            <a:r>
              <a:rPr lang="en-US" altLang="zh-CN"/>
              <a:t>INT8</a:t>
            </a:r>
            <a:r>
              <a:rPr lang="zh-CN" altLang="en-US"/>
              <a:t>的。</a:t>
            </a:r>
            <a:r>
              <a:rPr lang="en-US" altLang="zh-CN"/>
              <a:t>FP16</a:t>
            </a:r>
            <a:r>
              <a:rPr lang="zh-CN" altLang="en-US"/>
              <a:t>的算力未公布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开发板：找为</a:t>
            </a:r>
            <a:r>
              <a:rPr lang="en-US" altLang="zh-CN"/>
              <a:t>CNN</a:t>
            </a:r>
            <a:r>
              <a:rPr lang="zh-CN" altLang="en-US"/>
              <a:t>做的</a:t>
            </a:r>
            <a:r>
              <a:rPr lang="en-US" altLang="zh-CN"/>
              <a:t>NPU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Amlogic A311D</a:t>
            </a:r>
            <a:endParaRPr lang="en-US" altLang="zh-CN"/>
          </a:p>
          <a:p>
            <a:r>
              <a:rPr lang="en-US" altLang="zh-CN"/>
              <a:t>Allwinner V853 / V853S</a:t>
            </a:r>
            <a:endParaRPr lang="en-US" altLang="zh-CN"/>
          </a:p>
          <a:p>
            <a:r>
              <a:rPr lang="en-US" altLang="zh-CN"/>
              <a:t>TI Sitara AM62A</a:t>
            </a:r>
            <a:endParaRPr lang="en-US" altLang="zh-CN"/>
          </a:p>
          <a:p>
            <a:r>
              <a:rPr lang="en-US" altLang="zh-CN">
                <a:sym typeface="+mn-ea"/>
              </a:rPr>
              <a:t>MLU220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4465</Words>
  <Application>WPS 演示</Application>
  <PresentationFormat>宽屏</PresentationFormat>
  <Paragraphs>246</Paragraphs>
  <Slides>40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921</vt:lpstr>
      <vt:lpstr>PowerPoint 演示文稿</vt:lpstr>
      <vt:lpstr>测量</vt:lpstr>
      <vt:lpstr>PowerPoint 演示文稿</vt:lpstr>
      <vt:lpstr>测量</vt:lpstr>
      <vt:lpstr>PowerPoint 演示文稿</vt:lpstr>
      <vt:lpstr>带宽受限问题</vt:lpstr>
      <vt:lpstr>为啥Ethos U85能支持Transformer，Ethos U65就不行？</vt:lpstr>
      <vt:lpstr>PowerPoint 演示文稿</vt:lpstr>
      <vt:lpstr>RK3588：能看到不同算子NPU对CPU的加速比</vt:lpstr>
      <vt:lpstr>CPU对应 </vt:lpstr>
      <vt:lpstr>在RK3588上，算子也不全是NPU比CPU快</vt:lpstr>
      <vt:lpstr>ASCEND310B</vt:lpstr>
      <vt:lpstr>INT8推理不如FP16的快</vt:lpstr>
      <vt:lpstr>SoftMax和EWOP是大头</vt:lpstr>
      <vt:lpstr>ASCEND310B VIT W8A8推理 三线程onnxruntime</vt:lpstr>
      <vt:lpstr>测量实时TOPS？测MAC和Cycle Counts</vt:lpstr>
      <vt:lpstr>不同端侧推理引擎和不同NPU会造成精度不同</vt:lpstr>
      <vt:lpstr>Transformer＋INT8会影响精度</vt:lpstr>
      <vt:lpstr>Profiling GPU＋CNN（ours：NPU＋Transformer）启发式选组代替穷举</vt:lpstr>
      <vt:lpstr>测量内存带宽：</vt:lpstr>
      <vt:lpstr>Topic：Profiling On-Device Transformer Inference on Low-End NPUs</vt:lpstr>
      <vt:lpstr>后端：Ethos U65是TFLite</vt:lpstr>
      <vt:lpstr>RKNPU：CPU TFLite？NPU用的闭源运行时</vt:lpstr>
      <vt:lpstr>后端的线程</vt:lpstr>
      <vt:lpstr>模型</vt:lpstr>
      <vt:lpstr>模型</vt:lpstr>
      <vt:lpstr>模型：Hugging Face Qualcomm AI</vt:lpstr>
      <vt:lpstr>PowerPoint 演示文稿</vt:lpstr>
      <vt:lpstr>PowerPoint 演示文稿</vt:lpstr>
      <vt:lpstr>details</vt:lpstr>
      <vt:lpstr>启动过程：</vt:lpstr>
      <vt:lpstr>推理阶段:</vt:lpstr>
      <vt:lpstr>算子：</vt:lpstr>
      <vt:lpstr>参考Profiling APPLE那个</vt:lpstr>
      <vt:lpstr>测量</vt:lpstr>
      <vt:lpstr>pay attention：</vt:lpstr>
      <vt:lpstr>目前的大模型很多是Weight only的quantization</vt:lpstr>
      <vt:lpstr>MLU220</vt:lpstr>
      <vt:lpstr>开发板：找为CNN做的NPU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道不远人</cp:lastModifiedBy>
  <cp:revision>187</cp:revision>
  <dcterms:created xsi:type="dcterms:W3CDTF">2019-06-19T02:08:00Z</dcterms:created>
  <dcterms:modified xsi:type="dcterms:W3CDTF">2025-09-21T03:51:22Z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67D29968288649138B9A7E2CE9F01FB3_11</vt:lpwstr>
  </property>
</Properties>
</file>