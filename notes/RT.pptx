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73" r:id="rId3"/>
    <p:sldId id="280" r:id="rId4"/>
    <p:sldId id="289" r:id="rId5"/>
    <p:sldId id="281" r:id="rId6"/>
    <p:sldId id="288" r:id="rId7"/>
    <p:sldId id="274" r:id="rId8"/>
    <p:sldId id="275" r:id="rId9"/>
    <p:sldId id="277" r:id="rId10"/>
    <p:sldId id="290" r:id="rId12"/>
    <p:sldId id="276" r:id="rId13"/>
    <p:sldId id="296" r:id="rId14"/>
    <p:sldId id="297" r:id="rId15"/>
    <p:sldId id="298" r:id="rId16"/>
    <p:sldId id="256" r:id="rId17"/>
    <p:sldId id="266" r:id="rId18"/>
    <p:sldId id="267" r:id="rId19"/>
    <p:sldId id="268" r:id="rId20"/>
    <p:sldId id="261" r:id="rId21"/>
    <p:sldId id="269" r:id="rId22"/>
    <p:sldId id="270" r:id="rId23"/>
    <p:sldId id="257" r:id="rId24"/>
    <p:sldId id="259" r:id="rId25"/>
    <p:sldId id="258" r:id="rId26"/>
    <p:sldId id="260" r:id="rId27"/>
    <p:sldId id="264" r:id="rId28"/>
    <p:sldId id="265" r:id="rId29"/>
    <p:sldId id="262" r:id="rId30"/>
    <p:sldId id="263" r:id="rId31"/>
    <p:sldId id="292" r:id="rId32"/>
    <p:sldId id="283" r:id="rId33"/>
    <p:sldId id="284" r:id="rId34"/>
    <p:sldId id="285" r:id="rId35"/>
    <p:sldId id="286" r:id="rId36"/>
    <p:sldId id="287" r:id="rId37"/>
    <p:sldId id="291" r:id="rId38"/>
    <p:sldId id="294" r:id="rId39"/>
    <p:sldId id="295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1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image" Target="../media/image2.png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3.png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8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9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image" Target="../media/image12.png"/><Relationship Id="rId1" Type="http://schemas.openxmlformats.org/officeDocument/2006/relationships/tags" Target="../tags/tag93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9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9.xml"/><Relationship Id="rId3" Type="http://schemas.openxmlformats.org/officeDocument/2006/relationships/image" Target="../media/image16.png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2.xml"/><Relationship Id="rId3" Type="http://schemas.openxmlformats.org/officeDocument/2006/relationships/image" Target="../media/image17.png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4.xml"/><Relationship Id="rId2" Type="http://schemas.openxmlformats.org/officeDocument/2006/relationships/image" Target="../media/image18.png"/><Relationship Id="rId1" Type="http://schemas.openxmlformats.org/officeDocument/2006/relationships/tags" Target="../tags/tag143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9.xml"/><Relationship Id="rId2" Type="http://schemas.openxmlformats.org/officeDocument/2006/relationships/image" Target="../media/image3.png"/><Relationship Id="rId1" Type="http://schemas.openxmlformats.org/officeDocument/2006/relationships/tags" Target="../tags/tag148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5.xml"/><Relationship Id="rId3" Type="http://schemas.openxmlformats.org/officeDocument/2006/relationships/image" Target="../media/image19.png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8.xml"/><Relationship Id="rId3" Type="http://schemas.openxmlformats.org/officeDocument/2006/relationships/image" Target="../media/image20.png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low level profiler design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296160" y="3879850"/>
            <a:ext cx="7972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问题根源是大多数端侧</a:t>
            </a:r>
            <a:r>
              <a:rPr lang="en-US" altLang="zh-CN"/>
              <a:t>NPU</a:t>
            </a:r>
            <a:r>
              <a:rPr lang="zh-CN" altLang="en-US"/>
              <a:t>的可编程性太弱，有可编程性高的</a:t>
            </a:r>
            <a:r>
              <a:rPr lang="en-US" altLang="zh-CN"/>
              <a:t>NPU</a:t>
            </a:r>
            <a:r>
              <a:rPr lang="zh-CN" altLang="en-US"/>
              <a:t>但是闭源的（</a:t>
            </a:r>
            <a:r>
              <a:rPr lang="en-US" altLang="zh-CN"/>
              <a:t>ASCEBD/MLU</a:t>
            </a:r>
            <a:r>
              <a:rPr lang="zh-CN" altLang="en-US"/>
              <a:t>）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NPU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驱动直接读写</a:t>
            </a:r>
            <a:r>
              <a:rPr lang="en-US" altLang="zh-CN"/>
              <a:t>NPU</a:t>
            </a:r>
            <a:r>
              <a:rPr lang="zh-CN" altLang="en-US"/>
              <a:t>：</a:t>
            </a:r>
            <a:r>
              <a:rPr lang="en-US" altLang="zh-CN"/>
              <a:t>RKNPU</a:t>
            </a:r>
            <a:r>
              <a:rPr lang="zh-CN" altLang="en-US"/>
              <a:t>（</a:t>
            </a:r>
            <a:r>
              <a:rPr lang="en-US" altLang="zh-CN"/>
              <a:t>RK3588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开源固件读写</a:t>
            </a:r>
            <a:r>
              <a:rPr lang="en-US" altLang="zh-CN"/>
              <a:t>NPU</a:t>
            </a:r>
            <a:r>
              <a:rPr lang="zh-CN" altLang="en-US"/>
              <a:t>：</a:t>
            </a:r>
            <a:r>
              <a:rPr lang="en-US" altLang="zh-CN"/>
              <a:t>Ethos U65(i.MX93)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9860" y="0"/>
            <a:ext cx="6117590" cy="66675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NPU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闭源固件：</a:t>
            </a:r>
            <a:endParaRPr lang="zh-CN" altLang="en-US"/>
          </a:p>
          <a:p>
            <a:pPr lvl="1"/>
            <a:r>
              <a:rPr lang="en-US" altLang="zh-CN"/>
              <a:t>Qualcomm HTP</a:t>
            </a:r>
            <a:r>
              <a:rPr lang="zh-CN" altLang="en-US"/>
              <a:t>，</a:t>
            </a:r>
            <a:r>
              <a:rPr lang="en-US" altLang="zh-CN"/>
              <a:t>ASCEND</a:t>
            </a:r>
            <a:r>
              <a:rPr lang="zh-CN" altLang="en-US"/>
              <a:t>，</a:t>
            </a:r>
            <a:r>
              <a:rPr lang="en-US" altLang="zh-CN"/>
              <a:t>MLU</a:t>
            </a:r>
            <a:r>
              <a:rPr lang="zh-CN" altLang="en-US"/>
              <a:t>，</a:t>
            </a:r>
            <a:r>
              <a:rPr lang="en-US" altLang="zh-CN"/>
              <a:t>Mediatek</a:t>
            </a:r>
            <a:r>
              <a:rPr lang="zh-CN" altLang="en-US"/>
              <a:t>（</a:t>
            </a:r>
            <a:r>
              <a:rPr lang="en-US" altLang="zh-CN"/>
              <a:t>APU</a:t>
            </a:r>
            <a:r>
              <a:rPr lang="zh-CN" altLang="en-US"/>
              <a:t>）</a:t>
            </a:r>
            <a:endParaRPr lang="en-US" altLang="zh-CN"/>
          </a:p>
          <a:p>
            <a:pPr lvl="0"/>
            <a:r>
              <a:rPr lang="zh-CN" altLang="en-US"/>
              <a:t>闭源</a:t>
            </a:r>
            <a:r>
              <a:rPr lang="zh-CN" altLang="en-US"/>
              <a:t>驱动：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Amlogic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galcore.ko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i.MX8plus</a:t>
            </a:r>
            <a:endParaRPr lang="zh-CN" alt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915" y="3354070"/>
            <a:ext cx="9227820" cy="28956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运行时已有</a:t>
            </a:r>
            <a:r>
              <a:rPr lang="zh-CN" altLang="en-US"/>
              <a:t>社区逆向</a:t>
            </a:r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18920" y="1381125"/>
            <a:ext cx="9153525" cy="53670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low level profiler</a:t>
            </a:r>
            <a:r>
              <a:rPr lang="zh-CN" altLang="en-US"/>
              <a:t>瓶颈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NPU</a:t>
            </a:r>
            <a:r>
              <a:rPr lang="zh-CN" altLang="en-US">
                <a:sym typeface="+mn-ea"/>
              </a:rPr>
              <a:t>把所有底层控制全写死到</a:t>
            </a:r>
            <a:r>
              <a:rPr lang="en-US" altLang="zh-CN">
                <a:sym typeface="+mn-ea"/>
              </a:rPr>
              <a:t>NPU</a:t>
            </a:r>
            <a:r>
              <a:rPr lang="zh-CN" altLang="en-US">
                <a:sym typeface="+mn-ea"/>
              </a:rPr>
              <a:t>内部，系统测没有</a:t>
            </a:r>
            <a:r>
              <a:rPr lang="en-US" altLang="zh-CN">
                <a:sym typeface="+mn-ea"/>
              </a:rPr>
              <a:t>API</a:t>
            </a:r>
            <a:r>
              <a:rPr lang="zh-CN" altLang="en-US">
                <a:sym typeface="+mn-ea"/>
              </a:rPr>
              <a:t>，无法控制也无法观测</a:t>
            </a:r>
            <a:endParaRPr lang="zh-CN" altLang="en-US">
              <a:sym typeface="+mn-ea"/>
            </a:endParaRPr>
          </a:p>
          <a:p>
            <a:r>
              <a:rPr lang="en-US" altLang="zh-CN"/>
              <a:t>NPU</a:t>
            </a:r>
            <a:r>
              <a:rPr lang="zh-CN" altLang="en-US"/>
              <a:t>闭源</a:t>
            </a:r>
            <a:endParaRPr lang="zh-CN" altLang="en-US"/>
          </a:p>
          <a:p>
            <a:r>
              <a:rPr lang="en-US" altLang="zh-CN"/>
              <a:t>NPU</a:t>
            </a:r>
            <a:r>
              <a:rPr lang="zh-CN" altLang="en-US"/>
              <a:t>的</a:t>
            </a:r>
            <a:r>
              <a:rPr lang="en-US" altLang="zh-CN"/>
              <a:t>PMU</a:t>
            </a:r>
            <a:r>
              <a:rPr lang="zh-CN" altLang="en-US"/>
              <a:t>（如果</a:t>
            </a:r>
            <a:r>
              <a:rPr lang="zh-CN" altLang="en-US"/>
              <a:t>有）很强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Ethos U65</a:t>
            </a:r>
            <a:r>
              <a:rPr lang="zh-CN" altLang="en-US"/>
              <a:t>的</a:t>
            </a:r>
            <a:r>
              <a:rPr lang="en-US" altLang="zh-CN"/>
              <a:t>PMU</a:t>
            </a:r>
            <a:r>
              <a:rPr lang="zh-CN" altLang="en-US"/>
              <a:t>太强了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88035" y="1313815"/>
            <a:ext cx="2206625" cy="53892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990" y="1367790"/>
            <a:ext cx="2285365" cy="53352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685" y="1253490"/>
            <a:ext cx="2348865" cy="54495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9570" y="483235"/>
            <a:ext cx="2609215" cy="621982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无法通过修改驱动和固件实现</a:t>
            </a:r>
            <a:r>
              <a:rPr lang="en-US" altLang="zh-CN"/>
              <a:t>PMU</a:t>
            </a:r>
            <a:r>
              <a:rPr lang="zh-CN" altLang="en-US"/>
              <a:t>对应的</a:t>
            </a:r>
            <a:r>
              <a:rPr lang="zh-CN" altLang="en-US"/>
              <a:t>能力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能测</a:t>
            </a:r>
            <a:r>
              <a:rPr lang="zh-CN" altLang="en-US"/>
              <a:t>的</a:t>
            </a:r>
            <a:endParaRPr lang="zh-CN" altLang="en-US"/>
          </a:p>
          <a:p>
            <a:pPr lvl="1"/>
            <a:r>
              <a:rPr lang="zh-CN" altLang="en-US" sz="1600"/>
              <a:t>每次提交的时间起止时间和长度</a:t>
            </a:r>
            <a:endParaRPr lang="zh-CN" altLang="en-US" sz="1600"/>
          </a:p>
          <a:p>
            <a:pPr lvl="1"/>
            <a:r>
              <a:rPr lang="zh-CN" altLang="en-US" sz="1600"/>
              <a:t>理论的</a:t>
            </a:r>
            <a:r>
              <a:rPr lang="en-US" altLang="zh-CN" sz="1600"/>
              <a:t>MAC</a:t>
            </a:r>
            <a:r>
              <a:rPr lang="zh-CN" altLang="en-US" sz="1600"/>
              <a:t>数可以从</a:t>
            </a:r>
            <a:r>
              <a:rPr lang="en-US" altLang="zh-CN" sz="1600"/>
              <a:t>Vela</a:t>
            </a:r>
            <a:r>
              <a:rPr lang="zh-CN" altLang="en-US" sz="1600"/>
              <a:t>的报告中拿到</a:t>
            </a:r>
            <a:endParaRPr lang="zh-CN" altLang="en-US" sz="1600"/>
          </a:p>
          <a:p>
            <a:pPr lvl="1"/>
            <a:r>
              <a:rPr lang="zh-CN" altLang="en-US" sz="1600"/>
              <a:t>理论的搬运字节数可以从</a:t>
            </a:r>
            <a:r>
              <a:rPr lang="en-US" altLang="zh-CN" sz="1600"/>
              <a:t>Vela</a:t>
            </a:r>
            <a:r>
              <a:rPr lang="zh-CN" altLang="en-US" sz="1600"/>
              <a:t>中</a:t>
            </a:r>
            <a:r>
              <a:rPr lang="zh-CN" altLang="en-US" sz="1600"/>
              <a:t>拿到</a:t>
            </a:r>
            <a:endParaRPr lang="zh-CN" altLang="en-US" sz="1600"/>
          </a:p>
          <a:p>
            <a:pPr lvl="1"/>
            <a:r>
              <a:rPr lang="zh-CN" altLang="en-US"/>
              <a:t>也许</a:t>
            </a:r>
            <a:r>
              <a:rPr lang="zh-CN" altLang="en-US"/>
              <a:t>能测</a:t>
            </a:r>
            <a:r>
              <a:rPr lang="en-US" altLang="zh-CN"/>
              <a:t>NPU</a:t>
            </a:r>
            <a:r>
              <a:rPr lang="zh-CN" altLang="en-US"/>
              <a:t>的带宽，</a:t>
            </a:r>
            <a:r>
              <a:rPr lang="en-US" altLang="zh-CN"/>
              <a:t>NPU</a:t>
            </a:r>
            <a:r>
              <a:rPr lang="zh-CN" altLang="en-US"/>
              <a:t>的内存流量？</a:t>
            </a:r>
            <a:endParaRPr lang="en-US" altLang="zh-CN"/>
          </a:p>
          <a:p>
            <a:r>
              <a:rPr lang="zh-CN" altLang="en-US"/>
              <a:t>不能测</a:t>
            </a:r>
            <a:r>
              <a:rPr lang="zh-CN" altLang="en-US"/>
              <a:t>的</a:t>
            </a:r>
            <a:endParaRPr lang="zh-CN" altLang="en-US"/>
          </a:p>
          <a:p>
            <a:pPr lvl="1"/>
            <a:r>
              <a:rPr lang="en-US" altLang="zh-CN"/>
              <a:t>NPU</a:t>
            </a:r>
            <a:r>
              <a:rPr lang="zh-CN" altLang="en-US"/>
              <a:t>内部的</a:t>
            </a:r>
            <a:r>
              <a:rPr lang="en-US" altLang="zh-CN"/>
              <a:t>SRAM</a:t>
            </a:r>
            <a:r>
              <a:rPr lang="zh-CN" altLang="en-US"/>
              <a:t>相关</a:t>
            </a:r>
            <a:endParaRPr lang="zh-CN" altLang="en-US"/>
          </a:p>
          <a:p>
            <a:pPr lvl="1"/>
            <a:r>
              <a:rPr lang="en-US" altLang="zh-CN"/>
              <a:t>NPU</a:t>
            </a:r>
            <a:r>
              <a:rPr lang="zh-CN" altLang="en-US"/>
              <a:t>的周期，只能系统侧</a:t>
            </a:r>
            <a:r>
              <a:rPr lang="zh-CN" altLang="en-US"/>
              <a:t>近似</a:t>
            </a:r>
            <a:endParaRPr lang="zh-CN" altLang="en-US"/>
          </a:p>
          <a:p>
            <a:pPr lvl="1"/>
            <a:r>
              <a:rPr lang="en-US" altLang="zh-CN"/>
              <a:t>NPU</a:t>
            </a:r>
            <a:r>
              <a:rPr lang="zh-CN" altLang="en-US"/>
              <a:t>的</a:t>
            </a:r>
            <a:r>
              <a:rPr lang="en-US" altLang="zh-CN"/>
              <a:t>AXI</a:t>
            </a:r>
            <a:r>
              <a:rPr lang="zh-CN" altLang="en-US"/>
              <a:t>级</a:t>
            </a:r>
            <a:r>
              <a:rPr lang="zh-CN" altLang="en-US"/>
              <a:t>事件</a:t>
            </a:r>
            <a:endParaRPr lang="zh-CN" altLang="en-US"/>
          </a:p>
          <a:p>
            <a:pPr lvl="1"/>
            <a:r>
              <a:rPr lang="zh-CN" altLang="en-US"/>
              <a:t>各个算子阶段、</a:t>
            </a:r>
            <a:r>
              <a:rPr lang="en-US" altLang="zh-CN"/>
              <a:t>MAC</a:t>
            </a:r>
            <a:r>
              <a:rPr lang="zh-CN" altLang="en-US"/>
              <a:t>忙闲、</a:t>
            </a:r>
            <a:r>
              <a:rPr lang="en-US" altLang="zh-CN"/>
              <a:t> </a:t>
            </a:r>
            <a:r>
              <a:rPr lang="zh-CN" altLang="en-US"/>
              <a:t>内部</a:t>
            </a:r>
            <a:r>
              <a:rPr lang="zh-CN" altLang="en-US"/>
              <a:t>读写、</a:t>
            </a:r>
            <a:r>
              <a:rPr lang="en-US" altLang="zh-CN"/>
              <a:t>stall</a:t>
            </a:r>
            <a:r>
              <a:rPr lang="zh-CN" altLang="en-US"/>
              <a:t>。这些是芯片内的事情，也许可以通过外界的指标（测信道）推测？但是测信道的数据不准也顶多是近似</a:t>
            </a:r>
            <a:r>
              <a:rPr lang="zh-CN" altLang="en-US"/>
              <a:t>值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RK3588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内核驱动只负责上电、映射内存、提交作业和收中断，真正的计划</a:t>
            </a:r>
            <a:r>
              <a:rPr lang="en-US" altLang="zh-CN"/>
              <a:t>/</a:t>
            </a:r>
            <a:r>
              <a:rPr lang="zh-CN" altLang="en-US"/>
              <a:t>调度</a:t>
            </a:r>
            <a:r>
              <a:rPr lang="en-US" altLang="zh-CN"/>
              <a:t>/</a:t>
            </a:r>
            <a:r>
              <a:rPr lang="zh-CN" altLang="en-US"/>
              <a:t>命令编码都在闭源的用户态</a:t>
            </a:r>
            <a:r>
              <a:rPr lang="en-US" altLang="zh-CN"/>
              <a:t> SDK </a:t>
            </a:r>
            <a:r>
              <a:rPr lang="zh-CN" altLang="en-US"/>
              <a:t>里完成</a:t>
            </a:r>
            <a:endParaRPr lang="zh-CN" altLang="en-US"/>
          </a:p>
          <a:p>
            <a:r>
              <a:rPr lang="zh-CN" altLang="en-US"/>
              <a:t>官方的</a:t>
            </a:r>
            <a:r>
              <a:rPr lang="en-US" altLang="zh-CN"/>
              <a:t>Profiler</a:t>
            </a:r>
            <a:r>
              <a:rPr lang="zh-CN" altLang="en-US"/>
              <a:t>大概率是在用户态做的插桩来得到各个算子的运行时</a:t>
            </a:r>
            <a:r>
              <a:rPr lang="zh-CN" altLang="en-US"/>
              <a:t>间的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78505"/>
            <a:ext cx="10969200" cy="705600"/>
          </a:xfrm>
        </p:spPr>
        <p:txBody>
          <a:bodyPr/>
          <a:p>
            <a:r>
              <a:rPr lang="en-US" altLang="zh-CN"/>
              <a:t>motivat</a:t>
            </a:r>
            <a:r>
              <a:rPr lang="en-US" altLang="zh-CN"/>
              <a:t>ion-1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41400" y="883920"/>
            <a:ext cx="10102850" cy="56807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Benchmark</a:t>
            </a:r>
            <a:r>
              <a:rPr lang="en-US" altLang="zh-CN"/>
              <a:t>ing Ethos U65 NPU</a:t>
            </a:r>
            <a:r>
              <a:rPr lang="zh-CN" altLang="en-US"/>
              <a:t>（</a:t>
            </a:r>
            <a:r>
              <a:rPr lang="en-US" altLang="zh-CN"/>
              <a:t>MobiCom25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6690" y="1313815"/>
            <a:ext cx="10968990" cy="23329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09035"/>
            <a:ext cx="7239000" cy="2190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760" y="5705475"/>
            <a:ext cx="7381875" cy="11525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Benchmarking Ethos U65 NPU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MobiCom25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2220"/>
            <a:ext cx="11780520" cy="31337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43325"/>
            <a:ext cx="10969200" cy="705600"/>
          </a:xfrm>
        </p:spPr>
        <p:txBody>
          <a:bodyPr/>
          <a:p>
            <a:r>
              <a:rPr lang="en-US" altLang="zh-CN"/>
              <a:t>low level Profiler</a:t>
            </a:r>
            <a:r>
              <a:rPr lang="zh-CN" altLang="en-US"/>
              <a:t>需要</a:t>
            </a:r>
            <a:r>
              <a:rPr lang="en-US" altLang="zh-CN"/>
              <a:t>ISA</a:t>
            </a:r>
            <a:r>
              <a:rPr lang="zh-CN" altLang="en-US"/>
              <a:t>级编程（</a:t>
            </a:r>
            <a:r>
              <a:rPr lang="en-US" altLang="zh-CN"/>
              <a:t>OSDI25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81400" y="1167765"/>
            <a:ext cx="8610600" cy="2409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45" y="2886075"/>
            <a:ext cx="4638675" cy="39719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0100" y="3109595"/>
            <a:ext cx="5512435" cy="352488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RT-ASCEND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/>
          <a:p>
            <a:r>
              <a:rPr lang="zh-CN" altLang="en-US"/>
              <a:t>通过内核级优化实现</a:t>
            </a:r>
            <a:r>
              <a:rPr lang="en-US" altLang="zh-CN"/>
              <a:t>ASCEND</a:t>
            </a:r>
            <a:r>
              <a:rPr lang="zh-CN" altLang="en-US"/>
              <a:t>软实时</a:t>
            </a:r>
            <a:r>
              <a:rPr lang="zh-CN" altLang="en-US"/>
              <a:t>推理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en-US" altLang="zh-CN"/>
              <a:t>why previous work all fails</a:t>
            </a:r>
            <a:r>
              <a:rPr lang="zh-CN" altLang="en-US"/>
              <a:t>：根源在</a:t>
            </a:r>
            <a:r>
              <a:rPr lang="en-US" altLang="zh-CN"/>
              <a:t>NPU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1800">
                <a:sym typeface="+mn-ea"/>
              </a:rPr>
              <a:t>高估了端侧</a:t>
            </a:r>
            <a:r>
              <a:rPr lang="en-US" altLang="zh-CN" sz="1800">
                <a:sym typeface="+mn-ea"/>
              </a:rPr>
              <a:t>NPU</a:t>
            </a:r>
            <a:r>
              <a:rPr lang="zh-CN" altLang="en-US" sz="1800">
                <a:sym typeface="+mn-ea"/>
              </a:rPr>
              <a:t>的复杂性</a:t>
            </a:r>
            <a:endParaRPr lang="zh-CN" altLang="en-US" sz="1800"/>
          </a:p>
          <a:p>
            <a:pPr lvl="1"/>
            <a:r>
              <a:rPr lang="zh-CN" altLang="en-US" sz="1800">
                <a:sym typeface="+mn-ea"/>
              </a:rPr>
              <a:t>一开始可能想</a:t>
            </a:r>
            <a:r>
              <a:rPr lang="en-US" altLang="zh-CN" sz="1800">
                <a:sym typeface="+mn-ea"/>
              </a:rPr>
              <a:t>RnR</a:t>
            </a:r>
            <a:r>
              <a:rPr lang="zh-CN" altLang="en-US" sz="1800">
                <a:sym typeface="+mn-ea"/>
              </a:rPr>
              <a:t>会遇到复杂问题然后设计解决，结果直接写数据流就能推理了</a:t>
            </a:r>
            <a:endParaRPr lang="zh-CN" altLang="en-US" sz="1800"/>
          </a:p>
          <a:p>
            <a:pPr lvl="1"/>
            <a:r>
              <a:rPr lang="zh-CN" altLang="en-US" sz="1800">
                <a:sym typeface="+mn-ea"/>
              </a:rPr>
              <a:t>做</a:t>
            </a:r>
            <a:r>
              <a:rPr lang="en-US" altLang="zh-CN" sz="1800">
                <a:sym typeface="+mn-ea"/>
              </a:rPr>
              <a:t>low level profiler</a:t>
            </a:r>
            <a:r>
              <a:rPr lang="zh-CN" altLang="en-US" sz="1800">
                <a:sym typeface="+mn-ea"/>
              </a:rPr>
              <a:t>，结果</a:t>
            </a:r>
            <a:r>
              <a:rPr lang="en-US" altLang="zh-CN" sz="1800">
                <a:sym typeface="+mn-ea"/>
              </a:rPr>
              <a:t>NPU</a:t>
            </a:r>
            <a:r>
              <a:rPr lang="zh-CN" altLang="en-US" sz="1800">
                <a:sym typeface="+mn-ea"/>
              </a:rPr>
              <a:t>是个黑盒</a:t>
            </a:r>
            <a:endParaRPr lang="zh-CN" altLang="en-US" sz="1800"/>
          </a:p>
          <a:p>
            <a:r>
              <a:rPr lang="zh-CN" altLang="en-US" sz="1800">
                <a:sym typeface="+mn-ea"/>
              </a:rPr>
              <a:t>没有弄清高端</a:t>
            </a:r>
            <a:r>
              <a:rPr lang="en-US" altLang="zh-CN" sz="1800">
                <a:sym typeface="+mn-ea"/>
              </a:rPr>
              <a:t>NPU</a:t>
            </a:r>
            <a:r>
              <a:rPr lang="zh-CN" altLang="en-US" sz="1800">
                <a:sym typeface="+mn-ea"/>
              </a:rPr>
              <a:t>（</a:t>
            </a:r>
            <a:r>
              <a:rPr lang="en-US" altLang="zh-CN" sz="1800">
                <a:sym typeface="+mn-ea"/>
              </a:rPr>
              <a:t>ASCEND</a:t>
            </a:r>
            <a:r>
              <a:rPr lang="zh-CN" altLang="en-US" sz="1800">
                <a:sym typeface="+mn-ea"/>
              </a:rPr>
              <a:t>）的闭源问题</a:t>
            </a:r>
            <a:endParaRPr lang="zh-CN" altLang="en-US" sz="1800"/>
          </a:p>
          <a:p>
            <a:pPr lvl="1"/>
            <a:r>
              <a:rPr lang="en-US" altLang="zh-CN" sz="1800">
                <a:sym typeface="+mn-ea"/>
              </a:rPr>
              <a:t>RnR</a:t>
            </a:r>
            <a:r>
              <a:rPr lang="zh-CN" altLang="en-US" sz="1800">
                <a:sym typeface="+mn-ea"/>
              </a:rPr>
              <a:t>做不了</a:t>
            </a:r>
            <a:endParaRPr lang="zh-CN" altLang="en-US" sz="1800"/>
          </a:p>
          <a:p>
            <a:r>
              <a:rPr lang="zh-CN" altLang="en-US"/>
              <a:t>可编程性高的</a:t>
            </a:r>
            <a:r>
              <a:rPr lang="en-US" altLang="zh-CN"/>
              <a:t>NPU</a:t>
            </a:r>
            <a:r>
              <a:rPr lang="zh-CN" altLang="en-US"/>
              <a:t>是闭源</a:t>
            </a:r>
            <a:r>
              <a:rPr lang="zh-CN" altLang="en-US"/>
              <a:t>的</a:t>
            </a:r>
            <a:endParaRPr lang="zh-CN" altLang="en-US"/>
          </a:p>
          <a:p>
            <a:r>
              <a:rPr lang="zh-CN" altLang="en-US"/>
              <a:t>可编程性低的</a:t>
            </a:r>
            <a:r>
              <a:rPr lang="en-US" altLang="zh-CN"/>
              <a:t>NPU</a:t>
            </a:r>
            <a:r>
              <a:rPr lang="zh-CN" altLang="en-US"/>
              <a:t>基本也是闭源（除了</a:t>
            </a:r>
            <a:r>
              <a:rPr lang="en-US" altLang="zh-CN"/>
              <a:t>Ethos U</a:t>
            </a:r>
            <a:r>
              <a:rPr lang="zh-CN" altLang="en-US"/>
              <a:t>系列）的，同时把大多数功能直接写死到硬件里（本质也是另一种闭源，而且更</a:t>
            </a:r>
            <a:r>
              <a:rPr lang="zh-CN" altLang="en-US"/>
              <a:t>严重），只暴漏图级</a:t>
            </a:r>
            <a:r>
              <a:rPr lang="en-US" altLang="zh-CN"/>
              <a:t>API</a:t>
            </a:r>
            <a:endParaRPr lang="en-US" altLang="zh-CN"/>
          </a:p>
          <a:p>
            <a:pPr marL="0" lvl="1"/>
            <a:r>
              <a:rPr lang="zh-CN" altLang="en-US"/>
              <a:t>低级</a:t>
            </a:r>
            <a:r>
              <a:rPr lang="en-US" altLang="zh-CN"/>
              <a:t>NPU</a:t>
            </a:r>
            <a:r>
              <a:rPr lang="zh-CN" altLang="en-US"/>
              <a:t>的生态差，支持差，</a:t>
            </a:r>
            <a:r>
              <a:rPr lang="zh-CN" altLang="en-US">
                <a:sym typeface="+mn-ea"/>
              </a:rPr>
              <a:t>厂商基本上全闭源，</a:t>
            </a:r>
            <a:r>
              <a:rPr lang="zh-CN" altLang="en-US">
                <a:sym typeface="+mn-ea"/>
              </a:rPr>
              <a:t>大多数厂商</a:t>
            </a:r>
            <a:r>
              <a:rPr lang="en-US" altLang="zh-CN">
                <a:sym typeface="+mn-ea"/>
              </a:rPr>
              <a:t>NPU</a:t>
            </a:r>
            <a:r>
              <a:rPr lang="zh-CN" altLang="en-US">
                <a:sym typeface="+mn-ea"/>
              </a:rPr>
              <a:t>都只能支持很局限的模型，对模型的形状或者性质有很大的限制，包括必须是静态图＋</a:t>
            </a:r>
            <a:r>
              <a:rPr lang="en-US" altLang="zh-CN">
                <a:sym typeface="+mn-ea"/>
              </a:rPr>
              <a:t>AoT</a:t>
            </a:r>
            <a:r>
              <a:rPr lang="zh-CN" altLang="en-US">
                <a:sym typeface="+mn-ea"/>
              </a:rPr>
              <a:t>，所以无法运行</a:t>
            </a:r>
            <a:r>
              <a:rPr lang="en-US" altLang="zh-CN">
                <a:sym typeface="+mn-ea"/>
              </a:rPr>
              <a:t>MoE</a:t>
            </a:r>
            <a:r>
              <a:rPr lang="zh-CN" altLang="en-US">
                <a:sym typeface="+mn-ea"/>
              </a:rPr>
              <a:t>，</a:t>
            </a:r>
            <a:r>
              <a:rPr lang="zh-CN" altLang="en-US" sz="1800">
                <a:sym typeface="+mn-ea"/>
              </a:rPr>
              <a:t>算子支持差</a:t>
            </a:r>
            <a:endParaRPr lang="zh-CN" altLang="en-US"/>
          </a:p>
          <a:p>
            <a:r>
              <a:rPr lang="zh-CN" altLang="en-US"/>
              <a:t>所以很多的</a:t>
            </a:r>
            <a:r>
              <a:rPr lang="en-US" altLang="zh-CN"/>
              <a:t>NPU</a:t>
            </a:r>
            <a:r>
              <a:rPr lang="zh-CN" altLang="en-US"/>
              <a:t>科研全是用的</a:t>
            </a:r>
            <a:r>
              <a:rPr lang="en-US" altLang="zh-CN"/>
              <a:t>FPGA</a:t>
            </a:r>
            <a:r>
              <a:rPr lang="zh-CN" altLang="en-US"/>
              <a:t>或者模拟器模拟的（</a:t>
            </a:r>
            <a:r>
              <a:rPr lang="en-US" altLang="zh-CN"/>
              <a:t>TNPU</a:t>
            </a:r>
            <a:r>
              <a:rPr lang="zh-CN" altLang="en-US"/>
              <a:t>，</a:t>
            </a:r>
            <a:r>
              <a:rPr lang="en-US" altLang="zh-CN"/>
              <a:t>SNPU</a:t>
            </a:r>
            <a:r>
              <a:rPr lang="zh-CN" altLang="en-US"/>
              <a:t>。。。</a:t>
            </a:r>
            <a:r>
              <a:rPr lang="en-US" altLang="zh-CN"/>
              <a:t>IPADS</a:t>
            </a:r>
            <a:r>
              <a:rPr lang="zh-CN" altLang="en-US"/>
              <a:t>的很多都是模拟的）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闭源</a:t>
            </a:r>
            <a:r>
              <a:rPr lang="zh-CN" altLang="en-US"/>
              <a:t>并不是系统</a:t>
            </a:r>
            <a:r>
              <a:rPr lang="en-US" altLang="zh-CN"/>
              <a:t>/</a:t>
            </a:r>
            <a:r>
              <a:rPr lang="zh-CN" altLang="en-US"/>
              <a:t>运行时科研的</a:t>
            </a:r>
            <a:r>
              <a:rPr lang="zh-CN" altLang="en-US"/>
              <a:t>瓶颈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可编程性和</a:t>
            </a:r>
            <a:r>
              <a:rPr lang="zh-CN" altLang="en-US"/>
              <a:t>生态才是</a:t>
            </a:r>
            <a:endParaRPr lang="zh-CN" altLang="en-US"/>
          </a:p>
          <a:p>
            <a:pPr lvl="1"/>
            <a:r>
              <a:rPr lang="en-US" altLang="zh-CN"/>
              <a:t>GPU</a:t>
            </a:r>
            <a:r>
              <a:rPr lang="zh-CN" altLang="en-US"/>
              <a:t>（</a:t>
            </a:r>
            <a:r>
              <a:rPr lang="en-US" altLang="zh-CN"/>
              <a:t>CUDA</a:t>
            </a:r>
            <a:r>
              <a:rPr lang="zh-CN" altLang="en-US"/>
              <a:t>）很多软件也是闭源的（而且</a:t>
            </a:r>
            <a:r>
              <a:rPr lang="en-US" altLang="zh-CN"/>
              <a:t>Nvidia</a:t>
            </a:r>
            <a:r>
              <a:rPr lang="zh-CN" altLang="en-US"/>
              <a:t>是禁止对闭源软件进行逆向</a:t>
            </a:r>
            <a:r>
              <a:rPr lang="zh-CN" altLang="en-US"/>
              <a:t>的），但不妨碍它能提供细粒度的</a:t>
            </a:r>
            <a:r>
              <a:rPr lang="en-US" altLang="zh-CN"/>
              <a:t>API</a:t>
            </a:r>
            <a:r>
              <a:rPr lang="zh-CN" altLang="en-US"/>
              <a:t>，用户可以在算子级，内核级，</a:t>
            </a:r>
            <a:r>
              <a:rPr lang="en-US" altLang="zh-CN"/>
              <a:t>ISA</a:t>
            </a:r>
            <a:r>
              <a:rPr lang="zh-CN" altLang="en-US"/>
              <a:t>级细粒度编程，控制</a:t>
            </a:r>
            <a:r>
              <a:rPr lang="en-US" altLang="zh-CN"/>
              <a:t>GPU</a:t>
            </a:r>
            <a:r>
              <a:rPr lang="zh-CN" altLang="en-US"/>
              <a:t>，所以能做的优化很多，尤其是对各个不同的</a:t>
            </a:r>
            <a:r>
              <a:rPr lang="en-US" altLang="zh-CN"/>
              <a:t>workload</a:t>
            </a:r>
            <a:r>
              <a:rPr lang="zh-CN" altLang="en-US"/>
              <a:t>和不同的场景（比如要求硬实时</a:t>
            </a:r>
            <a:r>
              <a:rPr lang="en-US" altLang="zh-CN"/>
              <a:t>/</a:t>
            </a:r>
            <a:r>
              <a:rPr lang="zh-CN" altLang="en-US"/>
              <a:t>软实时）做优化和</a:t>
            </a:r>
            <a:r>
              <a:rPr lang="en-US" altLang="zh-CN"/>
              <a:t>Profiling</a:t>
            </a:r>
            <a:endParaRPr lang="zh-CN" altLang="en-US"/>
          </a:p>
          <a:p>
            <a:pPr lvl="1"/>
            <a:r>
              <a:rPr lang="zh-CN" altLang="en-US"/>
              <a:t>低端</a:t>
            </a:r>
            <a:r>
              <a:rPr lang="en-US" altLang="zh-CN"/>
              <a:t>NPU</a:t>
            </a:r>
            <a:r>
              <a:rPr lang="zh-CN" altLang="en-US"/>
              <a:t>把所有底层控制全写死到</a:t>
            </a:r>
            <a:r>
              <a:rPr lang="en-US" altLang="zh-CN"/>
              <a:t>NPU</a:t>
            </a:r>
            <a:r>
              <a:rPr lang="zh-CN" altLang="en-US"/>
              <a:t>内部，系统测没有</a:t>
            </a:r>
            <a:r>
              <a:rPr lang="en-US" altLang="zh-CN"/>
              <a:t>API</a:t>
            </a:r>
            <a:r>
              <a:rPr lang="zh-CN" altLang="en-US"/>
              <a:t>，无法控制也无法观测。所以能做的基本上就两种：粗粒度的</a:t>
            </a:r>
            <a:r>
              <a:rPr lang="en-US" altLang="zh-CN"/>
              <a:t>benchmarking</a:t>
            </a:r>
            <a:r>
              <a:rPr lang="zh-CN" altLang="en-US"/>
              <a:t>和图级异构处理器的算子调度。</a:t>
            </a:r>
            <a:r>
              <a:rPr lang="en-US" altLang="zh-CN"/>
              <a:t>topic</a:t>
            </a:r>
            <a:r>
              <a:rPr lang="zh-CN" altLang="en-US"/>
              <a:t>就非常少了，很多都被</a:t>
            </a:r>
            <a:r>
              <a:rPr lang="zh-CN" altLang="en-US"/>
              <a:t>做过了。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三类</a:t>
            </a:r>
            <a:r>
              <a:rPr lang="en-US" altLang="zh-CN"/>
              <a:t>NPU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NPU</a:t>
            </a:r>
            <a:r>
              <a:rPr lang="zh-CN" altLang="en-US">
                <a:sym typeface="+mn-ea"/>
              </a:rPr>
              <a:t>虽然厂商不同也没和</a:t>
            </a:r>
            <a:r>
              <a:rPr lang="en-US" altLang="zh-CN">
                <a:sym typeface="+mn-ea"/>
              </a:rPr>
              <a:t>CUDA</a:t>
            </a:r>
            <a:r>
              <a:rPr lang="zh-CN" altLang="en-US">
                <a:sym typeface="+mn-ea"/>
              </a:rPr>
              <a:t>一样主流的，但根据软件的可编程性能细分成三种：图级，算子级和内核级（没有</a:t>
            </a:r>
            <a:r>
              <a:rPr lang="en-US" altLang="zh-CN">
                <a:sym typeface="+mn-ea"/>
              </a:rPr>
              <a:t>ISA</a:t>
            </a:r>
            <a:r>
              <a:rPr lang="zh-CN" altLang="en-US">
                <a:sym typeface="+mn-ea"/>
              </a:rPr>
              <a:t>级编程的</a:t>
            </a:r>
            <a:r>
              <a:rPr lang="en-US" altLang="zh-CN">
                <a:sym typeface="+mn-ea"/>
              </a:rPr>
              <a:t>NPU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lvl="1"/>
            <a:r>
              <a:rPr lang="zh-CN" altLang="en-US"/>
              <a:t>图级：绝大多数</a:t>
            </a:r>
            <a:r>
              <a:rPr lang="en-US" altLang="zh-CN"/>
              <a:t>NPU</a:t>
            </a:r>
            <a:r>
              <a:rPr lang="zh-CN" altLang="en-US"/>
              <a:t>都是这种，比如</a:t>
            </a:r>
            <a:r>
              <a:rPr lang="en-US" altLang="zh-CN"/>
              <a:t>Ethos U</a:t>
            </a:r>
            <a:r>
              <a:rPr lang="zh-CN" altLang="en-US"/>
              <a:t>系列，</a:t>
            </a:r>
            <a:r>
              <a:rPr lang="en-US" altLang="zh-CN"/>
              <a:t>RK</a:t>
            </a:r>
            <a:r>
              <a:rPr lang="zh-CN" altLang="en-US"/>
              <a:t>系列，</a:t>
            </a:r>
            <a:r>
              <a:rPr lang="en-US" altLang="zh-CN"/>
              <a:t>Amlogic</a:t>
            </a:r>
            <a:r>
              <a:rPr lang="zh-CN" altLang="en-US"/>
              <a:t>系列，</a:t>
            </a:r>
            <a:r>
              <a:rPr lang="en-US" altLang="zh-CN"/>
              <a:t>Mediatech</a:t>
            </a:r>
            <a:r>
              <a:rPr lang="zh-CN" altLang="en-US"/>
              <a:t>系列，</a:t>
            </a:r>
            <a:r>
              <a:rPr lang="en-US" altLang="zh-CN"/>
              <a:t>Verisilicon</a:t>
            </a:r>
            <a:r>
              <a:rPr lang="zh-CN" altLang="en-US"/>
              <a:t>系列，</a:t>
            </a:r>
            <a:r>
              <a:rPr lang="en-US" altLang="zh-CN"/>
              <a:t>Apple</a:t>
            </a:r>
            <a:r>
              <a:rPr lang="zh-CN" altLang="en-US"/>
              <a:t>的</a:t>
            </a:r>
            <a:r>
              <a:rPr lang="en-US" altLang="zh-CN"/>
              <a:t>ANE</a:t>
            </a:r>
            <a:r>
              <a:rPr lang="zh-CN" altLang="en-US"/>
              <a:t>，</a:t>
            </a:r>
            <a:r>
              <a:rPr lang="en-US" altLang="zh-CN"/>
              <a:t>Nvidia</a:t>
            </a:r>
            <a:r>
              <a:rPr lang="zh-CN" altLang="en-US"/>
              <a:t>的</a:t>
            </a:r>
            <a:r>
              <a:rPr lang="en-US" altLang="zh-CN"/>
              <a:t>NVDLA</a:t>
            </a:r>
            <a:r>
              <a:rPr lang="zh-CN" altLang="en-US"/>
              <a:t>，之前的</a:t>
            </a:r>
            <a:r>
              <a:rPr lang="en-US" altLang="zh-CN"/>
              <a:t>Google </a:t>
            </a:r>
            <a:r>
              <a:rPr lang="en-US" altLang="zh-CN"/>
              <a:t>Edge TPU</a:t>
            </a:r>
            <a:endParaRPr lang="en-US" altLang="zh-CN"/>
          </a:p>
          <a:p>
            <a:pPr lvl="1"/>
            <a:r>
              <a:rPr lang="zh-CN" altLang="en-US"/>
              <a:t>算子级：</a:t>
            </a:r>
            <a:r>
              <a:rPr lang="en-US" altLang="zh-CN"/>
              <a:t>Qualcomm</a:t>
            </a:r>
            <a:r>
              <a:rPr lang="zh-CN" altLang="en-US"/>
              <a:t>的</a:t>
            </a:r>
            <a:r>
              <a:rPr lang="en-US" altLang="zh-CN"/>
              <a:t>HTP</a:t>
            </a:r>
            <a:r>
              <a:rPr lang="zh-CN" altLang="en-US"/>
              <a:t>，能用支持的运算组合成</a:t>
            </a:r>
            <a:r>
              <a:rPr lang="zh-CN" altLang="en-US"/>
              <a:t>新算子</a:t>
            </a:r>
            <a:endParaRPr lang="zh-CN" altLang="en-US"/>
          </a:p>
          <a:p>
            <a:pPr lvl="1"/>
            <a:r>
              <a:rPr lang="zh-CN" altLang="en-US"/>
              <a:t>内核级：</a:t>
            </a:r>
            <a:r>
              <a:rPr lang="en-US" altLang="zh-CN"/>
              <a:t>ASCEND/MLU</a:t>
            </a:r>
            <a:r>
              <a:rPr lang="zh-CN" altLang="en-US"/>
              <a:t>。能直接操控算子在</a:t>
            </a:r>
            <a:r>
              <a:rPr lang="en-US" altLang="zh-CN"/>
              <a:t>NPU</a:t>
            </a:r>
            <a:r>
              <a:rPr lang="zh-CN" altLang="en-US"/>
              <a:t>的具体运算，包括如何使用</a:t>
            </a:r>
            <a:r>
              <a:rPr lang="en-US" altLang="zh-CN"/>
              <a:t>NPU</a:t>
            </a:r>
            <a:r>
              <a:rPr lang="zh-CN" altLang="en-US"/>
              <a:t>计算，如何划分</a:t>
            </a:r>
            <a:r>
              <a:rPr lang="en-US" altLang="zh-CN"/>
              <a:t>tile</a:t>
            </a:r>
            <a:r>
              <a:rPr lang="zh-CN" altLang="en-US"/>
              <a:t>，显示控制</a:t>
            </a:r>
            <a:r>
              <a:rPr lang="en-US" altLang="zh-CN"/>
              <a:t>dma</a:t>
            </a:r>
            <a:r>
              <a:rPr lang="zh-CN" altLang="en-US"/>
              <a:t>和内存，</a:t>
            </a:r>
            <a:r>
              <a:rPr lang="zh-CN" altLang="en-US"/>
              <a:t>以及内存搬运</a:t>
            </a:r>
            <a:r>
              <a:rPr lang="zh-CN" altLang="en-US"/>
              <a:t>什么的</a:t>
            </a:r>
            <a:endParaRPr lang="zh-CN" altLang="en-US"/>
          </a:p>
          <a:p>
            <a:pPr lvl="2"/>
            <a:r>
              <a:rPr lang="zh-CN" altLang="en-US"/>
              <a:t>目前的</a:t>
            </a:r>
            <a:r>
              <a:rPr lang="en-US" altLang="zh-CN"/>
              <a:t>Google Edge TPU</a:t>
            </a:r>
            <a:r>
              <a:rPr lang="zh-CN" altLang="en-US"/>
              <a:t>也有一定程度的内核级编程，但是是有几种选择方案给用户选择，没有</a:t>
            </a:r>
            <a:r>
              <a:rPr lang="en-US" altLang="zh-CN"/>
              <a:t>ASCEND/MLU</a:t>
            </a:r>
            <a:r>
              <a:rPr lang="zh-CN" altLang="en-US"/>
              <a:t>这么</a:t>
            </a:r>
            <a:r>
              <a:rPr lang="zh-CN" altLang="en-US"/>
              <a:t>自由</a:t>
            </a:r>
            <a:endParaRPr lang="zh-CN" altLang="en-US"/>
          </a:p>
          <a:p>
            <a:pPr lvl="2"/>
            <a:r>
              <a:rPr lang="en-US" altLang="zh-CN"/>
              <a:t>ISA</a:t>
            </a:r>
            <a:r>
              <a:rPr lang="zh-CN" altLang="en-US"/>
              <a:t>级：</a:t>
            </a:r>
            <a:r>
              <a:rPr lang="en-US" altLang="zh-CN"/>
              <a:t>TVM</a:t>
            </a:r>
            <a:r>
              <a:rPr lang="zh-CN" altLang="en-US"/>
              <a:t>的</a:t>
            </a:r>
            <a:r>
              <a:rPr lang="en-US" altLang="zh-CN"/>
              <a:t>VTA</a:t>
            </a:r>
            <a:r>
              <a:rPr lang="zh-CN" altLang="en-US"/>
              <a:t>是直接开源了</a:t>
            </a:r>
            <a:r>
              <a:rPr lang="en-US" altLang="zh-CN"/>
              <a:t>ISA</a:t>
            </a:r>
            <a:r>
              <a:rPr lang="zh-CN" altLang="en-US"/>
              <a:t>的，能直接</a:t>
            </a:r>
            <a:r>
              <a:rPr lang="en-US" altLang="zh-CN"/>
              <a:t>ISA</a:t>
            </a:r>
            <a:r>
              <a:rPr lang="zh-CN" altLang="en-US"/>
              <a:t>级编程，但是没有制作</a:t>
            </a:r>
            <a:r>
              <a:rPr lang="en-US" altLang="zh-CN"/>
              <a:t>VTA</a:t>
            </a:r>
            <a:r>
              <a:rPr lang="zh-CN" altLang="en-US"/>
              <a:t>的芯片，只能用软件模拟或者用</a:t>
            </a:r>
            <a:r>
              <a:rPr lang="en-US" altLang="zh-CN"/>
              <a:t>FPGA</a:t>
            </a:r>
            <a:r>
              <a:rPr lang="zh-CN" altLang="en-US"/>
              <a:t>，而且这个已经是十年前的</a:t>
            </a:r>
            <a:r>
              <a:rPr lang="en-US" altLang="zh-CN"/>
              <a:t>NPU</a:t>
            </a:r>
            <a:r>
              <a:rPr lang="zh-CN" altLang="en-US"/>
              <a:t>了，效果</a:t>
            </a:r>
            <a:r>
              <a:rPr lang="zh-CN" altLang="en-US"/>
              <a:t>应该很差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真正能编程（</a:t>
            </a:r>
            <a:r>
              <a:rPr lang="en-US" altLang="zh-CN"/>
              <a:t>Kernel</a:t>
            </a:r>
            <a:r>
              <a:rPr lang="zh-CN" altLang="en-US"/>
              <a:t>级）的</a:t>
            </a:r>
            <a:r>
              <a:rPr lang="en-US" altLang="zh-CN"/>
              <a:t>NPU</a:t>
            </a:r>
            <a:r>
              <a:rPr lang="zh-CN" altLang="en-US"/>
              <a:t>很少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基本上就</a:t>
            </a:r>
            <a:r>
              <a:rPr lang="en-US" altLang="zh-CN"/>
              <a:t>ASCEND/</a:t>
            </a:r>
            <a:r>
              <a:rPr lang="en-US" altLang="zh-CN"/>
              <a:t>MLU</a:t>
            </a:r>
            <a:endParaRPr lang="en-US" altLang="zh-CN"/>
          </a:p>
          <a:p>
            <a:r>
              <a:rPr lang="en-US" altLang="zh-CN"/>
              <a:t>Qualcomm</a:t>
            </a:r>
            <a:r>
              <a:rPr lang="zh-CN" altLang="en-US"/>
              <a:t>的</a:t>
            </a:r>
            <a:r>
              <a:rPr lang="en-US" altLang="zh-CN"/>
              <a:t>HTP</a:t>
            </a:r>
            <a:r>
              <a:rPr lang="zh-CN" altLang="en-US"/>
              <a:t>只能</a:t>
            </a:r>
            <a:r>
              <a:rPr lang="en-US" altLang="zh-CN"/>
              <a:t>Operator</a:t>
            </a:r>
            <a:r>
              <a:rPr lang="zh-CN" altLang="en-US"/>
              <a:t>级</a:t>
            </a:r>
            <a:endParaRPr lang="zh-CN" altLang="en-US"/>
          </a:p>
          <a:p>
            <a:r>
              <a:rPr lang="en-US" altLang="zh-CN"/>
              <a:t>Google Edge TPU</a:t>
            </a:r>
            <a:r>
              <a:rPr lang="zh-CN" altLang="en-US"/>
              <a:t>也可以部分内核级，但自由度</a:t>
            </a:r>
            <a:r>
              <a:rPr lang="zh-CN" altLang="en-US"/>
              <a:t>低</a:t>
            </a:r>
            <a:endParaRPr lang="zh-CN" altLang="en-US"/>
          </a:p>
          <a:p>
            <a:r>
              <a:rPr lang="en-US" altLang="zh-CN"/>
              <a:t>AMD Versal AI Edge</a:t>
            </a:r>
            <a:r>
              <a:rPr lang="zh-CN" altLang="en-US"/>
              <a:t>可编程性最强</a:t>
            </a:r>
            <a:r>
              <a:rPr lang="zh-CN" altLang="en-US"/>
              <a:t>但不是</a:t>
            </a:r>
            <a:r>
              <a:rPr lang="en-US" altLang="zh-CN"/>
              <a:t>NPU</a:t>
            </a:r>
            <a:r>
              <a:rPr lang="zh-CN" altLang="en-US"/>
              <a:t>更像</a:t>
            </a:r>
            <a:r>
              <a:rPr lang="en-US" altLang="zh-CN"/>
              <a:t>DSP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从软件角度看</a:t>
            </a:r>
            <a:r>
              <a:rPr lang="en-US" altLang="zh-CN"/>
              <a:t>NPU</a:t>
            </a:r>
            <a:r>
              <a:rPr lang="zh-CN" altLang="en-US"/>
              <a:t>和</a:t>
            </a:r>
            <a:r>
              <a:rPr lang="en-US" altLang="zh-CN"/>
              <a:t>GPU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NPU</a:t>
            </a:r>
            <a:r>
              <a:rPr lang="zh-CN" altLang="en-US"/>
              <a:t>的科研应该向</a:t>
            </a:r>
            <a:r>
              <a:rPr lang="en-US" altLang="zh-CN"/>
              <a:t>GPU</a:t>
            </a:r>
            <a:r>
              <a:rPr lang="zh-CN" altLang="en-US"/>
              <a:t>学习</a:t>
            </a:r>
            <a:endParaRPr lang="zh-CN" altLang="en-US"/>
          </a:p>
          <a:p>
            <a:pPr lvl="1"/>
            <a:r>
              <a:rPr lang="zh-CN" altLang="en-US"/>
              <a:t>可编程性高的，决定了能不能做</a:t>
            </a:r>
            <a:r>
              <a:rPr lang="en-US" altLang="zh-CN"/>
              <a:t>topic</a:t>
            </a:r>
            <a:endParaRPr lang="en-US" altLang="zh-CN"/>
          </a:p>
          <a:p>
            <a:pPr lvl="1"/>
            <a:r>
              <a:rPr lang="zh-CN" altLang="en-US"/>
              <a:t>生态好，决定了系统侧科研的难易度，应该把时间放在要解决的问题上，而不是把时间放在解决不相干的</a:t>
            </a:r>
            <a:r>
              <a:rPr lang="en-US" altLang="zh-CN"/>
              <a:t>NPU</a:t>
            </a:r>
            <a:r>
              <a:rPr lang="zh-CN" altLang="en-US"/>
              <a:t>本身的问题</a:t>
            </a:r>
            <a:r>
              <a:rPr lang="zh-CN" altLang="en-US"/>
              <a:t>上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RT-</a:t>
            </a:r>
            <a:r>
              <a:rPr lang="en-US" altLang="zh-CN"/>
              <a:t>NPU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目前没找到用有内核级编程能力的</a:t>
            </a:r>
            <a:r>
              <a:rPr lang="en-US" altLang="zh-CN">
                <a:sym typeface="+mn-ea"/>
              </a:rPr>
              <a:t>NPU</a:t>
            </a:r>
            <a:r>
              <a:rPr lang="zh-CN" altLang="en-US">
                <a:sym typeface="+mn-ea"/>
              </a:rPr>
              <a:t>做内核级优化实现实时推理的，但是这个</a:t>
            </a:r>
            <a:r>
              <a:rPr lang="en-US" altLang="zh-CN">
                <a:sym typeface="+mn-ea"/>
              </a:rPr>
              <a:t>Topic</a:t>
            </a:r>
            <a:r>
              <a:rPr lang="zh-CN" altLang="en-US">
                <a:sym typeface="+mn-ea"/>
              </a:rPr>
              <a:t>值得做</a:t>
            </a:r>
            <a:endParaRPr lang="zh-CN" altLang="en-US"/>
          </a:p>
          <a:p>
            <a:r>
              <a:rPr lang="en-US" altLang="zh-CN"/>
              <a:t>NPU</a:t>
            </a:r>
            <a:r>
              <a:rPr lang="zh-CN" altLang="en-US"/>
              <a:t>的实时性很重要，因为</a:t>
            </a:r>
            <a:r>
              <a:rPr lang="en-US" altLang="zh-CN"/>
              <a:t>ASCEND</a:t>
            </a:r>
            <a:r>
              <a:rPr lang="zh-CN" altLang="en-US"/>
              <a:t>是对标</a:t>
            </a:r>
            <a:r>
              <a:rPr lang="en-US" altLang="zh-CN"/>
              <a:t>GPU</a:t>
            </a:r>
            <a:r>
              <a:rPr lang="zh-CN" altLang="en-US"/>
              <a:t>的，</a:t>
            </a:r>
            <a:r>
              <a:rPr lang="en-US" altLang="zh-CN"/>
              <a:t>ASCEND</a:t>
            </a:r>
            <a:r>
              <a:rPr lang="zh-CN" altLang="en-US"/>
              <a:t>也说它的使用场景包括无人驾驶</a:t>
            </a:r>
            <a:r>
              <a:rPr lang="en-US" altLang="zh-CN"/>
              <a:t>/</a:t>
            </a:r>
            <a:r>
              <a:rPr lang="zh-CN" altLang="en-US"/>
              <a:t>机器人</a:t>
            </a:r>
            <a:endParaRPr lang="zh-CN" altLang="en-US"/>
          </a:p>
          <a:p>
            <a:r>
              <a:rPr lang="zh-CN" altLang="en-US"/>
              <a:t>实时计算是端侧真正重要的应用，也是能和云侧或者数据中心侧做出差异化的地方（机器人</a:t>
            </a:r>
            <a:r>
              <a:rPr lang="en-US" altLang="zh-CN"/>
              <a:t>/Embodied AI/</a:t>
            </a:r>
            <a:r>
              <a:rPr lang="zh-CN" altLang="en-US"/>
              <a:t>自动驾驶</a:t>
            </a:r>
            <a:r>
              <a:rPr lang="en-US" altLang="zh-CN"/>
              <a:t>/ARVR</a:t>
            </a:r>
            <a:r>
              <a:rPr lang="zh-CN" altLang="en-US"/>
              <a:t>的</a:t>
            </a:r>
            <a:r>
              <a:rPr lang="zh-CN" altLang="en-US"/>
              <a:t>实时推理基本上都是端侧进行</a:t>
            </a:r>
            <a:r>
              <a:rPr lang="zh-CN" altLang="en-US"/>
              <a:t>的）</a:t>
            </a:r>
            <a:endParaRPr lang="zh-CN" altLang="en-US"/>
          </a:p>
          <a:p>
            <a:r>
              <a:rPr lang="en-US" altLang="zh-CN"/>
              <a:t>NPU</a:t>
            </a:r>
            <a:r>
              <a:rPr lang="zh-CN" altLang="en-US"/>
              <a:t>针对这些场景对应模型（很多是</a:t>
            </a:r>
            <a:r>
              <a:rPr lang="zh-CN" altLang="en-US"/>
              <a:t>视觉模型）的支持好，生态好。</a:t>
            </a:r>
            <a:endParaRPr lang="zh-CN" altLang="en-US"/>
          </a:p>
          <a:p>
            <a:r>
              <a:rPr lang="zh-CN" altLang="en-US"/>
              <a:t>这种场景是多模型并发推理，</a:t>
            </a:r>
            <a:r>
              <a:rPr lang="en-US" altLang="zh-CN"/>
              <a:t>workload</a:t>
            </a:r>
            <a:r>
              <a:rPr lang="zh-CN" altLang="en-US"/>
              <a:t>复杂，并且实时性可能重要性不一样。有的很</a:t>
            </a:r>
            <a:r>
              <a:rPr lang="en-US" altLang="zh-CN"/>
              <a:t>latency critical</a:t>
            </a:r>
            <a:r>
              <a:rPr lang="zh-CN" altLang="en-US"/>
              <a:t>，有的偏</a:t>
            </a:r>
            <a:r>
              <a:rPr lang="en-US" altLang="zh-CN"/>
              <a:t>best effort</a:t>
            </a:r>
            <a:r>
              <a:rPr lang="zh-CN" altLang="en-US"/>
              <a:t>，能做的优化</a:t>
            </a:r>
            <a:r>
              <a:rPr lang="zh-CN" altLang="en-US"/>
              <a:t>多。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 sz="2665"/>
              <a:t>端侧软实时场景：专门找一个应用场景也许能实现更</a:t>
            </a:r>
            <a:r>
              <a:rPr lang="zh-CN" altLang="en-US" sz="2665"/>
              <a:t>激进的优化</a:t>
            </a:r>
            <a:endParaRPr lang="zh-CN" altLang="en-US" sz="2665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自动驾驶</a:t>
            </a:r>
            <a:endParaRPr lang="zh-CN" altLang="en-US"/>
          </a:p>
          <a:p>
            <a:r>
              <a:rPr lang="en-US" altLang="zh-CN"/>
              <a:t>AR/</a:t>
            </a:r>
            <a:r>
              <a:rPr lang="en-US" altLang="zh-CN"/>
              <a:t>VR</a:t>
            </a:r>
            <a:endParaRPr lang="en-US" altLang="zh-CN"/>
          </a:p>
          <a:p>
            <a:r>
              <a:rPr lang="en-US" altLang="zh-CN"/>
              <a:t>Robotics</a:t>
            </a:r>
            <a:endParaRPr lang="en-US" altLang="zh-CN"/>
          </a:p>
          <a:p>
            <a:r>
              <a:rPr lang="zh-CN" altLang="en-US"/>
              <a:t>语音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端侧多任务单</a:t>
            </a:r>
            <a:r>
              <a:rPr lang="en-US" altLang="zh-CN"/>
              <a:t>NPU</a:t>
            </a:r>
            <a:r>
              <a:rPr lang="zh-CN" altLang="en-US"/>
              <a:t>并发</a:t>
            </a:r>
            <a:r>
              <a:rPr lang="zh-CN" altLang="en-US"/>
              <a:t>推理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lvl="0"/>
            <a:r>
              <a:rPr lang="zh-CN" altLang="en-US"/>
              <a:t>任务：同时满足准确率＋时间预算＋内存</a:t>
            </a:r>
            <a:r>
              <a:rPr lang="zh-CN" altLang="en-US"/>
              <a:t>预算</a:t>
            </a:r>
            <a:endParaRPr lang="zh-CN" altLang="en-US"/>
          </a:p>
          <a:p>
            <a:pPr lvl="1"/>
            <a:r>
              <a:rPr lang="en-US" altLang="zh-CN"/>
              <a:t>Accuracy</a:t>
            </a:r>
            <a:endParaRPr lang="en-US" altLang="zh-CN"/>
          </a:p>
          <a:p>
            <a:pPr lvl="1"/>
            <a:r>
              <a:rPr lang="en-US" altLang="zh-CN"/>
              <a:t>dynamic time budget</a:t>
            </a:r>
            <a:endParaRPr lang="en-US" altLang="zh-CN"/>
          </a:p>
          <a:p>
            <a:pPr lvl="1"/>
            <a:r>
              <a:rPr lang="en-US" altLang="zh-CN"/>
              <a:t>dynamic memory </a:t>
            </a:r>
            <a:r>
              <a:rPr lang="en-US" altLang="zh-CN"/>
              <a:t>budget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手段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模型层面：</a:t>
            </a:r>
            <a:r>
              <a:rPr lang="en-US" altLang="zh-CN"/>
              <a:t>elastic model</a:t>
            </a:r>
            <a:endParaRPr lang="zh-CN" altLang="en-US"/>
          </a:p>
          <a:p>
            <a:pPr lvl="1"/>
            <a:r>
              <a:rPr lang="zh-CN" altLang="en-US" sz="1600"/>
              <a:t>不同大小</a:t>
            </a:r>
            <a:endParaRPr lang="zh-CN" altLang="en-US" sz="1600"/>
          </a:p>
          <a:p>
            <a:pPr lvl="1"/>
            <a:r>
              <a:rPr lang="zh-CN" altLang="en-US" sz="1600"/>
              <a:t>不同量化层次</a:t>
            </a:r>
            <a:endParaRPr lang="zh-CN" altLang="en-US" sz="1600"/>
          </a:p>
          <a:p>
            <a:pPr lvl="0"/>
            <a:r>
              <a:rPr lang="zh-CN" altLang="en-US"/>
              <a:t>调度层面：</a:t>
            </a:r>
            <a:r>
              <a:rPr lang="en-US" altLang="zh-CN"/>
              <a:t>dynamic priorities / scheduling</a:t>
            </a:r>
            <a:endParaRPr lang="zh-CN" altLang="en-US"/>
          </a:p>
          <a:p>
            <a:pPr lvl="1"/>
            <a:r>
              <a:rPr lang="zh-CN" altLang="en-US"/>
              <a:t>动态</a:t>
            </a:r>
            <a:r>
              <a:rPr lang="zh-CN" altLang="en-US"/>
              <a:t>优先级</a:t>
            </a:r>
            <a:endParaRPr lang="zh-CN" altLang="en-US"/>
          </a:p>
          <a:p>
            <a:r>
              <a:rPr lang="zh-CN" altLang="en-US"/>
              <a:t>内核层面：</a:t>
            </a:r>
            <a:r>
              <a:rPr lang="en-US" altLang="zh-CN"/>
              <a:t>multiple kernels per model operator with dynamic selection</a:t>
            </a:r>
            <a:endParaRPr lang="zh-CN" altLang="en-US"/>
          </a:p>
          <a:p>
            <a:pPr lvl="1"/>
            <a:r>
              <a:rPr lang="zh-CN" altLang="en-US"/>
              <a:t>多套</a:t>
            </a:r>
            <a:r>
              <a:rPr lang="zh-CN" altLang="en-US"/>
              <a:t>内核</a:t>
            </a:r>
            <a:endParaRPr lang="zh-CN" altLang="en-US"/>
          </a:p>
          <a:p>
            <a:pPr lvl="1"/>
            <a:r>
              <a:rPr lang="zh-CN" altLang="en-US"/>
              <a:t>内核</a:t>
            </a:r>
            <a:r>
              <a:rPr lang="zh-CN" altLang="en-US"/>
              <a:t>优化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把并发的模型按带宽受限和算力受限的进行并发，最大限度使用</a:t>
            </a:r>
            <a:r>
              <a:rPr lang="en-US" altLang="zh-CN">
                <a:sym typeface="+mn-ea"/>
              </a:rPr>
              <a:t>NPU</a:t>
            </a:r>
            <a:r>
              <a:rPr lang="zh-CN" altLang="en-US">
                <a:sym typeface="+mn-ea"/>
              </a:rPr>
              <a:t>的能力</a:t>
            </a:r>
            <a:endParaRPr lang="zh-CN" altLang="en-US"/>
          </a:p>
          <a:p>
            <a:pPr lvl="0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NPU</a:t>
            </a:r>
            <a:r>
              <a:rPr lang="zh-CN" altLang="en-US"/>
              <a:t>和</a:t>
            </a:r>
            <a:r>
              <a:rPr lang="en-US" altLang="zh-CN"/>
              <a:t>GPU</a:t>
            </a:r>
            <a:r>
              <a:rPr lang="zh-CN" altLang="en-US"/>
              <a:t>的差异化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因为芯片计算模式的不同可能会导致</a:t>
            </a:r>
            <a:r>
              <a:rPr lang="en-US" altLang="zh-CN"/>
              <a:t>Kernel optimization</a:t>
            </a:r>
            <a:r>
              <a:rPr lang="zh-CN" altLang="en-US"/>
              <a:t>可能方法</a:t>
            </a:r>
            <a:r>
              <a:rPr lang="zh-CN" altLang="en-US"/>
              <a:t>不同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并行性：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ASCEND</a:t>
            </a:r>
            <a:r>
              <a:rPr lang="zh-CN" altLang="en-US"/>
              <a:t>和</a:t>
            </a:r>
            <a:r>
              <a:rPr lang="en-US" altLang="zh-CN"/>
              <a:t>MLU</a:t>
            </a:r>
            <a:r>
              <a:rPr lang="zh-CN" altLang="en-US"/>
              <a:t>都可以把推理的</a:t>
            </a:r>
            <a:r>
              <a:rPr lang="en-US" altLang="zh-CN"/>
              <a:t>Kernel</a:t>
            </a:r>
            <a:r>
              <a:rPr lang="zh-CN" altLang="en-US"/>
              <a:t>分成不同的</a:t>
            </a:r>
            <a:r>
              <a:rPr lang="en-US" altLang="zh-CN"/>
              <a:t>queue</a:t>
            </a:r>
            <a:r>
              <a:rPr lang="zh-CN" altLang="en-US"/>
              <a:t>，不同</a:t>
            </a:r>
            <a:r>
              <a:rPr lang="en-US" altLang="zh-CN"/>
              <a:t>queue</a:t>
            </a:r>
            <a:r>
              <a:rPr lang="zh-CN" altLang="en-US"/>
              <a:t>之间可以并行，同一个</a:t>
            </a:r>
            <a:r>
              <a:rPr lang="en-US" altLang="zh-CN"/>
              <a:t>queue</a:t>
            </a:r>
            <a:r>
              <a:rPr lang="zh-CN" altLang="en-US"/>
              <a:t>内可以</a:t>
            </a:r>
            <a:r>
              <a:rPr lang="zh-CN" altLang="en-US"/>
              <a:t>串行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target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mixed with best </a:t>
            </a:r>
            <a:r>
              <a:rPr lang="en-US" altLang="zh-CN"/>
              <a:t>effort task and latency critical </a:t>
            </a:r>
            <a:r>
              <a:rPr lang="en-US" altLang="zh-CN"/>
              <a:t>task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519430"/>
            <a:ext cx="12214860" cy="56781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15" y="479425"/>
            <a:ext cx="12186285" cy="55975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NPU</a:t>
            </a:r>
            <a:r>
              <a:rPr lang="zh-CN" altLang="en-US"/>
              <a:t>＋</a:t>
            </a:r>
            <a:r>
              <a:rPr lang="en-US" altLang="zh-CN"/>
              <a:t>TEE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RK3588</a:t>
            </a:r>
            <a:r>
              <a:rPr lang="zh-CN" altLang="en-US"/>
              <a:t>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运行时已有</a:t>
            </a:r>
            <a:r>
              <a:rPr lang="zh-CN" altLang="en-US"/>
              <a:t>社区逆向</a:t>
            </a:r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18920" y="1381125"/>
            <a:ext cx="9153525" cy="53670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无固件，内核驱动直接写</a:t>
            </a:r>
            <a:r>
              <a:rPr lang="en-US" altLang="zh-CN"/>
              <a:t>NPU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把</a:t>
            </a:r>
            <a:r>
              <a:rPr lang="en-US" altLang="zh-CN"/>
              <a:t>CMD</a:t>
            </a:r>
            <a:r>
              <a:rPr lang="zh-CN" altLang="en-US"/>
              <a:t>写到</a:t>
            </a:r>
            <a:r>
              <a:rPr lang="en-US" altLang="zh-CN"/>
              <a:t>NPU</a:t>
            </a:r>
            <a:r>
              <a:rPr lang="zh-CN" altLang="en-US"/>
              <a:t>指定</a:t>
            </a:r>
            <a:r>
              <a:rPr lang="zh-CN" altLang="en-US"/>
              <a:t>位置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对</a:t>
            </a:r>
            <a:r>
              <a:rPr lang="en-US" altLang="zh-CN"/>
              <a:t>LLM</a:t>
            </a:r>
            <a:r>
              <a:rPr lang="zh-CN" altLang="en-US"/>
              <a:t>有支持，说明对</a:t>
            </a:r>
            <a:r>
              <a:rPr lang="en-US" altLang="zh-CN"/>
              <a:t>Transformer</a:t>
            </a:r>
            <a:r>
              <a:rPr lang="zh-CN" altLang="en-US"/>
              <a:t>有</a:t>
            </a:r>
            <a:r>
              <a:rPr lang="zh-CN" altLang="en-US"/>
              <a:t>支持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4330" y="1390650"/>
            <a:ext cx="7287895" cy="54044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运行</a:t>
            </a:r>
            <a:r>
              <a:rPr lang="en-US" altLang="zh-CN"/>
              <a:t>tinyllama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4815" y="1625600"/>
            <a:ext cx="7955280" cy="16687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dynamic </a:t>
            </a:r>
            <a:r>
              <a:rPr lang="en-US" altLang="zh-CN"/>
              <a:t>models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目前的</a:t>
            </a:r>
            <a:r>
              <a:rPr lang="en-US" altLang="zh-CN"/>
              <a:t>NPU</a:t>
            </a:r>
            <a:r>
              <a:rPr lang="zh-CN" altLang="en-US"/>
              <a:t>不支持动态模型，也运行不了</a:t>
            </a:r>
            <a:r>
              <a:rPr lang="en-US" altLang="zh-CN"/>
              <a:t>MoE</a:t>
            </a:r>
            <a:endParaRPr lang="en-US" altLang="zh-CN"/>
          </a:p>
          <a:p>
            <a:pPr lvl="1"/>
            <a:r>
              <a:rPr lang="zh-CN" altLang="en-US"/>
              <a:t>除了</a:t>
            </a:r>
            <a:r>
              <a:rPr lang="en-US" altLang="zh-CN"/>
              <a:t>ASCEND/</a:t>
            </a:r>
            <a:r>
              <a:rPr lang="en-US" altLang="zh-CN"/>
              <a:t>MLU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为什么要</a:t>
            </a:r>
            <a:r>
              <a:rPr lang="en-US" altLang="zh-CN"/>
              <a:t>RT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因为这是端侧真正的应用，是云测数据中心等通过网络无法解决的，必须在端侧做，而且模型一般</a:t>
            </a:r>
            <a:r>
              <a:rPr lang="zh-CN" altLang="en-US"/>
              <a:t>不大。</a:t>
            </a:r>
            <a:endParaRPr lang="zh-CN" altLang="en-US"/>
          </a:p>
          <a:p>
            <a:r>
              <a:rPr lang="zh-CN" altLang="en-US"/>
              <a:t>对于不是</a:t>
            </a:r>
            <a:r>
              <a:rPr lang="en-US" altLang="zh-CN"/>
              <a:t>Latency critical</a:t>
            </a:r>
            <a:r>
              <a:rPr lang="zh-CN" altLang="en-US"/>
              <a:t>的应用，比如</a:t>
            </a:r>
            <a:r>
              <a:rPr lang="en-US" altLang="zh-CN"/>
              <a:t>LLM chatbot</a:t>
            </a:r>
            <a:r>
              <a:rPr lang="zh-CN" altLang="en-US"/>
              <a:t>这种，科研中只要是单机优化的论文，就可以直接放到端侧应用，而且</a:t>
            </a:r>
            <a:r>
              <a:rPr lang="en-US" altLang="zh-CN"/>
              <a:t>workload</a:t>
            </a:r>
            <a:r>
              <a:rPr lang="zh-CN" altLang="en-US"/>
              <a:t>简单，就是单任务的推理，不涉及任务的调度和不同</a:t>
            </a:r>
            <a:r>
              <a:rPr lang="en-US" altLang="zh-CN"/>
              <a:t>kernel</a:t>
            </a:r>
            <a:r>
              <a:rPr lang="zh-CN" altLang="en-US"/>
              <a:t>的并发，科研</a:t>
            </a:r>
            <a:r>
              <a:rPr lang="en-US" altLang="zh-CN"/>
              <a:t>topic</a:t>
            </a:r>
            <a:r>
              <a:rPr lang="zh-CN" altLang="en-US"/>
              <a:t>少，内卷</a:t>
            </a:r>
            <a:endParaRPr lang="zh-CN" altLang="en-US"/>
          </a:p>
          <a:p>
            <a:r>
              <a:rPr lang="zh-CN" altLang="en-US"/>
              <a:t>我觉得纯</a:t>
            </a:r>
            <a:r>
              <a:rPr lang="en-US" altLang="zh-CN"/>
              <a:t>best effort</a:t>
            </a:r>
            <a:r>
              <a:rPr lang="zh-CN" altLang="en-US"/>
              <a:t>这种还是放到云侧合适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miscellaneous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p>
            <a:r>
              <a:rPr lang="en-US" altLang="zh-CN"/>
              <a:t>on-device llm</a:t>
            </a:r>
            <a:r>
              <a:rPr lang="zh-CN" altLang="en-US"/>
              <a:t>的</a:t>
            </a:r>
            <a:r>
              <a:rPr lang="en-US" altLang="zh-CN"/>
              <a:t>chatbot</a:t>
            </a:r>
            <a:r>
              <a:rPr lang="zh-CN" altLang="en-US"/>
              <a:t>应用</a:t>
            </a:r>
            <a:r>
              <a:rPr lang="zh-CN" altLang="en-US"/>
              <a:t>很可能前景</a:t>
            </a:r>
            <a:r>
              <a:rPr lang="zh-CN" altLang="en-US"/>
              <a:t>不好</a:t>
            </a:r>
            <a:endParaRPr lang="zh-CN" altLang="en-US"/>
          </a:p>
          <a:p>
            <a:pPr lvl="1"/>
            <a:r>
              <a:rPr lang="zh-CN" altLang="en-US"/>
              <a:t>隐私</a:t>
            </a:r>
            <a:r>
              <a:rPr lang="zh-CN" altLang="en-US"/>
              <a:t>好，但是会严重占据端侧内存，同时效果远比传统的云端推理模式</a:t>
            </a:r>
            <a:r>
              <a:rPr lang="zh-CN" altLang="en-US"/>
              <a:t>差</a:t>
            </a:r>
            <a:endParaRPr lang="zh-CN" altLang="en-US"/>
          </a:p>
          <a:p>
            <a:pPr lvl="1"/>
            <a:r>
              <a:rPr lang="zh-CN" altLang="en-US"/>
              <a:t>隐私只是一个产品的很边缘的属性，</a:t>
            </a:r>
            <a:r>
              <a:rPr lang="zh-CN" altLang="en-US">
                <a:sym typeface="+mn-ea"/>
              </a:rPr>
              <a:t>比起隐私，我觉得大多数人更注重模型本身的能力，</a:t>
            </a:r>
            <a:r>
              <a:rPr lang="zh-CN" altLang="en-US"/>
              <a:t>客户肯定会希望隐私性好有保障，但是那是建立在端侧与云端的模型提供能力差不多的情况下，如果端侧远远弱于云侧，我相信大多数人都会选择用云侧</a:t>
            </a:r>
            <a:r>
              <a:rPr lang="zh-CN" altLang="en-US"/>
              <a:t>的。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比如现在，无论是速度上还是质量上。</a:t>
            </a:r>
            <a:r>
              <a:rPr lang="en-US" altLang="zh-CN">
                <a:sym typeface="+mn-ea"/>
              </a:rPr>
              <a:t>1-8B</a:t>
            </a:r>
            <a:r>
              <a:rPr lang="zh-CN" altLang="en-US">
                <a:sym typeface="+mn-ea"/>
              </a:rPr>
              <a:t>的模型连</a:t>
            </a:r>
            <a:r>
              <a:rPr lang="en-US" altLang="zh-CN">
                <a:sym typeface="+mn-ea"/>
              </a:rPr>
              <a:t>gpt3.5</a:t>
            </a:r>
            <a:r>
              <a:rPr lang="zh-CN" altLang="en-US">
                <a:sym typeface="+mn-ea"/>
              </a:rPr>
              <a:t>的能力都达不到</a:t>
            </a:r>
            <a:endParaRPr lang="zh-CN" altLang="en-US">
              <a:sym typeface="+mn-ea"/>
            </a:endParaRPr>
          </a:p>
          <a:p>
            <a:pPr lvl="2"/>
            <a:r>
              <a:rPr lang="zh-CN" altLang="en-US">
                <a:sym typeface="+mn-ea"/>
              </a:rPr>
              <a:t>目前的</a:t>
            </a:r>
            <a:r>
              <a:rPr lang="en-US" altLang="zh-CN">
                <a:sym typeface="+mn-ea"/>
              </a:rPr>
              <a:t>GPT5</a:t>
            </a:r>
            <a:r>
              <a:rPr lang="zh-CN" altLang="en-US">
                <a:sym typeface="+mn-ea"/>
              </a:rPr>
              <a:t>的推理速度是完全可以接受的。端侧目前长</a:t>
            </a:r>
            <a:r>
              <a:rPr lang="en-US" altLang="zh-CN">
                <a:sym typeface="+mn-ea"/>
              </a:rPr>
              <a:t>Token</a:t>
            </a:r>
            <a:r>
              <a:rPr lang="zh-CN" altLang="en-US">
                <a:sym typeface="+mn-ea"/>
              </a:rPr>
              <a:t>的输出普遍是比</a:t>
            </a:r>
            <a:r>
              <a:rPr lang="en-US" altLang="zh-CN">
                <a:sym typeface="+mn-ea"/>
              </a:rPr>
              <a:t>GPT5</a:t>
            </a:r>
            <a:r>
              <a:rPr lang="zh-CN" altLang="en-US">
                <a:sym typeface="+mn-ea"/>
              </a:rPr>
              <a:t>慢的，即使用高端加速器加速（</a:t>
            </a:r>
            <a:r>
              <a:rPr lang="en-US" altLang="zh-CN">
                <a:sym typeface="+mn-ea"/>
              </a:rPr>
              <a:t>4090/ASCEND</a:t>
            </a:r>
            <a:r>
              <a:rPr lang="zh-CN" altLang="en-US">
                <a:sym typeface="+mn-ea"/>
              </a:rPr>
              <a:t>），我觉得这个和云侧的优势也不明显，云侧的速度目前完全可以</a:t>
            </a:r>
            <a:r>
              <a:rPr lang="zh-CN" altLang="en-US">
                <a:sym typeface="+mn-ea"/>
              </a:rPr>
              <a:t>接受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/>
              <a:t>即使能力和云侧相同，</a:t>
            </a:r>
            <a:r>
              <a:rPr lang="en-US" altLang="zh-CN"/>
              <a:t>on device</a:t>
            </a:r>
            <a:r>
              <a:rPr lang="zh-CN" altLang="en-US"/>
              <a:t>的</a:t>
            </a:r>
            <a:r>
              <a:rPr lang="en-US" altLang="zh-CN"/>
              <a:t>chat bot</a:t>
            </a:r>
            <a:r>
              <a:rPr lang="zh-CN" altLang="en-US"/>
              <a:t>的内存压力也特别大。绝大多数的</a:t>
            </a:r>
            <a:r>
              <a:rPr lang="en-US" altLang="zh-CN"/>
              <a:t>device</a:t>
            </a:r>
            <a:r>
              <a:rPr lang="zh-CN" altLang="en-US"/>
              <a:t>的</a:t>
            </a:r>
            <a:r>
              <a:rPr lang="en-US" altLang="zh-CN"/>
              <a:t>memory</a:t>
            </a:r>
            <a:r>
              <a:rPr lang="zh-CN" altLang="en-US"/>
              <a:t>都是很有限的，一个云侧的网页也就几百</a:t>
            </a:r>
            <a:r>
              <a:rPr lang="en-US" altLang="zh-CN"/>
              <a:t>MB</a:t>
            </a:r>
            <a:r>
              <a:rPr lang="zh-CN" altLang="en-US"/>
              <a:t>，但是</a:t>
            </a:r>
            <a:r>
              <a:rPr lang="en-US" altLang="zh-CN"/>
              <a:t>on device</a:t>
            </a:r>
            <a:r>
              <a:rPr lang="zh-CN" altLang="en-US"/>
              <a:t>的话至少得几个</a:t>
            </a:r>
            <a:r>
              <a:rPr lang="en-US" altLang="zh-CN"/>
              <a:t>GB</a:t>
            </a:r>
            <a:r>
              <a:rPr lang="zh-CN" altLang="en-US"/>
              <a:t>，对体验影响非常</a:t>
            </a:r>
            <a:r>
              <a:rPr lang="zh-CN" altLang="en-US"/>
              <a:t>大</a:t>
            </a:r>
            <a:endParaRPr lang="zh-CN" altLang="en-US"/>
          </a:p>
          <a:p>
            <a:pPr lvl="1"/>
            <a:r>
              <a:rPr lang="zh-CN" altLang="en-US"/>
              <a:t>还要推理时间的问题，目前端侧还是如云</a:t>
            </a:r>
            <a:r>
              <a:rPr lang="zh-CN" altLang="en-US"/>
              <a:t>侧快。</a:t>
            </a:r>
            <a:endParaRPr lang="zh-CN" altLang="en-US"/>
          </a:p>
          <a:p>
            <a:pPr lvl="1"/>
            <a:r>
              <a:rPr lang="zh-CN" altLang="en-US"/>
              <a:t>云侧也可以用机密计算啥的增强安全性，但是机密计算是处理</a:t>
            </a:r>
            <a:r>
              <a:rPr lang="en-US" altLang="zh-CN"/>
              <a:t>data in use</a:t>
            </a:r>
            <a:r>
              <a:rPr lang="zh-CN" altLang="en-US"/>
              <a:t>的，</a:t>
            </a:r>
            <a:r>
              <a:rPr lang="en-US" altLang="zh-CN"/>
              <a:t>data in storage</a:t>
            </a:r>
            <a:r>
              <a:rPr lang="zh-CN" altLang="en-US"/>
              <a:t>的安全技术已经非常成熟了，各种云盘已经应用广泛，比如</a:t>
            </a:r>
            <a:r>
              <a:rPr lang="en-US" altLang="zh-CN"/>
              <a:t>icloud </a:t>
            </a:r>
            <a:r>
              <a:rPr lang="zh-CN" altLang="en-US"/>
              <a:t>。而</a:t>
            </a:r>
            <a:r>
              <a:rPr lang="en-US" altLang="zh-CN"/>
              <a:t>data in use</a:t>
            </a:r>
            <a:r>
              <a:rPr lang="zh-CN" altLang="en-US"/>
              <a:t>的攻击我觉得本身比</a:t>
            </a:r>
            <a:r>
              <a:rPr lang="en-US" altLang="zh-CN"/>
              <a:t>data in storage</a:t>
            </a:r>
            <a:r>
              <a:rPr lang="zh-CN" altLang="en-US"/>
              <a:t>的攻击难</a:t>
            </a:r>
            <a:r>
              <a:rPr lang="zh-CN" altLang="en-US"/>
              <a:t>很多，对于大多数人来说应该足够</a:t>
            </a:r>
            <a:r>
              <a:rPr lang="zh-CN" altLang="en-US"/>
              <a:t>安全。</a:t>
            </a:r>
            <a:endParaRPr lang="zh-CN" altLang="en-US"/>
          </a:p>
          <a:p>
            <a:pPr lvl="0"/>
            <a:r>
              <a:rPr lang="en-US" altLang="zh-CN"/>
              <a:t>on device llm</a:t>
            </a:r>
            <a:r>
              <a:rPr lang="zh-CN" altLang="en-US"/>
              <a:t>真正的优势是</a:t>
            </a:r>
            <a:r>
              <a:rPr lang="zh-CN" altLang="en-US"/>
              <a:t>实时性</a:t>
            </a:r>
            <a:endParaRPr lang="zh-CN" altLang="en-US"/>
          </a:p>
          <a:p>
            <a:pPr lvl="1"/>
            <a:r>
              <a:rPr lang="zh-CN" altLang="en-US"/>
              <a:t>因为云侧肯定需要来回的网络传输，不可能达到</a:t>
            </a:r>
            <a:r>
              <a:rPr lang="en-US" altLang="zh-CN"/>
              <a:t>real time</a:t>
            </a:r>
            <a:r>
              <a:rPr lang="zh-CN" altLang="en-US"/>
              <a:t>的要求，但是端侧很多应用都是</a:t>
            </a:r>
            <a:r>
              <a:rPr lang="en-US" altLang="zh-CN"/>
              <a:t>real time</a:t>
            </a:r>
            <a:r>
              <a:rPr lang="zh-CN" altLang="en-US"/>
              <a:t>的要求（这里显然不包括</a:t>
            </a:r>
            <a:r>
              <a:rPr lang="en-US" altLang="zh-CN"/>
              <a:t>LLM</a:t>
            </a:r>
            <a:r>
              <a:rPr lang="zh-CN" altLang="en-US"/>
              <a:t>目前最直接广泛的应用：</a:t>
            </a:r>
            <a:r>
              <a:rPr lang="en-US" altLang="zh-CN"/>
              <a:t>chatbot</a:t>
            </a:r>
            <a:r>
              <a:rPr lang="zh-CN" altLang="en-US"/>
              <a:t>），所以真正的优势应该是</a:t>
            </a:r>
            <a:r>
              <a:rPr lang="en-US" altLang="zh-CN"/>
              <a:t>on device</a:t>
            </a:r>
            <a:r>
              <a:rPr lang="zh-CN" altLang="en-US"/>
              <a:t>带来的</a:t>
            </a:r>
            <a:r>
              <a:rPr lang="en-US" altLang="zh-CN"/>
              <a:t>real time</a:t>
            </a:r>
            <a:r>
              <a:rPr lang="zh-CN" altLang="en-US"/>
              <a:t>。</a:t>
            </a:r>
            <a:endParaRPr lang="zh-CN" altLang="en-US"/>
          </a:p>
          <a:p>
            <a:pPr lvl="1"/>
            <a:r>
              <a:rPr lang="en-US" altLang="zh-CN"/>
              <a:t>real time application</a:t>
            </a:r>
            <a:r>
              <a:rPr lang="zh-CN" altLang="en-US"/>
              <a:t>的行为和</a:t>
            </a:r>
            <a:r>
              <a:rPr lang="en-US" altLang="zh-CN"/>
              <a:t>chatbot</a:t>
            </a:r>
            <a:r>
              <a:rPr lang="zh-CN" altLang="en-US"/>
              <a:t>很可以是不一样的，我觉得很可能是</a:t>
            </a:r>
            <a:r>
              <a:rPr lang="en-US" altLang="zh-CN"/>
              <a:t>token</a:t>
            </a:r>
            <a:r>
              <a:rPr lang="zh-CN" altLang="en-US"/>
              <a:t>输出很少，整个过程大多数</a:t>
            </a:r>
            <a:r>
              <a:rPr lang="zh-CN" altLang="en-US"/>
              <a:t>计算全在</a:t>
            </a:r>
            <a:r>
              <a:rPr lang="en-US" altLang="zh-CN"/>
              <a:t>prefill</a:t>
            </a:r>
            <a:r>
              <a:rPr lang="zh-CN" altLang="en-US"/>
              <a:t>阶段，然后输出可能只有一个</a:t>
            </a:r>
            <a:r>
              <a:rPr lang="en-US" altLang="zh-CN"/>
              <a:t>token</a:t>
            </a:r>
            <a:r>
              <a:rPr lang="zh-CN" altLang="en-US"/>
              <a:t>来做出判断。这种和</a:t>
            </a:r>
            <a:r>
              <a:rPr lang="en-US" altLang="zh-CN"/>
              <a:t>chatbot</a:t>
            </a:r>
            <a:r>
              <a:rPr lang="zh-CN" altLang="en-US"/>
              <a:t>不同的</a:t>
            </a:r>
            <a:r>
              <a:rPr lang="en-US" altLang="zh-CN"/>
              <a:t>workload</a:t>
            </a:r>
            <a:r>
              <a:rPr lang="zh-CN" altLang="en-US"/>
              <a:t>也许可以做到比传统的模型推理更激进的</a:t>
            </a:r>
            <a:r>
              <a:rPr lang="zh-CN" altLang="en-US"/>
              <a:t>优化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4019</Words>
  <Application>WPS 演示</Application>
  <PresentationFormat>宽屏</PresentationFormat>
  <Paragraphs>184</Paragraphs>
  <Slides>37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low level profiler design</vt:lpstr>
      <vt:lpstr>NPU</vt:lpstr>
      <vt:lpstr>PowerPoint 演示文稿</vt:lpstr>
      <vt:lpstr>NPU</vt:lpstr>
      <vt:lpstr>运行时已有社区逆向</vt:lpstr>
      <vt:lpstr>low level profiler瓶颈</vt:lpstr>
      <vt:lpstr>Ethos U65的PMU太强了</vt:lpstr>
      <vt:lpstr>无法通过修改驱动和固件实现PMU对应的能力</vt:lpstr>
      <vt:lpstr>RK3588</vt:lpstr>
      <vt:lpstr>motivation-1</vt:lpstr>
      <vt:lpstr>Benchmarking Ethos U65 NPU（MobiCom25）</vt:lpstr>
      <vt:lpstr>Benchmarking Ethos U65 NPU（MobiCom25）</vt:lpstr>
      <vt:lpstr>low level Profiler需要ISA级编程（OSDI25）</vt:lpstr>
      <vt:lpstr>RT-ASCEND</vt:lpstr>
      <vt:lpstr>why previous work all fails：根源在NPU</vt:lpstr>
      <vt:lpstr>闭源并不是系统/运行时科研的瓶颈</vt:lpstr>
      <vt:lpstr>三类NPU</vt:lpstr>
      <vt:lpstr>真正能编程（Kernel级）的NPU很少</vt:lpstr>
      <vt:lpstr>从软件角度看NPU和GPU</vt:lpstr>
      <vt:lpstr>RT-NPU</vt:lpstr>
      <vt:lpstr>端侧软实时场景：专门找一个应用场景也许能实现更激进的优化</vt:lpstr>
      <vt:lpstr>端侧多任务单NPU并发推理</vt:lpstr>
      <vt:lpstr>手段</vt:lpstr>
      <vt:lpstr>NPU和GPU的差异化</vt:lpstr>
      <vt:lpstr>并行性：</vt:lpstr>
      <vt:lpstr>target</vt:lpstr>
      <vt:lpstr>PowerPoint 演示文稿</vt:lpstr>
      <vt:lpstr>PowerPoint 演示文稿</vt:lpstr>
      <vt:lpstr>PowerPoint 演示文稿</vt:lpstr>
      <vt:lpstr>NPU＋TEE</vt:lpstr>
      <vt:lpstr>运行时已有社区逆向</vt:lpstr>
      <vt:lpstr>无固件，内核驱动直接写NPU</vt:lpstr>
      <vt:lpstr>对LLM有支持，说明对Transformer有支持</vt:lpstr>
      <vt:lpstr>运行tinyllama</vt:lpstr>
      <vt:lpstr>dynamic models</vt:lpstr>
      <vt:lpstr>为什么要RT</vt:lpstr>
      <vt:lpstr>miscellaneous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道不远人</cp:lastModifiedBy>
  <cp:revision>463</cp:revision>
  <dcterms:created xsi:type="dcterms:W3CDTF">2019-06-19T02:08:00Z</dcterms:created>
  <dcterms:modified xsi:type="dcterms:W3CDTF">2025-10-17T16:22:09Z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1EB6A1E0FB4A4A4D85216911311C574D_11</vt:lpwstr>
  </property>
</Properties>
</file>